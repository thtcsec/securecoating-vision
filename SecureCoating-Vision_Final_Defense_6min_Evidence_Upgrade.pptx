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a95189c494386" /><Relationship Type="http://schemas.openxmlformats.org/officeDocument/2006/relationships/extended-properties" Target="/docProps/app.xml" Id="Rf71b8d16797745ad" /><Relationship Type="http://schemas.openxmlformats.org/officeDocument/2006/relationships/officeDocument" Target="/ppt/presentation.xml" Id="R86867945fc50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7f85eb8b324cfb"/>
  </p:sldMasterIdLst>
  <p:notesMasterIdLst>
    <p:notesMasterId xmlns:r="http://schemas.openxmlformats.org/officeDocument/2006/relationships" r:id="Rc45d56c6ccc8406b"/>
  </p:notesMasterIdLst>
  <p:sldIdLst>
    <p:sldId xmlns:r="http://schemas.openxmlformats.org/officeDocument/2006/relationships" id="256" r:id="Rce12824944074e5c"/>
    <p:sldId xmlns:r="http://schemas.openxmlformats.org/officeDocument/2006/relationships" id="257" r:id="Rbbbe5315759a421d"/>
    <p:sldId xmlns:r="http://schemas.openxmlformats.org/officeDocument/2006/relationships" id="258" r:id="R18dba49fe44d4513"/>
    <p:sldId xmlns:r="http://schemas.openxmlformats.org/officeDocument/2006/relationships" id="259" r:id="R7d1fd7f38a664016"/>
    <p:sldId xmlns:r="http://schemas.openxmlformats.org/officeDocument/2006/relationships" id="260" r:id="Re10ac86919344888"/>
    <p:sldId xmlns:r="http://schemas.openxmlformats.org/officeDocument/2006/relationships" id="261" r:id="Rdbaf6cc4d30e45a6"/>
    <p:sldId xmlns:r="http://schemas.openxmlformats.org/officeDocument/2006/relationships" id="262" r:id="R425b37da911f4fa6"/>
    <p:sldId xmlns:r="http://schemas.openxmlformats.org/officeDocument/2006/relationships" id="263" r:id="R58f665f51bd348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79242769b441a" /><Relationship Type="http://schemas.openxmlformats.org/officeDocument/2006/relationships/slideMaster" Target="/ppt/slideMasters/slideMaster1.xml" Id="R207f85eb8b324cfb" /><Relationship Type="http://schemas.openxmlformats.org/officeDocument/2006/relationships/notesMaster" Target="/ppt/notesMasters/notesMaster1.xml" Id="Rc45d56c6ccc8406b" /><Relationship Type="http://schemas.openxmlformats.org/officeDocument/2006/relationships/presProps" Target="/ppt/presProps.xml" Id="R755a3825bbde45e0" /><Relationship Type="http://schemas.openxmlformats.org/officeDocument/2006/relationships/viewProps" Target="/ppt/viewProps.xml" Id="Rfdfcef93fd1549e5" /><Relationship Type="http://schemas.openxmlformats.org/officeDocument/2006/relationships/tableStyles" Target="/ppt/tableStyles.xml" Id="Rf8f9ac0e862a45e5" /><Relationship Type="http://schemas.openxmlformats.org/officeDocument/2006/relationships/slide" Target="/ppt/slides/slide1.xml" Id="Rce12824944074e5c" /><Relationship Type="http://schemas.openxmlformats.org/officeDocument/2006/relationships/slide" Target="/ppt/slides/slide2.xml" Id="Rbbbe5315759a421d" /><Relationship Type="http://schemas.openxmlformats.org/officeDocument/2006/relationships/slide" Target="/ppt/slides/slide3.xml" Id="R18dba49fe44d4513" /><Relationship Type="http://schemas.openxmlformats.org/officeDocument/2006/relationships/slide" Target="/ppt/slides/slide4.xml" Id="R7d1fd7f38a664016" /><Relationship Type="http://schemas.openxmlformats.org/officeDocument/2006/relationships/slide" Target="/ppt/slides/slide5.xml" Id="Re10ac86919344888" /><Relationship Type="http://schemas.openxmlformats.org/officeDocument/2006/relationships/slide" Target="/ppt/slides/slide6.xml" Id="Rdbaf6cc4d30e45a6" /><Relationship Type="http://schemas.openxmlformats.org/officeDocument/2006/relationships/slide" Target="/ppt/slides/slide7.xml" Id="R425b37da911f4fa6" /><Relationship Type="http://schemas.openxmlformats.org/officeDocument/2006/relationships/slide" Target="/ppt/slides/slide8.xml" Id="R58f665f51bd3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f1118feb8d48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464ce7f38c45dd" /><Relationship Type="http://schemas.openxmlformats.org/officeDocument/2006/relationships/notesMaster" Target="/ppt/notesMasters/notesMaster1.xml" Id="Rde446aa6d9204d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ccd656d4e427e" /><Relationship Type="http://schemas.openxmlformats.org/officeDocument/2006/relationships/notesMaster" Target="/ppt/notesMasters/notesMaster1.xml" Id="Rca08f5b8a32249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7a19747e7407a" /><Relationship Type="http://schemas.openxmlformats.org/officeDocument/2006/relationships/notesMaster" Target="/ppt/notesMasters/notesMaster1.xml" Id="Raeed8aae05e2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7a2f383ed43bc" /><Relationship Type="http://schemas.openxmlformats.org/officeDocument/2006/relationships/notesMaster" Target="/ppt/notesMasters/notesMaster1.xml" Id="Rd41abb3842f844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88b6006cb408f" /><Relationship Type="http://schemas.openxmlformats.org/officeDocument/2006/relationships/notesMaster" Target="/ppt/notesMasters/notesMaster1.xml" Id="Re680f25773d9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fda0187c24e7c" /><Relationship Type="http://schemas.openxmlformats.org/officeDocument/2006/relationships/notesMaster" Target="/ppt/notesMasters/notesMaster1.xml" Id="R253b20a891c245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ba9a8c8a064f33" /><Relationship Type="http://schemas.openxmlformats.org/officeDocument/2006/relationships/notesMaster" Target="/ppt/notesMasters/notesMaster1.xml" Id="R5ac522bcf53248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b18eae98064e15" /><Relationship Type="http://schemas.openxmlformats.org/officeDocument/2006/relationships/notesMaster" Target="/ppt/notesMasters/notesMaster1.xml" Id="R9e8c34675754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morning, distinguished judges. I am Trịnh Hoàng Tú from Team 71.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SecureCoating-Vision is designed as an inline decision system: it converts physical sensing into a timestamped, spatially traceable quality action. Our contribution is not another vision demo. It is the engineering bridge from photons on a moving electrode to a guarded factory decision.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 six minutes, I will show the physical budget, the multi-modal timing anchor, the measurement guard bands, and the deployment gate we use before claiming production readiness.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identity and team details supplied by Team 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frame is a real CoatingVision optical electrode image from the held-out test split (seed 71). It was passed through the real-data YOLO26n checkpoint and produced one surface-crack candidate at 0.51 confidence. The matching test-set evaluation contains 88 images and 102 instances: P 64.5%, R 64.2%, mAP50 63.4%, mAP50-95 35.4%.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No thermal or profiler data were supplied. The pipeline therefore records DEGRADED / RGB-only evidence mode and HOLD; it does not claim calibrated dimensional metrology, fusion performance, or a production release decision.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Input data: Sampath et al., CoatingVision dataset, Figshare DOI 10.6084/m9.figshare.29260121.v1, CC BY 4.0.</a:t>
            </a:r>
          </a:p>
          <a:p xmlns:a="http://schemas.openxmlformats.org/drawingml/2006/main">
            <a:r>
              <a:t>Training/evaluation: reports/coatingvision_real_test_metrics.json; model-output record: reports/coatingvision_real_demo/coatingvision_model_output.json.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evidence from aspiration. The current real-data proof is an RGB YOLO26n detector. In the fixed CoatingVision split, it was trained on 406 images, validated on 87 images and evaluated on 88 held-out test images. Thermal/3D fusion, calibrated metrology and PLC release remain gated on physical integration.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configs/coatingvision_real_detect.yaml;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Multi-modal fusion fails if it uses processing time as a coordinate. Our FrameContext records the roll ID, encoder count, material position and monotonic capture time when the photons arrive. Every later operation inherits that anchor.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fuse RGB, traveling-wave thermal response, and 3D laser height into five channels: R, G, B, thermal phase or differential, and height. Importantly, the current repository validates this logic with simulated secondary streams. The production claim is therefore the architecture and anchoring method; hardware calibration and temporal phase validation are pilot gates.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src/inference/sensor_fusion.py (mock/simulated secondary feeds).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formula is the decision contract: pixel area A_px is converted by calibrated scale s; expanded uncertainty uses coverage k=2; a quality quantity q can pass only inside the guard-banded limit L−U. This is activated only with a calibrated measurement system. RGB-only evidence mode deliberately returns HOLD, not a dimensional grade.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src/inference/electrode_metrology.py; src/inference/postprocess.py;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fast neural network is not a fast rejection system. We decompose the chain from tile formation to air-jet propagation. The expected P50 is 32.9 milliseconds, P99.9 is 35.9 milliseconds, and with a three-millisecond guard the design latency is 38.9 milliseconds. At 1.8 metres per second and 500 millimetres camera-to-ejector spacing, that gives a 7.1-times design buffer.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However, these percentiles are Monte Carlo modeled in the current code. Modbus TCP and OPC UA are telemetry/control interfaces, not proof of a deterministic safety layer. The pilot exit criterion is a hardware-in-the-loop trace with encoder, PLC scan, valve response and P99.9 measurement.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src/industrial/latency_budget.py (Monte Carlo status); calculated 500 / (1.8 × 0.0389).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digital twin is a map of the material, not a dashboard screenshot. Each event is located by machine direction, transverse position and slitting lane. The diagnostic engine then ranks process hypotheses.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make an important causal distinction: a correlation is not a root cause. For example, reducing Dryer Zone 1 by four degrees is a controlled hypothesis, not an autonomous action. It must be constrained by the recipe, approved by process engineering, and verified on a holdout segment. The reported 84.2 percent scrap reduction must not be spoken as a result until raw pilot logs, baseline definition and independent roll evidence are available.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src/traceability/root_cause_engine.py; src/traceability/roll_certificate.py; reported figure appears only in generated dossier.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Upgrade sequence: first collect synchronized, calibrated RGB/thermal/height frames with raw-roll labels; then establish measurement-system capability and cross-lot POD; finally execute a hardware-in-the-loop rejection timing trace. The model is not presented as production ready. The deployment decision must be made after those gates pass.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scripts/prepare_coatingvision_detection_dataset.py; scripts/evaluate_coatingvision_real.py.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344fc71ff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a61193c9e04369" /><Relationship Type="http://schemas.openxmlformats.org/officeDocument/2006/relationships/slideLayout" Target="/ppt/slideLayouts/slideLayout1.xml" Id="R4dc2116723ea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c2116723ea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8d04093a44c0" /><Relationship Type="http://schemas.openxmlformats.org/officeDocument/2006/relationships/image" Target="/ppt/media/image.png" Id="R165a753da98d42ac" /><Relationship Type="http://schemas.openxmlformats.org/officeDocument/2006/relationships/notesSlide" Target="/ppt/notesSlides/notesSlide1.xml" Id="R59948486e838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ff5e352064d83" /><Relationship Type="http://schemas.openxmlformats.org/officeDocument/2006/relationships/image" Target="/ppt/media/image2.png" Id="R27a34cf465af47e9" /><Relationship Type="http://schemas.openxmlformats.org/officeDocument/2006/relationships/notesSlide" Target="/ppt/notesSlides/notesSlide2.xml" Id="R94db42d8ddaa4b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23b5a6ce14ab1" /><Relationship Type="http://schemas.openxmlformats.org/officeDocument/2006/relationships/notesSlide" Target="/ppt/notesSlides/notesSlide3.xml" Id="Rcfc2fa110763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35450fb2045ab" /><Relationship Type="http://schemas.openxmlformats.org/officeDocument/2006/relationships/notesSlide" Target="/ppt/notesSlides/notesSlide4.xml" Id="R8ecb3f7580a4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5ac87348e4965" /><Relationship Type="http://schemas.openxmlformats.org/officeDocument/2006/relationships/notesSlide" Target="/ppt/notesSlides/notesSlide5.xml" Id="R0d0dc75bb6744b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c85acc4f4764" /><Relationship Type="http://schemas.openxmlformats.org/officeDocument/2006/relationships/notesSlide" Target="/ppt/notesSlides/notesSlide6.xml" Id="R2310812a142a45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2c6acd7f74cbb" /><Relationship Type="http://schemas.openxmlformats.org/officeDocument/2006/relationships/notesSlide" Target="/ppt/notesSlides/notesSlide7.xml" Id="R0080f5c443544b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ce547c9ea46c9" /><Relationship Type="http://schemas.openxmlformats.org/officeDocument/2006/relationships/notesSlide" Target="/ppt/notesSlides/notesSlide8.xml" Id="R616208fed135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54DD49-50FC-44AF-9406-302A903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7199"/>
            <a:ext cx="3346704" cy="25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GLOBAL AI + MATERIALS INNOVATION COMPETITION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6E13659-F963-465E-B049-C0AEF1B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8"/>
                </a:solidFill>
              </a:defRPr>
            </a:pPr>
            <a:r>
              <a:rPr sz="4650" b="1">
                <a:solidFill>
                  <a:srgbClr val="111318"/>
                </a:solidFill>
              </a:rPr>
              <a:t>SecureCoating-Vision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11CE02-2324-4876-8891-B630A8FC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Multi-Sensor AI for Inline Battery-Electrode Inspection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多传感器 AI 在线电极检测与闭环诊断平台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C1C884F-7231-446A-A699-874AE7E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4332EB-2612-4FAA-98C7-3E08800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Team 71  •  Trịnh Hoàng Tú, H</a:t>
            </a:r>
            <a:r>
              <a:rPr sz="1350" b="0">
                <a:solidFill>
                  <a:srgbClr val="5F6670"/>
                </a:solidFill>
              </a:rPr>
              <a:t>o Chi Minh City Foreign Language and Information Technology (HUFLIT)</a:t>
            </a:r>
            <a:endParaRPr sz="1350" b="0">
              <a:solidFill>
                <a:srgbClr val="5F6670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Academic Advisor: Prof. Kris Singh — CEO SRII, Visiting Prof. Tsinghua University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71AB4E-3E2C-44E1-8F89-B52DDE3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62050"/>
            <a:ext cx="276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TRACK 4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AI + MATERIALS TESTING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AND CHARACTERIZATION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人工智能 + 材料检测与表征</a:t>
            </a:r>
          </a:p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a753da98d42ac"/>
          <a:stretch xmlns:a="http://schemas.openxmlformats.org/drawingml/2006/main"/>
        </p:blipFill>
        <p:spPr>
          <a:xfrm xmlns:a="http://schemas.openxmlformats.org/drawingml/2006/main">
            <a:off x="685800" y="277519"/>
            <a:ext cx="3493394" cy="76070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853C3-8531-4D1E-80A2-14C4F6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Decision objective: prove a defensible inline inspection architecture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518B324-811C-45D8-95A7-64389F0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42F41816-A4E0-4F2A-9573-C6C5AEB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0:00–0:35  |  Opening thesis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B8FCD50-6214-4BF8-A497-2383C06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1</a:t>
            </a:r>
          </a:p>
        </p:txBody>
      </p:sp>
    </p:spTree>
    <p:extLst>
      <p:ext uri="{BB962C8B-B14F-4D97-AF65-F5344CB8AC3E}">
        <p14:creationId xmlns:p14="http://schemas.microsoft.com/office/powerpoint/2010/main" val="1142990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00391283-0BA5-401D-828E-2166DF1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02  |  0:35–1:15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20AE21-3392-40C2-A174-EA1AD75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 real electrode image, inspected by the deployed model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AB18C922-9C0E-4B82-AD7B-3347C72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微小缺陷，巨大后果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87E6D3D-991E-40D3-AEBC-5B14C6A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34cf465af47e9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F415B3-AC82-4DC5-B817-3A1CEC4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REAL COATINGVISION DATA — YOLO OUTPUT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AD469830-E901-494E-8907-A9F9EF6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C3FD5A3-D345-45EB-8D7E-0D7AF77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038149D-23F8-4B1E-A4C3-6033E35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SEPARATOR REFERENCE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97A202F-E233-4F06-B3B7-3C39710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14 µm</a:t>
            </a:r>
          </a:p>
        </p:txBody>
      </p:sp>
      <p:sp>
        <p:nvSpPr>
          <p:cNvPr id="11" name="metric-sub">
            <a:extLst xmlns:a="http://schemas.openxmlformats.org/drawingml/2006/main">
              <a:ext uri="{FF2B5EF4-FFF2-40B4-BE49-F238E27FC236}">
                <a16:creationId xmlns:a16="http://schemas.microsoft.com/office/drawing/2014/main" id="{5C8CF618-58F6-4F4F-B2F0-EF45A21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Risk boundary for stack design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5D8FE487-AF9C-4F57-8D83-0A3BE79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60B82A3-28B7-4F96-9039-34E318D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A6E953-9010-4041-B73F-2303CB4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INSPECTION GAP</a:t>
            </a:r>
          </a:p>
        </p:txBody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DB459AE-4F85-4965-A679-45DE83A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Subsurface</a:t>
            </a:r>
          </a:p>
        </p:txBody>
      </p:sp>
      <p:sp>
        <p:nvSpPr>
          <p:cNvPr id="16" name="metric-sub">
            <a:extLst xmlns:a="http://schemas.openxmlformats.org/drawingml/2006/main">
              <a:ext uri="{FF2B5EF4-FFF2-40B4-BE49-F238E27FC236}">
                <a16:creationId xmlns:a16="http://schemas.microsoft.com/office/drawing/2014/main" id="{E1A1EB02-08AD-4C94-8B55-9E683D0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Surface-only RGB cannot see void physics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9FE226B0-D1A4-421B-8BC7-023AAC9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76625"/>
            <a:ext cx="468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14DDC0-BB2B-480E-B2FD-1488AFD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Factory consequence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147890-234D-4747-9CED-B0D73FF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A defect escape is not “one missed box.”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It is an untraceable precursor to rework, yield loss, or an internal-short investigation.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53728D-BB2D-456B-887D-4DFE9BB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720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The engineering question: can we detect, measure, locate, and act before slitting?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A6118E1-79D1-4120-8B07-19DBEDE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91EC0F93-B569-4FD0-AA0B-0D23B6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Real CoatingVision image; YOLO output; RGB-only HOLD mode.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D7120092-9D82-43FB-AC3D-D2D6F8C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2</a:t>
            </a:r>
          </a:p>
        </p:txBody>
      </p:sp>
    </p:spTree>
    <p:extLst>
      <p:ext uri="{BB962C8B-B14F-4D97-AF65-F5344CB8AC3E}">
        <p14:creationId xmlns:p14="http://schemas.microsoft.com/office/powerpoint/2010/main" val="111400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eyebrow">
            <a:extLst xmlns:a="http://schemas.openxmlformats.org/drawingml/2006/main">
              <a:ext uri="{FF2B5EF4-FFF2-40B4-BE49-F238E27FC236}">
                <a16:creationId xmlns:a16="http://schemas.microsoft.com/office/drawing/2014/main" id="{837B98A7-387C-4D47-8E87-AF04BF3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03  |  1:15–2:00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8A1CDE-100C-48E9-AFA3-9F544B6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An evidence-gated inspection architecture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E31405D-CD4F-4E51-8CBF-0327DA1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七工站闭环检测决策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0257CA6F-77D0-48C4-A459-98B3294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F594C7EE-DCB2-484C-BBE4-F98A7C0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A5C2036-8C42-4BDB-8513-A237C68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A9BB1A32-2A4C-4BF4-8846-13844D7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同步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C36A6701-FBC5-449C-AC41-2D3E915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F0D87EB0-F72F-48C8-B31C-C93ED12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291599E0-F803-4A02-B3F7-321D776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RGB / Thermal / 3D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采集</a:t>
            </a:r>
          </a:p>
        </p:txBody>
      </p:sp>
      <p:cxnSp>
        <p:nvCxnSpPr>
          <p:cNvPr id="128" name="Straight Arrow Connector 6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431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2E89EB11-D747-4117-97FB-D266B94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node-head">
            <a:extLst xmlns:a="http://schemas.openxmlformats.org/drawingml/2006/main">
              <a:ext uri="{FF2B5EF4-FFF2-40B4-BE49-F238E27FC236}">
                <a16:creationId xmlns:a16="http://schemas.microsoft.com/office/drawing/2014/main" id="{53616098-17E2-4A38-8FDF-81889C2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4" name="node-body">
            <a:extLst xmlns:a="http://schemas.openxmlformats.org/drawingml/2006/main">
              <a:ext uri="{FF2B5EF4-FFF2-40B4-BE49-F238E27FC236}">
                <a16:creationId xmlns:a16="http://schemas.microsoft.com/office/drawing/2014/main" id="{E84A2AD8-4A60-4875-85C5-53D7711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5-channel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对齐融合</a:t>
            </a:r>
          </a:p>
        </p:txBody>
      </p:sp>
      <p:cxnSp>
        <p:nvCxnSpPr>
          <p:cNvPr id="132" name="Straight Arrow Connector 69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8C1902FA-2B3F-4609-8335-2C1E235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node-head">
            <a:extLst xmlns:a="http://schemas.openxmlformats.org/drawingml/2006/main">
              <a:ext uri="{FF2B5EF4-FFF2-40B4-BE49-F238E27FC236}">
                <a16:creationId xmlns:a16="http://schemas.microsoft.com/office/drawing/2014/main" id="{43178BC8-DB36-460A-9E4B-63F17FB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</a:t>
            </a:r>
          </a:p>
        </p:txBody>
      </p:sp>
      <p:sp>
        <p:nvSpPr>
          <p:cNvPr id="18" name="node-body">
            <a:extLst xmlns:a="http://schemas.openxmlformats.org/drawingml/2006/main">
              <a:ext uri="{FF2B5EF4-FFF2-40B4-BE49-F238E27FC236}">
                <a16:creationId xmlns:a16="http://schemas.microsoft.com/office/drawing/2014/main" id="{CE37ECA9-3130-431A-A1E2-2A40A77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YOLO26n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detection</a:t>
            </a:r>
          </a:p>
        </p:txBody>
      </p:sp>
      <p:cxnSp>
        <p:nvCxnSpPr>
          <p:cNvPr id="136" name="Straight Arrow Connector 73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768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A42DCBF4-B375-49A4-AA0C-9374044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B6D32A21-7A09-4302-B4FA-C28B174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40F7BE45-3FAA-4D22-A9F7-46E51F9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Physics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metrology</a:t>
            </a:r>
          </a:p>
        </p:txBody>
      </p:sp>
      <p:cxnSp>
        <p:nvCxnSpPr>
          <p:cNvPr id="140" name="Straight Arrow Connector 77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436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FA9B9AC4-2649-4D13-BA40-08DBFD0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node-head">
            <a:extLst xmlns:a="http://schemas.openxmlformats.org/drawingml/2006/main">
              <a:ext uri="{FF2B5EF4-FFF2-40B4-BE49-F238E27FC236}">
                <a16:creationId xmlns:a16="http://schemas.microsoft.com/office/drawing/2014/main" id="{630C2C4D-190F-44D0-9CDD-401E2F2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6</a:t>
            </a:r>
          </a:p>
        </p:txBody>
      </p:sp>
      <p:sp>
        <p:nvSpPr>
          <p:cNvPr id="26" name="node-body">
            <a:extLst xmlns:a="http://schemas.openxmlformats.org/drawingml/2006/main">
              <a:ext uri="{FF2B5EF4-FFF2-40B4-BE49-F238E27FC236}">
                <a16:creationId xmlns:a16="http://schemas.microsoft.com/office/drawing/2014/main" id="{7CCF425D-EA22-43A5-AFC2-998FE7A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PLC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interlock</a:t>
            </a:r>
          </a:p>
        </p:txBody>
      </p:sp>
      <p:cxnSp>
        <p:nvCxnSpPr>
          <p:cNvPr id="144" name="Straight Arrow Connector 81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105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C88117F1-EFB9-41C8-8F66-27C4EAA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node-head">
            <a:extLst xmlns:a="http://schemas.openxmlformats.org/drawingml/2006/main">
              <a:ext uri="{FF2B5EF4-FFF2-40B4-BE49-F238E27FC236}">
                <a16:creationId xmlns:a16="http://schemas.microsoft.com/office/drawing/2014/main" id="{5EA7E9F7-6E69-41FC-887E-D3C8E76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7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D676331-1E29-4D53-9C86-AF02B97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Root-cause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feedback</a:t>
            </a:r>
          </a:p>
        </p:txBody>
      </p:sp>
      <p:cxnSp>
        <p:nvCxnSpPr>
          <p:cNvPr id="148" name="Straight Arrow Connector 85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773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2" name="metric">
            <a:extLst xmlns:a="http://schemas.openxmlformats.org/drawingml/2006/main">
              <a:ext uri="{FF2B5EF4-FFF2-40B4-BE49-F238E27FC236}">
                <a16:creationId xmlns:a16="http://schemas.microsoft.com/office/drawing/2014/main" id="{0548D1A4-2AF1-45CE-8BBC-51AD58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A405073-A2BB-41E8-917E-F714F3F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B82EA8-6244-45D1-90C8-E77EB3A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WEB SPEED</a:t>
            </a:r>
          </a:p>
        </p:txBody>
      </p:sp>
      <p:sp>
        <p:nvSpPr>
          <p:cNvPr id="3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3B7E8D-E067-46A8-973C-BC0A832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1.8 m/s</a:t>
            </a:r>
          </a:p>
        </p:txBody>
      </p:sp>
      <p:sp>
        <p:nvSpPr>
          <p:cNvPr id="36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35E8FC-63C2-4B05-8E7E-32FF192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design operating point</a:t>
            </a:r>
          </a:p>
        </p:txBody>
      </p:sp>
      <p:sp>
        <p:nvSpPr>
          <p:cNvPr id="37" name="metric">
            <a:extLst xmlns:a="http://schemas.openxmlformats.org/drawingml/2006/main">
              <a:ext uri="{FF2B5EF4-FFF2-40B4-BE49-F238E27FC236}">
                <a16:creationId xmlns:a16="http://schemas.microsoft.com/office/drawing/2014/main" id="{A4B5B898-E821-48D3-9FF0-7D4C0DA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37CB742-5FF4-472A-88DA-CDB64E0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D723D98-F48D-4988-8832-FA89FC7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LINE RATE</a:t>
            </a:r>
          </a:p>
        </p:txBody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D981E17-8B34-454D-B975-72A2EC2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42.6 kHz</a:t>
            </a:r>
          </a:p>
        </p:txBody>
      </p:sp>
      <p:sp>
        <p:nvSpPr>
          <p:cNvPr id="41" name="metric-sub">
            <a:extLst xmlns:a="http://schemas.openxmlformats.org/drawingml/2006/main">
              <a:ext uri="{FF2B5EF4-FFF2-40B4-BE49-F238E27FC236}">
                <a16:creationId xmlns:a16="http://schemas.microsoft.com/office/drawing/2014/main" id="{B09911F3-1529-4938-BED6-0937AD1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1.8 m/s ÷ 42.24 µm/px</a:t>
            </a:r>
          </a:p>
        </p:txBody>
      </p:sp>
      <p:sp>
        <p:nvSpPr>
          <p:cNvPr id="42" name="metric">
            <a:extLst xmlns:a="http://schemas.openxmlformats.org/drawingml/2006/main">
              <a:ext uri="{FF2B5EF4-FFF2-40B4-BE49-F238E27FC236}">
                <a16:creationId xmlns:a16="http://schemas.microsoft.com/office/drawing/2014/main" id="{3075A22C-866B-45DB-92B9-9D7E53F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F3B1870-5CE1-40E4-A83B-920683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5A44C82-2926-4096-A944-AE98A91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OPTICS</a:t>
            </a:r>
          </a:p>
        </p:txBody>
      </p:sp>
      <p:sp>
        <p:nvSpPr>
          <p:cNvPr id="4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AB16A7A-D169-416A-BCAE-3B7D87D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M = 0.17</a:t>
            </a:r>
          </a:p>
        </p:txBody>
      </p:sp>
      <p:sp>
        <p:nvSpPr>
          <p:cNvPr id="46" name="metric-sub">
            <a:extLst xmlns:a="http://schemas.openxmlformats.org/drawingml/2006/main">
              <a:ext uri="{FF2B5EF4-FFF2-40B4-BE49-F238E27FC236}">
                <a16:creationId xmlns:a16="http://schemas.microsoft.com/office/drawing/2014/main" id="{7AE45FC3-FD72-4ADF-90CD-F3EA1F7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2 × 8K line-scan</a:t>
            </a:r>
          </a:p>
        </p:txBody>
      </p:sp>
      <p:sp>
        <p:nvSpPr>
          <p:cNvPr id="47" name="metric">
            <a:extLst xmlns:a="http://schemas.openxmlformats.org/drawingml/2006/main">
              <a:ext uri="{FF2B5EF4-FFF2-40B4-BE49-F238E27FC236}">
                <a16:creationId xmlns:a16="http://schemas.microsoft.com/office/drawing/2014/main" id="{788CE6F0-2C11-4C24-9D6B-4A53E04B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6D97476C-C608-428C-A150-2992E6F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1BB4E5-A7C7-4ECE-AD20-478DCF0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MOTION BLUR</a:t>
            </a:r>
          </a:p>
        </p:txBody>
      </p:sp>
      <p:sp>
        <p:nvSpPr>
          <p:cNvPr id="5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59D7511-92AA-4D6C-96A3-58CE725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≤ 0.40 px</a:t>
            </a:r>
          </a:p>
        </p:txBody>
      </p:sp>
      <p:sp>
        <p:nvSpPr>
          <p:cNvPr id="51" name="metric-sub">
            <a:extLst xmlns:a="http://schemas.openxmlformats.org/drawingml/2006/main">
              <a:ext uri="{FF2B5EF4-FFF2-40B4-BE49-F238E27FC236}">
                <a16:creationId xmlns:a16="http://schemas.microsoft.com/office/drawing/2014/main" id="{CFC4003D-2DAF-4A14-8534-94906F9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exposure design limit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019B7116-5202-43AE-8454-119B1A2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RGB detection is validated; thermal, 3D and closed-loop control remain pilot gates.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1ED6C37F-B2BA-4891-B383-8C2BAFA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">
            <a:extLst xmlns:a="http://schemas.openxmlformats.org/drawingml/2006/main">
              <a:ext uri="{FF2B5EF4-FFF2-40B4-BE49-F238E27FC236}">
                <a16:creationId xmlns:a16="http://schemas.microsoft.com/office/drawing/2014/main" id="{DBEB7AE7-B931-4C81-B68B-F81352F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Design budget: 50 mm lens, 350 mm WD, 7.04 µm sensor pixels, 650 mm web.</a:t>
            </a:r>
          </a:p>
        </p:txBody>
      </p:sp>
      <p:sp>
        <p:nvSpPr>
          <p:cNvPr id="55" name="page">
            <a:extLst xmlns:a="http://schemas.openxmlformats.org/drawingml/2006/main">
              <a:ext uri="{FF2B5EF4-FFF2-40B4-BE49-F238E27FC236}">
                <a16:creationId xmlns:a16="http://schemas.microsoft.com/office/drawing/2014/main" id="{5C596144-D490-4E1F-9E80-FA83DE4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3</a:t>
            </a:r>
          </a:p>
        </p:txBody>
      </p:sp>
    </p:spTree>
    <p:extLst>
      <p:ext uri="{BB962C8B-B14F-4D97-AF65-F5344CB8AC3E}">
        <p14:creationId xmlns:p14="http://schemas.microsoft.com/office/powerpoint/2010/main" val="4286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83D68CEE-4284-4B9A-8BF5-A5977D3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04  |  2:00–2:45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481F25-3095-4204-8515-52E8BFC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Fusion is anchored to material coordinates, not arrival time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4202A10A-A3D4-4699-8ECA-1D87B53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多模态融合：锚定材料坐标，而非到达时间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294408C-8B48-43F8-B9D6-8CD4C0E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6733B903-4407-4377-8B7E-4A84B82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279C996-07B4-4D43-BAD8-B958FA6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FrameContext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3497FF8A-04D4-4ED9-8ACF-FC4C3D5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 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 pulse at capture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monotonic timestamp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D4EFBCB3-89E6-4930-81BE-C283112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C8CC2990-1810-42A9-ADAE-B0C9E81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RGB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413DEDFF-D27B-4A6E-9FA8-5862917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669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 texture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D949189C-B31E-4D54-B499-1FF8523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D5510EC-5DF7-4138-BD03-475F7E9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Traveling-wave thermal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F678C42B-A43F-4B7E-8666-73E5B43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phase / subsurface response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B4643E73-CD90-46B9-9C9F-3AF4E8E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7284B682-EB31-4DB5-9656-796EEFB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81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Laser 3D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66B44623-119C-4E48-B37D-EF72F8A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height / topology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D7FCB003-E8D5-4CBC-8F0E-7BEE763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1857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ode-head">
            <a:extLst xmlns:a="http://schemas.openxmlformats.org/drawingml/2006/main">
              <a:ext uri="{FF2B5EF4-FFF2-40B4-BE49-F238E27FC236}">
                <a16:creationId xmlns:a16="http://schemas.microsoft.com/office/drawing/2014/main" id="{27B584B3-E87B-41BD-8D39-21AF157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4797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5-layer tensor</a:t>
            </a:r>
          </a:p>
        </p:txBody>
      </p:sp>
      <p:sp>
        <p:nvSpPr>
          <p:cNvPr id="19" name="node-body">
            <a:extLst xmlns:a="http://schemas.openxmlformats.org/drawingml/2006/main">
              <a:ext uri="{FF2B5EF4-FFF2-40B4-BE49-F238E27FC236}">
                <a16:creationId xmlns:a16="http://schemas.microsoft.com/office/drawing/2014/main" id="{10C1D336-3435-4117-8ECA-D3ED427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95625"/>
            <a:ext cx="1590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[R, G, B, ΔT/phase, Z]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spatial warp + quality flags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170380CB-BA0B-4E9B-ABCD-A737F15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EA8F7A11-80FA-40F7-B72B-6E6355B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47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Decision event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825CD24E-77FB-4720-BF1D-23F7B47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956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 · lane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confidence · disposition</a:t>
            </a:r>
          </a:p>
        </p:txBody>
      </p:sp>
      <p:cxnSp>
        <p:nvCxnSpPr>
          <p:cNvPr id="114" name="Straight Arrow Connector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686050" y="2447925"/>
            <a:ext cx="9334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5" name="Straight Arrow Connector 56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86050" y="2867025"/>
            <a:ext cx="9334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6" name="Straight Arrow Connector 57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86050" y="2867025"/>
            <a:ext cx="93345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7" name="Straight Arrow Connector 58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76875" y="2447925"/>
            <a:ext cx="1143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8" name="Straight Arrow Connector 59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19" name="Straight Arrow Connector 60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20" name="Straight Arrow Connector 61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77250" y="33242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A3424C7-6E7D-4C53-80A4-24BB801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FrameContext preserves the web position at photon capture; downstream latency cannot shift the defect coordinate.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6628FB7-EC2D-438D-A47C-3B19DE8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4776CD9E-C726-4FDE-A39C-70CFA62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Temporal anchoring is implemented in the prototype; real sensor streams remain a pilot integration gate.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EF097105-40A6-4121-B1B6-FE922FB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4</a:t>
            </a:r>
          </a:p>
        </p:txBody>
      </p:sp>
    </p:spTree>
    <p:extLst>
      <p:ext uri="{BB962C8B-B14F-4D97-AF65-F5344CB8AC3E}">
        <p14:creationId xmlns:p14="http://schemas.microsoft.com/office/powerpoint/2010/main" val="141382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2889611-AAF6-4A5E-8E05-1785A41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05  |  2:45–3:35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DD4616-151B-44A2-9BF4-DD13683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 detection becomes a measurement only after calibration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1684E8D0-2E59-4D3A-BFFC-6656F3B7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从分割掩膜到带防护带的测量记录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D7619A4-A820-4625-A538-B568375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28C5AA7-395B-489F-9F97-B236809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6FC32A-6736-4FEA-9435-BA77071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  Geometry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E5A5C1-52B5-475F-A8E8-07B098C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193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minAreaRect · web angle · area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5AC120C3-5478-4E3C-8A6C-CCADA01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DD05C8-8D38-40E7-AAB4-4B67AA1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  Topography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D2964F-9AE6-4F98-AB6E-420D4D5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28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plane leveling · Ra · volume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23121E2-7BB5-44FB-8C35-8F8A925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DA69A3-BF09-430B-BDD6-3F9EAE4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  Risk index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1D86D2-D72B-409C-AB99-05857F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38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separator-aware empirical score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68CED802-F7A5-40F9-BC58-5098C96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2E358C-2007-4EB0-82E7-1355131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  Guard band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0F4F9D-F02B-475D-BD91-4B4DA8A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481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limit − expanded uncertainty U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8A00211D-8541-43E6-9D82-659C500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F7E19A-C772-4DDE-9740-9E3F4B4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  Traceability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557096-CC9A-44C7-AA1F-7590641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577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plant SOP / customer spec mapping</a:t>
            </a:r>
          </a:p>
        </p:txBody>
      </p: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42D22079-EEEF-42E8-A464-937E7ED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AC2095-280B-44EC-B32D-0335284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BAE0C4E-ECF1-477B-B5C2-617146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UNCERTAINTY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96F0476-1429-47A5-90ED-50FC5FC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GUM k = 2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831E0F5-94C7-487D-BEBD-9FB87EB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9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expanded uncertainty; 95% coverage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B0DACE1A-A596-4FF0-A47B-7F3975B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083B468-47BF-408E-8FA4-B6401F1C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19E590-AB80-4C68-9230-1BC504B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147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DECISION RULE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B4E4F0-215B-4E51-80F2-0490899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528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Limit − U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440ABCC0-D4AC-426D-8308-88511DF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100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guard band before A/B/C grade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1570E6-7F61-4879-BA1E-301768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Standards correction: T/CIAPS 0006 and QC/T 743 are not valid coating-metrology compliance claims.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30F1D338-9142-4479-95D0-565AE15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DC5CD426-9A1B-4362-B504-DAB726E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A = A_px · s²   |   U = 2√Σuᵢ²   |   accept only if q ≤ L − U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2CFE79CA-6D88-4A52-855A-00EF37F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5</a:t>
            </a:r>
          </a:p>
        </p:txBody>
      </p:sp>
    </p:spTree>
    <p:extLst>
      <p:ext uri="{BB962C8B-B14F-4D97-AF65-F5344CB8AC3E}">
        <p14:creationId xmlns:p14="http://schemas.microsoft.com/office/powerpoint/2010/main" val="1235806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eyebrow">
            <a:extLst xmlns:a="http://schemas.openxmlformats.org/drawingml/2006/main">
              <a:ext uri="{FF2B5EF4-FFF2-40B4-BE49-F238E27FC236}">
                <a16:creationId xmlns:a16="http://schemas.microsoft.com/office/drawing/2014/main" id="{EE7DB145-B9D2-476D-A209-34DC13A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06  |  3:35–4:20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94AAA8-F5AB-4B91-AAED-8B43FA5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Latency is a full physical chain — and currently a design model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38CA4B9-D443-4B0C-A098-0E720EF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时延是完整物理链路——当前为设计模型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480248AC-D469-47BF-9557-7B95CAC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D3DD63F-2093-49C7-943D-75514BA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901F8A-5D1E-46F9-92B7-2A8CDD9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Tile formation</a:t>
            </a:r>
          </a:p>
        </p:txBody>
      </p:sp>
      <p:sp>
        <p:nvSpPr>
          <p:cNvPr id="7" name="lt">
            <a:extLst xmlns:a="http://schemas.openxmlformats.org/drawingml/2006/main">
              <a:ext uri="{FF2B5EF4-FFF2-40B4-BE49-F238E27FC236}">
                <a16:creationId xmlns:a16="http://schemas.microsoft.com/office/drawing/2014/main" id="{02CC50AB-DC74-41E1-9CFB-18A7C09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12.1 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5E915B-12DE-4ED5-BE26-091F9D6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04982FB2-4BDB-415B-A523-1D4C517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91DCD5-99E7-4068-9306-81022FC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DMA</a:t>
            </a:r>
          </a:p>
        </p:txBody>
      </p:sp>
      <p:sp>
        <p:nvSpPr>
          <p:cNvPr id="11" name="lt">
            <a:extLst xmlns:a="http://schemas.openxmlformats.org/drawingml/2006/main">
              <a:ext uri="{FF2B5EF4-FFF2-40B4-BE49-F238E27FC236}">
                <a16:creationId xmlns:a16="http://schemas.microsoft.com/office/drawing/2014/main" id="{FF7065D5-ACA4-4F4B-877E-E60EE75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1.2 ms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E7737F-8D0A-477F-B93B-75B1802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0DC4C03-BE3F-47B0-9EEF-2EEB945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2C7C9F-23C5-4975-94FB-5133E50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Fusion</a:t>
            </a:r>
          </a:p>
        </p:txBody>
      </p:sp>
      <p:sp>
        <p:nvSpPr>
          <p:cNvPr id="15" name="lt">
            <a:extLst xmlns:a="http://schemas.openxmlformats.org/drawingml/2006/main">
              <a:ext uri="{FF2B5EF4-FFF2-40B4-BE49-F238E27FC236}">
                <a16:creationId xmlns:a16="http://schemas.microsoft.com/office/drawing/2014/main" id="{E7AFB9A1-E84F-46C5-A5FF-F4A97A8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1.8 ms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078579-7B77-48DD-97C6-0E2900E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B0E2309-82B2-44A3-9D79-2D146C7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38DB36-46FB-4DA3-BEBD-9074E1D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AI</a:t>
            </a:r>
          </a:p>
        </p:txBody>
      </p:sp>
      <p:sp>
        <p:nvSpPr>
          <p:cNvPr id="19" name="lt">
            <a:extLst xmlns:a="http://schemas.openxmlformats.org/drawingml/2006/main">
              <a:ext uri="{FF2B5EF4-FFF2-40B4-BE49-F238E27FC236}">
                <a16:creationId xmlns:a16="http://schemas.microsoft.com/office/drawing/2014/main" id="{FE72E0B4-A503-408F-B023-D307065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8.7 ms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694E4B-2070-4BE4-B874-FC4C2E5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BC921D3-C5F2-4180-B5C2-356705D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9B50579-0F1D-47F3-9E09-40B7309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Metrology</a:t>
            </a:r>
          </a:p>
        </p:txBody>
      </p:sp>
      <p:sp>
        <p:nvSpPr>
          <p:cNvPr id="23" name="lt">
            <a:extLst xmlns:a="http://schemas.openxmlformats.org/drawingml/2006/main">
              <a:ext uri="{FF2B5EF4-FFF2-40B4-BE49-F238E27FC236}">
                <a16:creationId xmlns:a16="http://schemas.microsoft.com/office/drawing/2014/main" id="{131B521E-DE8A-45D0-A54C-F67E7C2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1.5 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9EB0A2-C8D7-46B7-A7FE-C777650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DA8BF7EF-72D9-4310-9789-3B1651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6693E9-B4CF-4A9B-96B8-4F08742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Network</a:t>
            </a:r>
          </a:p>
        </p:txBody>
      </p:sp>
      <p:sp>
        <p:nvSpPr>
          <p:cNvPr id="27" name="lt">
            <a:extLst xmlns:a="http://schemas.openxmlformats.org/drawingml/2006/main">
              <a:ext uri="{FF2B5EF4-FFF2-40B4-BE49-F238E27FC236}">
                <a16:creationId xmlns:a16="http://schemas.microsoft.com/office/drawing/2014/main" id="{C27CCC4A-0756-442C-958B-8686C16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0.8 ms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8F02B7-44EF-4EA9-9DE7-BC2E2F6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997E9A6-6807-4AD2-9700-148E8D6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80FFCA0-94C3-41C2-B586-F9F657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PLC</a:t>
            </a:r>
          </a:p>
        </p:txBody>
      </p:sp>
      <p:sp>
        <p:nvSpPr>
          <p:cNvPr id="31" name="lt">
            <a:extLst xmlns:a="http://schemas.openxmlformats.org/drawingml/2006/main">
              <a:ext uri="{FF2B5EF4-FFF2-40B4-BE49-F238E27FC236}">
                <a16:creationId xmlns:a16="http://schemas.microsoft.com/office/drawing/2014/main" id="{628D6416-8D1D-4764-8A36-86518BE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2.0 ms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9FABA67-D2A7-462B-9FB9-3C1F646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EC07301D-DC8B-4CAA-AB8E-D5FE271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8C4BC2D-A2AB-4857-A93A-7C9BE53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Valve + air</a:t>
            </a:r>
          </a:p>
        </p:txBody>
      </p:sp>
      <p:sp>
        <p:nvSpPr>
          <p:cNvPr id="35" name="lt">
            <a:extLst xmlns:a="http://schemas.openxmlformats.org/drawingml/2006/main">
              <a:ext uri="{FF2B5EF4-FFF2-40B4-BE49-F238E27FC236}">
                <a16:creationId xmlns:a16="http://schemas.microsoft.com/office/drawing/2014/main" id="{3057ED66-EE5C-4AC1-BC84-ACE9185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4.5 ms</a:t>
            </a:r>
          </a:p>
        </p:txBody>
      </p:sp>
      <p:sp>
        <p:nvSpPr>
          <p:cNvPr id="36" name="metric">
            <a:extLst xmlns:a="http://schemas.openxmlformats.org/drawingml/2006/main">
              <a:ext uri="{FF2B5EF4-FFF2-40B4-BE49-F238E27FC236}">
                <a16:creationId xmlns:a16="http://schemas.microsoft.com/office/drawing/2014/main" id="{AF722E2D-7C47-4C2B-B7DC-A0994613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E61156C-D6AF-44B1-9BC0-1FDB6C7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8312C11-F23B-458A-BA49-735638B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P50 DESIGN MODEL</a:t>
            </a:r>
          </a:p>
        </p:txBody>
      </p:sp>
      <p:sp>
        <p:nvSpPr>
          <p:cNvPr id="3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6C62F41-F409-4A78-BA66-14D2DF5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32.9 ms</a:t>
            </a:r>
          </a:p>
        </p:txBody>
      </p:sp>
      <p:sp>
        <p:nvSpPr>
          <p:cNvPr id="40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529C04-0708-4C86-81CB-F5FEF7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not a hardware measurement</a:t>
            </a:r>
          </a:p>
        </p:txBody>
      </p:sp>
      <p:sp>
        <p:nvSpPr>
          <p:cNvPr id="41" name="metric">
            <a:extLst xmlns:a="http://schemas.openxmlformats.org/drawingml/2006/main">
              <a:ext uri="{FF2B5EF4-FFF2-40B4-BE49-F238E27FC236}">
                <a16:creationId xmlns:a16="http://schemas.microsoft.com/office/drawing/2014/main" id="{25490935-AA9D-4F3C-A7F9-7D22A31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EB50C9-9616-4C35-A15F-FEDFCC2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FF94292-CF72-4583-A8BE-091E93A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P99.9 MODEL</a:t>
            </a:r>
          </a:p>
        </p:txBody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758DF52-9224-4857-AE03-9B9297E1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35.9 ms</a:t>
            </a:r>
          </a:p>
        </p:txBody>
      </p:sp>
      <p:sp>
        <p:nvSpPr>
          <p:cNvPr id="45" name="metric-sub">
            <a:extLst xmlns:a="http://schemas.openxmlformats.org/drawingml/2006/main">
              <a:ext uri="{FF2B5EF4-FFF2-40B4-BE49-F238E27FC236}">
                <a16:creationId xmlns:a16="http://schemas.microsoft.com/office/drawing/2014/main" id="{E3DDEA0F-2963-43EF-A663-463EBFF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Monte Carlo output</a:t>
            </a:r>
          </a:p>
        </p:txBody>
      </p:sp>
      <p:sp>
        <p:nvSpPr>
          <p:cNvPr id="46" name="metric">
            <a:extLst xmlns:a="http://schemas.openxmlformats.org/drawingml/2006/main">
              <a:ext uri="{FF2B5EF4-FFF2-40B4-BE49-F238E27FC236}">
                <a16:creationId xmlns:a16="http://schemas.microsoft.com/office/drawing/2014/main" id="{515A314F-654F-4DC8-84B3-94D9DFA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6BDB1D1-0617-46C3-9E40-598B845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A323D6-7FAF-4924-96F4-933B478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DESIGN W/ GUARD</a:t>
            </a:r>
          </a:p>
        </p:txBody>
      </p:sp>
      <p:sp>
        <p:nvSpPr>
          <p:cNvPr id="4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C5A9B57-2F35-4CA9-AAA1-E338D5B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38.9 ms</a:t>
            </a:r>
          </a:p>
        </p:txBody>
      </p:sp>
      <p:sp>
        <p:nvSpPr>
          <p:cNvPr id="50" name="metric-sub">
            <a:extLst xmlns:a="http://schemas.openxmlformats.org/drawingml/2006/main">
              <a:ext uri="{FF2B5EF4-FFF2-40B4-BE49-F238E27FC236}">
                <a16:creationId xmlns:a16="http://schemas.microsoft.com/office/drawing/2014/main" id="{2E9D525F-5556-4D40-BFF3-C973E45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+ 3.0 ms</a:t>
            </a:r>
          </a:p>
        </p:txBody>
      </p:sp>
      <p:sp>
        <p:nvSpPr>
          <p:cNvPr id="51" name="metric">
            <a:extLst xmlns:a="http://schemas.openxmlformats.org/drawingml/2006/main">
              <a:ext uri="{FF2B5EF4-FFF2-40B4-BE49-F238E27FC236}">
                <a16:creationId xmlns:a16="http://schemas.microsoft.com/office/drawing/2014/main" id="{B31C6EEC-142B-4F6D-9D0E-528C715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D30885C-5C45-448C-A6D1-976839C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4AE10D-2E51-4D28-946B-434DB32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500 mm BUFFER</a:t>
            </a:r>
          </a:p>
        </p:txBody>
      </p:sp>
      <p:sp>
        <p:nvSpPr>
          <p:cNvPr id="5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9F02C1B-447C-4AB9-864B-366C597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7.1×</a:t>
            </a:r>
          </a:p>
        </p:txBody>
      </p:sp>
      <p:sp>
        <p:nvSpPr>
          <p:cNvPr id="55" name="metric-sub">
            <a:extLst xmlns:a="http://schemas.openxmlformats.org/drawingml/2006/main">
              <a:ext uri="{FF2B5EF4-FFF2-40B4-BE49-F238E27FC236}">
                <a16:creationId xmlns:a16="http://schemas.microsoft.com/office/drawing/2014/main" id="{86756017-696A-4BC4-9522-A678C8B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at 1.8 m/s; design result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7963882-CBE5-470E-967C-546B647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PLC protocol telemetry ≠ deterministic safety interlock. HIL evidence is mandatory before deployment.</a:t>
            </a:r>
          </a:p>
        </p:txBody>
      </p:sp>
      <p:sp>
        <p:nvSpPr>
          <p:cNvPr id="57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E4534083-9B97-4A51-A0DC-D281BF9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ource">
            <a:extLst xmlns:a="http://schemas.openxmlformats.org/drawingml/2006/main">
              <a:ext uri="{FF2B5EF4-FFF2-40B4-BE49-F238E27FC236}">
                <a16:creationId xmlns:a16="http://schemas.microsoft.com/office/drawing/2014/main" id="{E26BA953-A70F-498F-B9E4-68D25BC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Latency engine status in source: MONTE_CARLO_SIMULATED; the P99.9 number is not a measured production SLA.</a:t>
            </a:r>
          </a:p>
        </p:txBody>
      </p:sp>
      <p:sp>
        <p:nvSpPr>
          <p:cNvPr id="59" name="page">
            <a:extLst xmlns:a="http://schemas.openxmlformats.org/drawingml/2006/main">
              <a:ext uri="{FF2B5EF4-FFF2-40B4-BE49-F238E27FC236}">
                <a16:creationId xmlns:a16="http://schemas.microsoft.com/office/drawing/2014/main" id="{1B0D4A4C-0464-42E4-9B50-6AF6E12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6</a:t>
            </a:r>
          </a:p>
        </p:txBody>
      </p:sp>
    </p:spTree>
    <p:extLst>
      <p:ext uri="{BB962C8B-B14F-4D97-AF65-F5344CB8AC3E}">
        <p14:creationId xmlns:p14="http://schemas.microsoft.com/office/powerpoint/2010/main" val="21409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196C3E46-0EE1-4F12-A93E-4020C16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07  |  4:20–5:10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4D5CA-99B8-4325-AF16-D5E1421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Defects become controlled process experiments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CD98477F-2E0A-468A-9B40-56B8B0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将缺陷转化为受控工艺实验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ACBF4EC-0469-4FA9-AB43-AEE9127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1C749454-D2E2-4775-BC52-E90791F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BD91B499-62DB-4815-B816-08B70EE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1,200 m roll map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B891DC13-8ADA-4F47-9791-19CA7BF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 slitting lanes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quality events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0E688F58-7467-4D76-84AA-944FDAB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9BC8F36F-A5EA-4837-AF78-B925B4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Root-cause rank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7E62ACF9-BF3A-459D-9653-85635B0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Slot-die · Dryer Z1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Vacuum mixer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90A7589B-6283-43B6-8F8A-DCFA695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F8DCFBB-BC34-428E-978C-5700CF2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Constrained change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490319D6-10C5-4804-851F-3203268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ΔT1 / Δv / ΔQ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approval + recipe limits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0D4B09E-943A-41CD-B275-4609146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6B4025A7-0DFF-47F8-9571-64D456D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Verify effect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ECC68594-09B3-4957-88BE-AED59DD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holdout segment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roll-level evidence</a:t>
            </a:r>
          </a:p>
        </p:txBody>
      </p:sp>
      <p:cxnSp>
        <p:nvCxnSpPr>
          <p:cNvPr id="92" name="Straight Arrow Connector 5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93" name="Straight Arrow Connector 5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00675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94" name="Straight Arrow Connector 55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0580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FA01317C-1A6F-4BEE-84BF-35EBAFCB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F24D82-2F03-42DF-8CEB-72874B0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253316E-7105-46BD-B338-D286899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PROTOTYPE CERTIFICATE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148A8D4-6A6F-43C8-B375-E5952EB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HMAC-SHA256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4725BD77-BD4C-4B38-8AF1-765F5A0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tamper-evident MAC; not non-repudiation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C4DABB0B-01D5-4284-81ED-E4720A4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DFCF4B2-228F-462A-8670-CE07906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3F03BD-F95E-4B55-BAB4-8BCCC39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EXAMPLE INTERVENTION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27D3550-4C66-4370-8B0F-672A5FF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ΔT1 = −4 °C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6CB6E62F-8060-489A-94AF-5577CF9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hypothesis to be confirmed by trial</a:t>
            </a:r>
          </a:p>
        </p:txBody>
      </p:sp>
      <p:sp>
        <p:nvSpPr>
          <p:cNvPr id="30" name="metric">
            <a:extLst xmlns:a="http://schemas.openxmlformats.org/drawingml/2006/main">
              <a:ext uri="{FF2B5EF4-FFF2-40B4-BE49-F238E27FC236}">
                <a16:creationId xmlns:a16="http://schemas.microsoft.com/office/drawing/2014/main" id="{4313110E-E3B7-4E04-AF86-038E45C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AE305B2-AE35-467A-A533-2FA81E9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1ABB3B-6216-4DC5-9946-50C1E09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REPORTED KPI</a:t>
            </a:r>
          </a:p>
        </p:txBody>
      </p:sp>
      <p:sp>
        <p:nvSpPr>
          <p:cNvPr id="3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4863AC9-C2CB-4499-A353-7CFEB1B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−84.2% scrap</a:t>
            </a:r>
          </a:p>
        </p:txBody>
      </p:sp>
      <p:sp>
        <p:nvSpPr>
          <p:cNvPr id="3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A980C0-37E9-466D-BE73-F73D82B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 claim until raw pilot evidence is supplied</a:t>
            </a:r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7355BB27-9820-4E59-8B89-E308B6A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7F13D687-BF77-4ECE-BCA8-3739B65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Closed-loop claims require controlled intervention, approval guardrails, and before/after raw logs.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60981E31-3BD0-4779-AD41-7AF65F0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7</a:t>
            </a:r>
          </a:p>
        </p:txBody>
      </p:sp>
    </p:spTree>
    <p:extLst>
      <p:ext uri="{BB962C8B-B14F-4D97-AF65-F5344CB8AC3E}">
        <p14:creationId xmlns:p14="http://schemas.microsoft.com/office/powerpoint/2010/main" val="1211459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AF956DF-136D-465A-AB5E-43153C5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08  |  5:10–6:00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1A8992-49CC-4374-9514-7D8B092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The upgrade path: benchmark → physical pilot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BB3958AF-BC0D-4377-B03C-6FFD68E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试点就绪性靠证据获得，而非包装宣称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BC35C8-AD4F-4517-9840-858EC9F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98040E2C-0A4B-42B0-AAF8-FDC3B6A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61B387-4DCC-4B8F-9DDC-EB2A950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REAL TEST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CCC530-49ED-4AE0-B2B5-FE91CB6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88 images · 102 labelled instances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F34DF9-5FE4-49D0-92F9-8C1B590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 64.5% · R 64.2% · mAP50 63.4%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FB0FC6D5-C4EA-49CF-BBF4-E48F641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6A6495-5447-4354-8BEB-5E7B0D5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MODEL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2B4009-BDBC-476D-BF0E-46A8CC37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YOLO26n detector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6C2821-A731-473E-81C7-487DE2B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406 train · 87 validation · fixed seed 71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C2E5100-780F-42B9-8B59-E58BFDB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FCD2385-0DDC-42DF-B4ED-E6D6612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NEXT 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D6286E-BDEE-4133-A037-23FB7D3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242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calibrated RGB + thermal + 3D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309A05-E6AD-472D-88DC-6D5F7EC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timestamp registration · raw-roll labels · held-out lots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BE927B2-EACD-4E51-947C-507A3E8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1967CB-D265-4A04-8093-D046C46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PILOT GATE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7191CD-8361-4FF3-9F66-AE74A6B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434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HIL reject trace + MSA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C076E3-43E0-4C2E-8D5D-51C1ED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815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timing · Gage R&amp;R · independent witness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F7FBBF-A3C3-444D-B3B7-009AE8D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Our ask: approve a supervised pilot to convert benchmark evidence into a trustworthy factory system.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A64CAB60-72DC-43B5-9AA8-CADF44D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14B1FBE6-7D53-46EF-A2CD-F8F1D2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Source: fixed CoatingVision test split; physical pilot gates remain explicit.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BE57CE11-5A30-4278-8E34-C4A469C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8</a:t>
            </a:r>
          </a:p>
        </p:txBody>
      </p:sp>
    </p:spTree>
    <p:extLst>
      <p:ext uri="{BB962C8B-B14F-4D97-AF65-F5344CB8AC3E}">
        <p14:creationId xmlns:p14="http://schemas.microsoft.com/office/powerpoint/2010/main" val="148068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2026-08-17T09:30:05.2520000Z</dcterms:created>
  <dcterms:modified xsi:type="dcterms:W3CDTF">2026-08-17T09:30:05.2530000Z</dcterms:modified>
</coreProperties>
</file>