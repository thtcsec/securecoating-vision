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ada27e4792415a" /><Relationship Type="http://schemas.openxmlformats.org/officeDocument/2006/relationships/extended-properties" Target="/docProps/app.xml" Id="R014baa4d92bc4d83" /><Relationship Type="http://schemas.openxmlformats.org/officeDocument/2006/relationships/officeDocument" Target="/ppt/presentation.xml" Id="R65cebf393f57422f" /></Relationships>
</file>

<file path=ppt/presentation.xml><?xml version="1.0" encoding="utf-8"?>
<p:presentation xmlns:p="http://schemas.openxmlformats.org/presentationml/2006/main">
  <p:sldMasterIdLst>
    <p:sldMasterId xmlns:r="http://schemas.openxmlformats.org/officeDocument/2006/relationships" id="2147483648" r:id="R55be3135f5e14927"/>
  </p:sldMasterIdLst>
  <p:notesMasterIdLst>
    <p:notesMasterId xmlns:r="http://schemas.openxmlformats.org/officeDocument/2006/relationships" r:id="Rc8a0ebd7ff53467d"/>
  </p:notesMasterIdLst>
  <p:sldIdLst>
    <p:sldId xmlns:r="http://schemas.openxmlformats.org/officeDocument/2006/relationships" id="256" r:id="Ra47fdd20760d469e"/>
    <p:sldId xmlns:r="http://schemas.openxmlformats.org/officeDocument/2006/relationships" id="257" r:id="Rc5772f0ecd3c4d34"/>
    <p:sldId xmlns:r="http://schemas.openxmlformats.org/officeDocument/2006/relationships" id="258" r:id="R640b15cca31844d4"/>
    <p:sldId xmlns:r="http://schemas.openxmlformats.org/officeDocument/2006/relationships" id="259" r:id="R611cd81559f24dc9"/>
    <p:sldId xmlns:r="http://schemas.openxmlformats.org/officeDocument/2006/relationships" id="260" r:id="Re5a90f855c5c4e11"/>
    <p:sldId xmlns:r="http://schemas.openxmlformats.org/officeDocument/2006/relationships" id="261" r:id="R3a3c6d23042c42c0"/>
    <p:sldId xmlns:r="http://schemas.openxmlformats.org/officeDocument/2006/relationships" id="262" r:id="Re9097b0be9a947a3"/>
    <p:sldId xmlns:r="http://schemas.openxmlformats.org/officeDocument/2006/relationships" id="263" r:id="R437e1f62d2a14a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179c5aa48c54110" /><Relationship Type="http://schemas.openxmlformats.org/officeDocument/2006/relationships/slideMaster" Target="/ppt/slideMasters/slideMaster1.xml" Id="R55be3135f5e14927" /><Relationship Type="http://schemas.openxmlformats.org/officeDocument/2006/relationships/notesMaster" Target="/ppt/notesMasters/notesMaster1.xml" Id="Rc8a0ebd7ff53467d" /><Relationship Type="http://schemas.openxmlformats.org/officeDocument/2006/relationships/presProps" Target="/ppt/presProps.xml" Id="Ra5dedbe2ef07472f" /><Relationship Type="http://schemas.openxmlformats.org/officeDocument/2006/relationships/viewProps" Target="/ppt/viewProps.xml" Id="R9021b6f201924870" /><Relationship Type="http://schemas.openxmlformats.org/officeDocument/2006/relationships/tableStyles" Target="/ppt/tableStyles.xml" Id="R5dc1ccded0b24c21" /><Relationship Type="http://schemas.openxmlformats.org/officeDocument/2006/relationships/slide" Target="/ppt/slides/slide1.xml" Id="Ra47fdd20760d469e" /><Relationship Type="http://schemas.openxmlformats.org/officeDocument/2006/relationships/slide" Target="/ppt/slides/slide2.xml" Id="Rc5772f0ecd3c4d34" /><Relationship Type="http://schemas.openxmlformats.org/officeDocument/2006/relationships/slide" Target="/ppt/slides/slide3.xml" Id="R640b15cca31844d4" /><Relationship Type="http://schemas.openxmlformats.org/officeDocument/2006/relationships/slide" Target="/ppt/slides/slide4.xml" Id="R611cd81559f24dc9" /><Relationship Type="http://schemas.openxmlformats.org/officeDocument/2006/relationships/slide" Target="/ppt/slides/slide5.xml" Id="Re5a90f855c5c4e11" /><Relationship Type="http://schemas.openxmlformats.org/officeDocument/2006/relationships/slide" Target="/ppt/slides/slide6.xml" Id="R3a3c6d23042c42c0" /><Relationship Type="http://schemas.openxmlformats.org/officeDocument/2006/relationships/slide" Target="/ppt/slides/slide7.xml" Id="Re9097b0be9a947a3" /><Relationship Type="http://schemas.openxmlformats.org/officeDocument/2006/relationships/slide" Target="/ppt/slides/slide8.xml" Id="R437e1f62d2a14a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2d422a35ca47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fa2c552ea2461c" /><Relationship Type="http://schemas.openxmlformats.org/officeDocument/2006/relationships/notesMaster" Target="/ppt/notesMasters/notesMaster1.xml" Id="R1f340fdeb5d44c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4768e99646428e" /><Relationship Type="http://schemas.openxmlformats.org/officeDocument/2006/relationships/notesMaster" Target="/ppt/notesMasters/notesMaster1.xml" Id="Rfa794d8116bd46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26d13e102a4764" /><Relationship Type="http://schemas.openxmlformats.org/officeDocument/2006/relationships/notesMaster" Target="/ppt/notesMasters/notesMaster1.xml" Id="R0a22421a48d64f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db1e0e6c364953" /><Relationship Type="http://schemas.openxmlformats.org/officeDocument/2006/relationships/notesMaster" Target="/ppt/notesMasters/notesMaster1.xml" Id="R4bd1898f2eb74c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853783a91d4cca" /><Relationship Type="http://schemas.openxmlformats.org/officeDocument/2006/relationships/notesMaster" Target="/ppt/notesMasters/notesMaster1.xml" Id="R704f4b876bc34f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414da0d6d94d68" /><Relationship Type="http://schemas.openxmlformats.org/officeDocument/2006/relationships/notesMaster" Target="/ppt/notesMasters/notesMaster1.xml" Id="R919766bf76da4e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e6b65d690c40b3" /><Relationship Type="http://schemas.openxmlformats.org/officeDocument/2006/relationships/notesMaster" Target="/ppt/notesMasters/notesMaster1.xml" Id="R8ea1c5cbbe7e43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8f4464288045da" /><Relationship Type="http://schemas.openxmlformats.org/officeDocument/2006/relationships/notesMaster" Target="/ppt/notesMasters/notesMaster1.xml" Id="R227e13c73a2343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distinguished judges. I am Trịnh Hoàng Tú from Team 71.</a:t>
            </a:r>
          </a:p>
          <a:p xmlns:a="http://schemas.openxmlformats.org/drawingml/2006/main">
            <a:endParaRPr/>
          </a:p>
          <a:p xmlns:a="http://schemas.openxmlformats.org/drawingml/2006/main">
            <a:r>
              <a:t>SecureCoating-Vision is designed as an inline decision system: it converts physical sensing into a timestamped, spatially traceable quality action. Our contribution is not another vision demo. It is the engineering bridge from photons on a moving electrode to a guarded factory decision.</a:t>
            </a:r>
          </a:p>
          <a:p xmlns:a="http://schemas.openxmlformats.org/drawingml/2006/main">
            <a:endParaRPr/>
          </a:p>
          <a:p xmlns:a="http://schemas.openxmlformats.org/drawingml/2006/main">
            <a:r>
              <a:t>In six minutes, I will show the physical budget, the multi-modal timing anchor, the measurement guard bands, and the deployment gate we use before claiming production readiness.</a:t>
            </a:r>
          </a:p>
          <a:p xmlns:a="http://schemas.openxmlformats.org/drawingml/2006/main">
            <a:endParaRPr/>
          </a:p>
          <a:p xmlns:a="http://schemas.openxmlformats.org/drawingml/2006/main">
            <a:r>
              <a:t>[Sources]</a:t>
            </a:r>
          </a:p>
          <a:p xmlns:a="http://schemas.openxmlformats.org/drawingml/2006/main">
            <a:r>
              <a:t>Project identity and team details supplied by Team 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frame is a real CoatingVision optical electrode image from the held-out test split (seed 71). It was passed through the real-data YOLO26n checkpoint and produced one surface-crack candidate at 0.51 confidence. The matching test-set evaluation contains 88 images and 102 instances: P 64.5%, R 64.2%, mAP50 63.4%, mAP50-95 35.4%.</a:t>
            </a:r>
          </a:p>
          <a:p xmlns:a="http://schemas.openxmlformats.org/drawingml/2006/main">
            <a:r>
              <a:t/>
            </a:r>
            <a:endParaRPr/>
          </a:p>
          <a:p xmlns:a="http://schemas.openxmlformats.org/drawingml/2006/main">
            <a:r>
              <a:t>No thermal or profiler data were supplied. The pipeline therefore records DEGRADED / RGB-only evidence mode and HOLD; it does not claim calibrated dimensional metrology, fusion performance, or a production release decision.</a:t>
            </a:r>
          </a:p>
          <a:p xmlns:a="http://schemas.openxmlformats.org/drawingml/2006/main">
            <a:r>
              <a:t/>
            </a:r>
            <a:endParaRPr/>
          </a:p>
          <a:p xmlns:a="http://schemas.openxmlformats.org/drawingml/2006/main">
            <a:r>
              <a:t>[Sources]</a:t>
            </a:r>
          </a:p>
          <a:p xmlns:a="http://schemas.openxmlformats.org/drawingml/2006/main">
            <a:r>
              <a:t>Input data: Sampath et al., CoatingVision dataset, Figshare DOI 10.6084/m9.figshare.29260121.v1, CC BY 4.0.</a:t>
            </a:r>
          </a:p>
          <a:p xmlns:a="http://schemas.openxmlformats.org/drawingml/2006/main">
            <a:r>
              <a:t>Training/evaluation: reports/coatingvision_real_test_metrics.json; model-output record: reports/coatingvision_real_demo/coatingvision_model_output.json.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system architecture. It starts with the encoder because coordinates matter before AI matters. Two 8K line-scan cameras cover the web; thermal and height channels add material physics; inference produces a mask; metrology turns the mask into a measured event; the interlock schedules an action; and the digital twin connects defects to upstream process hypotheses.</a:t>
            </a:r>
          </a:p>
          <a:p xmlns:a="http://schemas.openxmlformats.org/drawingml/2006/main">
            <a:endParaRPr/>
          </a:p>
          <a:p xmlns:a="http://schemas.openxmlformats.org/drawingml/2006/main">
            <a:r>
              <a:t>The key proof point is the optical budget. With magnification 0.17 and 42.24 micrometres per object-space pixel, 1.8 metres per second requires 42.6 kilohertz line rate. The exposure limit is set to stay under 0.4 pixels of blur. These are engineering calculations that must be bench-verified with the selected camera and illumination.</a:t>
            </a:r>
          </a:p>
          <a:p xmlns:a="http://schemas.openxmlformats.org/drawingml/2006/main">
            <a:endParaRPr/>
          </a:p>
          <a:p xmlns:a="http://schemas.openxmlformats.org/drawingml/2006/main">
            <a:r>
              <a:t>[Sources]</a:t>
            </a:r>
          </a:p>
          <a:p xmlns:a="http://schemas.openxmlformats.org/drawingml/2006/main">
            <a:r>
              <a:t>src/industrial/optical_budget.py.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Multi-modal fusion fails if it uses processing time as a coordinate. Our FrameContext records the roll ID, encoder count, material position and monotonic capture time when the photons arrive. Every later operation inherits that anchor.</a:t>
            </a:r>
          </a:p>
          <a:p xmlns:a="http://schemas.openxmlformats.org/drawingml/2006/main">
            <a:endParaRPr/>
          </a:p>
          <a:p xmlns:a="http://schemas.openxmlformats.org/drawingml/2006/main">
            <a:r>
              <a:t>We fuse RGB, traveling-wave thermal response, and 3D laser height into five channels: R, G, B, thermal phase or differential, and height. Importantly, the current repository validates this logic with simulated secondary streams. The production claim is therefore the architecture and anchoring method; hardware calibration and temporal phase validation are pilot gates.</a:t>
            </a:r>
          </a:p>
          <a:p xmlns:a="http://schemas.openxmlformats.org/drawingml/2006/main">
            <a:endParaRPr/>
          </a:p>
          <a:p xmlns:a="http://schemas.openxmlformats.org/drawingml/2006/main">
            <a:r>
              <a:t>[Sources]</a:t>
            </a:r>
          </a:p>
          <a:p xmlns:a="http://schemas.openxmlformats.org/drawingml/2006/main">
            <a:r>
              <a:t>src/industrial/web_synchronizer.py; src/inference/sensor_fusion.py (mock/simulated secondary feeds).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not stop at segmentation. We calculate geometry from minAreaRect, level the local 3D baseline, estimate topographic measures, and attach an expanded uncertainty using a GUM-style k equals two budget. The disposition uses a guard band: the decision limit is tightened by uncertainty before assigning Grade A, B, or C.</a:t>
            </a:r>
          </a:p>
          <a:p xmlns:a="http://schemas.openxmlformats.org/drawingml/2006/main">
            <a:endParaRPr/>
          </a:p>
          <a:p xmlns:a="http://schemas.openxmlformats.org/drawingml/2006/main">
            <a:r>
              <a:t>There is a standards correction that must remain in the final deck. T/CIAPS 0006 is a PCS–BMS CAN protocol, and QC/T 743-2006 is abolished. They cannot be presented as electrode inspection compliance. In production, each limit must be mapped to an approved plant SOP, customer specification, or applicable current standard.</a:t>
            </a:r>
          </a:p>
          <a:p xmlns:a="http://schemas.openxmlformats.org/drawingml/2006/main">
            <a:endParaRPr/>
          </a:p>
          <a:p xmlns:a="http://schemas.openxmlformats.org/drawingml/2006/main">
            <a:r>
              <a:t>[Sources]</a:t>
            </a:r>
          </a:p>
          <a:p xmlns:a="http://schemas.openxmlformats.org/drawingml/2006/main">
            <a:r>
              <a:t>src/inference/electrode_metrology.py; national standards platform (QC/T 743-2006 status); T/CIAPS 0006-2020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fast neural network is not a fast rejection system. We decompose the chain from tile formation to air-jet propagation. The expected P50 is 32.9 milliseconds, P99.9 is 35.9 milliseconds, and with a three-millisecond guard the design latency is 38.9 milliseconds. At 1.8 metres per second and 500 millimetres camera-to-ejector spacing, that gives a 7.1-times design buffer.</a:t>
            </a:r>
          </a:p>
          <a:p xmlns:a="http://schemas.openxmlformats.org/drawingml/2006/main">
            <a:endParaRPr/>
          </a:p>
          <a:p xmlns:a="http://schemas.openxmlformats.org/drawingml/2006/main">
            <a:r>
              <a:t>However, these percentiles are Monte Carlo modeled in the current code. Modbus TCP and OPC UA are telemetry/control interfaces, not proof of a deterministic safety layer. The pilot exit criterion is a hardware-in-the-loop trace with encoder, PLC scan, valve response and P99.9 measurement.</a:t>
            </a:r>
          </a:p>
          <a:p xmlns:a="http://schemas.openxmlformats.org/drawingml/2006/main">
            <a:endParaRPr/>
          </a:p>
          <a:p xmlns:a="http://schemas.openxmlformats.org/drawingml/2006/main">
            <a:r>
              <a:t>[Sources]</a:t>
            </a:r>
          </a:p>
          <a:p xmlns:a="http://schemas.openxmlformats.org/drawingml/2006/main">
            <a:r>
              <a:t>src/industrial/latency_budget.py (Monte Carlo status); calculated 500 / (1.8 × 0.0389).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digital twin is a map of the material, not a dashboard screenshot. Each event is located by machine direction, transverse position and slitting lane. The diagnostic engine then ranks process hypotheses.</a:t>
            </a:r>
          </a:p>
          <a:p xmlns:a="http://schemas.openxmlformats.org/drawingml/2006/main">
            <a:endParaRPr/>
          </a:p>
          <a:p xmlns:a="http://schemas.openxmlformats.org/drawingml/2006/main">
            <a:r>
              <a:t>We make an important causal distinction: a correlation is not a root cause. For example, reducing Dryer Zone 1 by four degrees is a controlled hypothesis, not an autonomous action. It must be constrained by the recipe, approved by process engineering, and verified on a holdout segment. The reported 84.2 percent scrap reduction must not be spoken as a result until raw pilot logs, baseline definition and independent roll evidence are available.</a:t>
            </a:r>
          </a:p>
          <a:p xmlns:a="http://schemas.openxmlformats.org/drawingml/2006/main">
            <a:endParaRPr/>
          </a:p>
          <a:p xmlns:a="http://schemas.openxmlformats.org/drawingml/2006/main">
            <a:r>
              <a:t>[Sources]</a:t>
            </a:r>
          </a:p>
          <a:p xmlns:a="http://schemas.openxmlformats.org/drawingml/2006/main">
            <a:r>
              <a:t>src/industrial/web_synchronizer.py; src/traceability/root_cause_engine.py; src/traceability/roll_certificate.py; reported figure appears only in generated dossier.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closing position is simple: SecureCoating-Vision has an engineering architecture that is worth piloting, not a production claim that should be taken on faith.</a:t>
            </a:r>
          </a:p>
          <a:p xmlns:a="http://schemas.openxmlformats.org/drawingml/2006/main">
            <a:endParaRPr/>
          </a:p>
          <a:p xmlns:a="http://schemas.openxmlformats.org/drawingml/2006/main">
            <a:r>
              <a:t>We have authored 42 unit-test methods and a coherent optical design budget. The next proof must be real sensor streams, HIL timing, measurement-system analysis, and cross-lot probability of detection. We will not claim six thousand metres, 0.02 parts per million escape, or 84.2 percent scrap reduction without raw logs and independent evidence.</a:t>
            </a:r>
          </a:p>
          <a:p xmlns:a="http://schemas.openxmlformats.org/drawingml/2006/main">
            <a:endParaRPr/>
          </a:p>
          <a:p xmlns:a="http://schemas.openxmlformats.org/drawingml/2006/main">
            <a:r>
              <a:t>That discipline is exactly why we ask for a supervised pilot. It is the fastest route from credible DeepTech prototype to deployable quality system.</a:t>
            </a:r>
          </a:p>
          <a:p xmlns:a="http://schemas.openxmlformats.org/drawingml/2006/main">
            <a:endParaRPr/>
          </a:p>
          <a:p xmlns:a="http://schemas.openxmlformats.org/drawingml/2006/main">
            <a:r>
              <a:t>[Sources]</a:t>
            </a:r>
          </a:p>
          <a:p xmlns:a="http://schemas.openxmlformats.org/drawingml/2006/main">
            <a:r>
              <a:t>tests/ (42 authored test methods); runtime test attempt recorded 2026-08-16; repository simulation markers and generated dossier.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af5d86818f4c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c7d1f0c9284e41" /><Relationship Type="http://schemas.openxmlformats.org/officeDocument/2006/relationships/slideLayout" Target="/ppt/slideLayouts/slideLayout1.xml" Id="Rdadfdc12a9ac48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dfdc12a9ac48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75359353b54cdc" /><Relationship Type="http://schemas.openxmlformats.org/officeDocument/2006/relationships/image" Target="/ppt/media/image.png" Id="Rb1ba5200a73042cf" /><Relationship Type="http://schemas.openxmlformats.org/officeDocument/2006/relationships/notesSlide" Target="/ppt/notesSlides/notesSlide1.xml" Id="R2184ea1936fa41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47638348c64730" /><Relationship Type="http://schemas.openxmlformats.org/officeDocument/2006/relationships/image" Target="/ppt/media/image2.png" Id="Rfe563e1c2b4b4f5e" /><Relationship Type="http://schemas.openxmlformats.org/officeDocument/2006/relationships/notesSlide" Target="/ppt/notesSlides/notesSlide2.xml" Id="R104015f74dff47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a2ddccbed44d16" /><Relationship Type="http://schemas.openxmlformats.org/officeDocument/2006/relationships/notesSlide" Target="/ppt/notesSlides/notesSlide3.xml" Id="R29011d69d8fa4f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4b2886239b434f" /><Relationship Type="http://schemas.openxmlformats.org/officeDocument/2006/relationships/notesSlide" Target="/ppt/notesSlides/notesSlide4.xml" Id="R3e28bb7bc4c643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0130cb038241ac" /><Relationship Type="http://schemas.openxmlformats.org/officeDocument/2006/relationships/notesSlide" Target="/ppt/notesSlides/notesSlide5.xml" Id="Rd3630998ae6045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a236d820f54dcd" /><Relationship Type="http://schemas.openxmlformats.org/officeDocument/2006/relationships/notesSlide" Target="/ppt/notesSlides/notesSlide6.xml" Id="Rea2fd3c016854f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ce2e11ef04441e" /><Relationship Type="http://schemas.openxmlformats.org/officeDocument/2006/relationships/notesSlide" Target="/ppt/notesSlides/notesSlide7.xml" Id="R9e59d8f4dd274f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e22c4d7fc745b7" /><Relationship Type="http://schemas.openxmlformats.org/officeDocument/2006/relationships/notesSlide" Target="/ppt/notesSlides/notesSlide8.xml" Id="Ra38c6ecbd82e421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
            <a:extLst xmlns:a="http://schemas.openxmlformats.org/drawingml/2006/main">
              <a:ext uri="{FF2B5EF4-FFF2-40B4-BE49-F238E27FC236}">
                <a16:creationId xmlns:a16="http://schemas.microsoft.com/office/drawing/2014/main" id="{6254DD49-50FC-44AF-9406-302A9035BB58}"/>
              </a:ext>
            </a:extLst>
          </p:cNvPr>
          <p:cNvSpPr>
            <a:spLocks xmlns:a="http://schemas.openxmlformats.org/drawingml/2006/main" noGrp="1"/>
          </p:cNvSpPr>
          <p:nvPr/>
        </p:nvSpPr>
        <p:spPr>
          <a:xfrm xmlns:a="http://schemas.openxmlformats.org/drawingml/2006/main">
            <a:off x="8421624" y="457199"/>
            <a:ext cx="3346704" cy="257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F6670"/>
                </a:solidFill>
              </a:defRPr>
            </a:pPr>
            <a:r>
              <a:rPr sz="975" b="1">
                <a:solidFill>
                  <a:srgbClr val="5F6670"/>
                </a:solidFill>
              </a:rPr>
              <a:t>GLOBAL AI + MATERIALS INNOVATION COMPETITION 2026</a:t>
            </a:r>
          </a:p>
        </p:txBody>
      </p:sp>
      <p:sp>
        <p:nvSpPr>
          <p:cNvPr id="2" name="text">
            <a:extLst xmlns:a="http://schemas.openxmlformats.org/drawingml/2006/main">
              <a:ext uri="{FF2B5EF4-FFF2-40B4-BE49-F238E27FC236}">
                <a16:creationId xmlns:a16="http://schemas.microsoft.com/office/drawing/2014/main" id="{A6E13659-F963-465E-B049-C0AEF1B09A73}"/>
              </a:ext>
            </a:extLst>
          </p:cNvPr>
          <p:cNvSpPr>
            <a:spLocks xmlns:a="http://schemas.openxmlformats.org/drawingml/2006/main" noGrp="1"/>
          </p:cNvSpPr>
          <p:nvPr/>
        </p:nvSpPr>
        <p:spPr>
          <a:xfrm xmlns:a="http://schemas.openxmlformats.org/drawingml/2006/main">
            <a:off x="685800" y="1390650"/>
            <a:ext cx="8191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650" b="1">
                <a:solidFill>
                  <a:srgbClr val="111318"/>
                </a:solidFill>
              </a:defRPr>
            </a:pPr>
            <a:r>
              <a:rPr sz="4650" b="1">
                <a:solidFill>
                  <a:srgbClr val="111318"/>
                </a:solidFill>
              </a:rPr>
              <a:t>SecureCoating-Vision</a:t>
            </a:r>
          </a:p>
        </p:txBody>
      </p:sp>
      <p:sp>
        <p:nvSpPr>
          <p:cNvPr id="3" name="text">
            <a:extLst xmlns:a="http://schemas.openxmlformats.org/drawingml/2006/main">
              <a:ext uri="{FF2B5EF4-FFF2-40B4-BE49-F238E27FC236}">
                <a16:creationId xmlns:a16="http://schemas.microsoft.com/office/drawing/2014/main" id="{9511CE02-2324-4876-8891-B630A8FC821F}"/>
              </a:ext>
            </a:extLst>
          </p:cNvPr>
          <p:cNvSpPr>
            <a:spLocks xmlns:a="http://schemas.openxmlformats.org/drawingml/2006/main" noGrp="1"/>
          </p:cNvSpPr>
          <p:nvPr/>
        </p:nvSpPr>
        <p:spPr>
          <a:xfrm xmlns:a="http://schemas.openxmlformats.org/drawingml/2006/main">
            <a:off x="685800" y="2305050"/>
            <a:ext cx="6858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a:solidFill>
                  <a:srgbClr val="111318"/>
                </a:solidFill>
              </a:defRPr>
            </a:pPr>
            <a:r>
              <a:rPr sz="1875" b="0">
                <a:solidFill>
                  <a:srgbClr val="111318"/>
                </a:solidFill>
              </a:rPr>
              <a:t>Multi-Sensor AI for Inline Battery-Electrode Inspection</a:t>
            </a:r>
          </a:p>
          <a:p xmlns:a="http://schemas.openxmlformats.org/drawingml/2006/main">
            <a:pPr algn="l">
              <a:buNone/>
              <a:defRPr sz="1875" b="0">
                <a:solidFill>
                  <a:srgbClr val="111318"/>
                </a:solidFill>
              </a:defRPr>
            </a:pPr>
            <a:r>
              <a:rPr sz="1875" b="0">
                <a:solidFill>
                  <a:srgbClr val="111318"/>
                </a:solidFill>
              </a:rPr>
              <a:t>多传感器 AI 在线电极检测与闭环诊断平台</a:t>
            </a:r>
          </a:p>
        </p:txBody>
      </p:sp>
      <p:sp>
        <p:nvSpPr>
          <p:cNvPr id="4" name="rect">
            <a:extLst xmlns:a="http://schemas.openxmlformats.org/drawingml/2006/main">
              <a:ext uri="{FF2B5EF4-FFF2-40B4-BE49-F238E27FC236}">
                <a16:creationId xmlns:a16="http://schemas.microsoft.com/office/drawing/2014/main" id="{5C1C884F-7231-446A-A699-874AE7EAF044}"/>
              </a:ext>
            </a:extLst>
          </p:cNvPr>
          <p:cNvSpPr>
            <a:spLocks xmlns:a="http://schemas.openxmlformats.org/drawingml/2006/main" noGrp="1"/>
          </p:cNvSpPr>
          <p:nvPr/>
        </p:nvSpPr>
        <p:spPr>
          <a:xfrm xmlns:a="http://schemas.openxmlformats.org/drawingml/2006/main">
            <a:off x="685800" y="3371850"/>
            <a:ext cx="7239000" cy="1905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a:extLst xmlns:a="http://schemas.openxmlformats.org/drawingml/2006/main">
              <a:ext uri="{FF2B5EF4-FFF2-40B4-BE49-F238E27FC236}">
                <a16:creationId xmlns:a16="http://schemas.microsoft.com/office/drawing/2014/main" id="{0A4332EB-2612-4FAA-98C7-3E088002A590}"/>
              </a:ext>
            </a:extLst>
          </p:cNvPr>
          <p:cNvSpPr>
            <a:spLocks xmlns:a="http://schemas.openxmlformats.org/drawingml/2006/main" noGrp="1"/>
          </p:cNvSpPr>
          <p:nvPr/>
        </p:nvSpPr>
        <p:spPr>
          <a:xfrm xmlns:a="http://schemas.openxmlformats.org/drawingml/2006/main">
            <a:off x="685800" y="365760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Team 71  •  Trịnh Hoàng Tú, H</a:t>
            </a:r>
            <a:r>
              <a:rPr sz="1350" b="0">
                <a:solidFill>
                  <a:srgbClr val="5F6670"/>
                </a:solidFill>
              </a:rPr>
              <a:t>o Chi Minh City Foreign Language and Information Technology (HUFLIT)</a:t>
            </a:r>
            <a:endParaRPr sz="1350" b="0">
              <a:solidFill>
                <a:srgbClr val="5F6670"/>
              </a:solidFill>
            </a:endParaRPr>
          </a:p>
          <a:p xmlns:a="http://schemas.openxmlformats.org/drawingml/2006/main">
            <a:pPr algn="l">
              <a:buNone/>
              <a:defRPr sz="1350" b="0">
                <a:solidFill>
                  <a:srgbClr val="5F6670"/>
                </a:solidFill>
              </a:defRPr>
            </a:pPr>
            <a:r>
              <a:rPr sz="1350" b="0">
                <a:solidFill>
                  <a:srgbClr val="5F6670"/>
                </a:solidFill>
              </a:rPr>
              <a:t>Academic Advisor: Prof. Kris Singh — CEO SRII, Visiting Prof. Tsinghua University</a:t>
            </a:r>
          </a:p>
        </p:txBody>
      </p:sp>
      <p:sp>
        <p:nvSpPr>
          <p:cNvPr id="6" name="text">
            <a:extLst xmlns:a="http://schemas.openxmlformats.org/drawingml/2006/main">
              <a:ext uri="{FF2B5EF4-FFF2-40B4-BE49-F238E27FC236}">
                <a16:creationId xmlns:a16="http://schemas.microsoft.com/office/drawing/2014/main" id="{EA71AB4E-3E2C-44E1-8F89-B52DDE359166}"/>
              </a:ext>
            </a:extLst>
          </p:cNvPr>
          <p:cNvSpPr>
            <a:spLocks xmlns:a="http://schemas.openxmlformats.org/drawingml/2006/main" noGrp="1"/>
          </p:cNvSpPr>
          <p:nvPr/>
        </p:nvSpPr>
        <p:spPr>
          <a:xfrm xmlns:a="http://schemas.openxmlformats.org/drawingml/2006/main">
            <a:off x="8591550" y="1162050"/>
            <a:ext cx="2762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TRACK 4</a:t>
            </a:r>
          </a:p>
          <a:p xmlns:a="http://schemas.openxmlformats.org/drawingml/2006/main">
            <a:pPr algn="l">
              <a:buNone/>
              <a:defRPr sz="1200" b="1">
                <a:solidFill>
                  <a:srgbClr val="111318"/>
                </a:solidFill>
              </a:defRPr>
            </a:pPr>
            <a:r>
              <a:rPr sz="1200" b="1">
                <a:solidFill>
                  <a:srgbClr val="111318"/>
                </a:solidFill>
              </a:rPr>
              <a:t>AI + MATERIALS TESTING</a:t>
            </a:r>
          </a:p>
          <a:p xmlns:a="http://schemas.openxmlformats.org/drawingml/2006/main">
            <a:pPr algn="l">
              <a:buNone/>
              <a:defRPr sz="1200" b="1">
                <a:solidFill>
                  <a:srgbClr val="111318"/>
                </a:solidFill>
              </a:defRPr>
            </a:pPr>
            <a:r>
              <a:rPr sz="1200" b="1">
                <a:solidFill>
                  <a:srgbClr val="111318"/>
                </a:solidFill>
              </a:rPr>
              <a:t>AND CHARACTERIZATION</a:t>
            </a:r>
          </a:p>
          <a:p xmlns:a="http://schemas.openxmlformats.org/drawingml/2006/main">
            <a:pPr algn="l">
              <a:buNone/>
              <a:defRPr sz="1200" b="1">
                <a:solidFill>
                  <a:srgbClr val="111318"/>
                </a:solidFill>
              </a:defRPr>
            </a:pPr>
            <a:r>
              <a:rPr sz="1200" b="1">
                <a:solidFill>
                  <a:srgbClr val="111318"/>
                </a:solidFill>
              </a:rPr>
              <a:t>人工智能 + 材料检测与表征</a:t>
            </a:r>
          </a:p>
        </p:txBody>
      </p:sp>
      <p:pic>
        <p:nvPicPr>
          <p:cNvPr id="20" name="Picture 17"/>
          <p:cNvPicPr>
            <a:picLocks xmlns:a="http://schemas.openxmlformats.org/drawingml/2006/main" noChangeAspect="1"/>
          </p:cNvPicPr>
          <p:nvPr/>
        </p:nvPicPr>
        <p:blipFill>
          <a:blip xmlns:r="http://schemas.openxmlformats.org/officeDocument/2006/relationships" xmlns:a="http://schemas.openxmlformats.org/drawingml/2006/main" r:embed="Rb1ba5200a73042cf"/>
          <a:stretch xmlns:a="http://schemas.openxmlformats.org/drawingml/2006/main"/>
        </p:blipFill>
        <p:spPr>
          <a:xfrm xmlns:a="http://schemas.openxmlformats.org/drawingml/2006/main">
            <a:off x="685800" y="277519"/>
            <a:ext cx="3493394" cy="76070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FF853C3-8531-4D1E-80A2-14C4F6090412}"/>
              </a:ext>
            </a:extLst>
          </p:cNvPr>
          <p:cNvSpPr>
            <a:spLocks xmlns:a="http://schemas.openxmlformats.org/drawingml/2006/main" noGrp="1"/>
          </p:cNvSpPr>
          <p:nvPr/>
        </p:nvSpPr>
        <p:spPr>
          <a:xfrm xmlns:a="http://schemas.openxmlformats.org/drawingml/2006/main">
            <a:off x="685800" y="56197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11318"/>
                </a:solidFill>
              </a:defRPr>
            </a:pPr>
            <a:r>
              <a:rPr sz="1650" b="1">
                <a:solidFill>
                  <a:srgbClr val="111318"/>
                </a:solidFill>
              </a:rPr>
              <a:t>Decision objective: prove a defensible inline inspection architecture</a:t>
            </a:r>
          </a:p>
        </p:txBody>
      </p:sp>
      <p:sp>
        <p:nvSpPr>
          <p:cNvPr id="9" name="Straight Connector 8">
            <a:extLst xmlns:a="http://schemas.openxmlformats.org/drawingml/2006/main">
              <a:ext uri="{FF2B5EF4-FFF2-40B4-BE49-F238E27FC236}">
                <a16:creationId xmlns:a16="http://schemas.microsoft.com/office/drawing/2014/main" id="{E518B324-811C-45D8-95A7-64389F04179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ource">
            <a:extLst xmlns:a="http://schemas.openxmlformats.org/drawingml/2006/main">
              <a:ext uri="{FF2B5EF4-FFF2-40B4-BE49-F238E27FC236}">
                <a16:creationId xmlns:a16="http://schemas.microsoft.com/office/drawing/2014/main" id="{42F41816-A4E0-4F2A-9573-C6C5AEB2D08E}"/>
              </a:ext>
            </a:extLst>
          </p:cNvPr>
          <p:cNvSpPr>
            <a:spLocks xmlns:a="http://schemas.openxmlformats.org/drawingml/2006/main" noGrp="1"/>
          </p:cNvSpPr>
          <p:nvPr/>
        </p:nvSpPr>
        <p:spPr>
          <a:xfrm xmlns:a="http://schemas.openxmlformats.org/drawingml/2006/main">
            <a:off x="685800" y="64960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5F6670"/>
                </a:solidFill>
              </a:defRPr>
            </a:pPr>
            <a:r>
              <a:rPr sz="825" b="0">
                <a:solidFill>
                  <a:srgbClr val="5F6670"/>
                </a:solidFill>
              </a:rPr>
              <a:t>0:00–0:35  |  Opening thesis</a:t>
            </a:r>
          </a:p>
        </p:txBody>
      </p:sp>
      <p:sp>
        <p:nvSpPr>
          <p:cNvPr id="11" name="page">
            <a:extLst xmlns:a="http://schemas.openxmlformats.org/drawingml/2006/main">
              <a:ext uri="{FF2B5EF4-FFF2-40B4-BE49-F238E27FC236}">
                <a16:creationId xmlns:a16="http://schemas.microsoft.com/office/drawing/2014/main" id="{3B8FCD50-6214-4BF8-A497-2383C067320C}"/>
              </a:ext>
            </a:extLst>
          </p:cNvPr>
          <p:cNvSpPr>
            <a:spLocks xmlns:a="http://schemas.openxmlformats.org/drawingml/2006/main" noGrp="1"/>
          </p:cNvSpPr>
          <p:nvPr/>
        </p:nvSpPr>
        <p:spPr>
          <a:xfrm xmlns:a="http://schemas.openxmlformats.org/drawingml/2006/main">
            <a:off x="10382250" y="6496050"/>
            <a:ext cx="11239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5F6670"/>
                </a:solidFill>
              </a:defRPr>
            </a:pPr>
            <a:r>
              <a:rPr sz="825" b="1">
                <a:solidFill>
                  <a:srgbClr val="5F6670"/>
                </a:solidFill>
              </a:rPr>
              <a:t>TEAM 71  /  1</a:t>
            </a:r>
          </a:p>
        </p:txBody>
      </p:sp>
    </p:spTree>
    <p:extLst>
      <p:ext uri="{BB962C8B-B14F-4D97-AF65-F5344CB8AC3E}">
        <p14:creationId xmlns:p14="http://schemas.microsoft.com/office/powerpoint/2010/main" val="11429907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eyebrow">
            <a:extLst xmlns:a="http://schemas.openxmlformats.org/drawingml/2006/main">
              <a:ext uri="{FF2B5EF4-FFF2-40B4-BE49-F238E27FC236}">
                <a16:creationId xmlns:a16="http://schemas.microsoft.com/office/drawing/2014/main" id="{00391283-0BA5-401D-828E-2166DF116755}"/>
              </a:ext>
            </a:extLst>
          </p:cNvPr>
          <p:cNvSpPr>
            <a:spLocks xmlns:a="http://schemas.openxmlformats.org/drawingml/2006/main" noGrp="1"/>
          </p:cNvSpPr>
          <p:nvPr/>
        </p:nvSpPr>
        <p:spPr>
          <a:xfrm xmlns:a="http://schemas.openxmlformats.org/drawingml/2006/main">
            <a:off x="685800" y="3619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F6670"/>
                </a:solidFill>
              </a:defRPr>
            </a:pPr>
            <a:r>
              <a:rPr sz="975" b="1">
                <a:solidFill>
                  <a:srgbClr val="5F6670"/>
                </a:solidFill>
              </a:rPr>
              <a:t>02  |  0:35–1:15</a:t>
            </a:r>
          </a:p>
        </p:txBody>
      </p:sp>
      <p:sp>
        <p:nvSpPr>
          <p:cNvPr id="2" name="title">
            <a:extLst xmlns:a="http://schemas.openxmlformats.org/drawingml/2006/main">
              <a:ext uri="{FF2B5EF4-FFF2-40B4-BE49-F238E27FC236}">
                <a16:creationId xmlns:a16="http://schemas.microsoft.com/office/drawing/2014/main" id="{7F20AE21-3392-40C2-A174-EA1AD751F5E9}"/>
              </a:ext>
            </a:extLst>
          </p:cNvPr>
          <p:cNvSpPr>
            <a:spLocks xmlns:a="http://schemas.openxmlformats.org/drawingml/2006/main" noGrp="1"/>
          </p:cNvSpPr>
          <p:nvPr/>
        </p:nvSpPr>
        <p:spPr>
          <a:xfrm xmlns:a="http://schemas.openxmlformats.org/drawingml/2006/main">
            <a:off x="685800" y="6953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11318"/>
                </a:solidFill>
              </a:defRPr>
            </a:pPr>
            <a:r>
              <a:rPr sz="2775" b="1">
                <a:solidFill>
                  <a:srgbClr val="111318"/>
                </a:solidFill>
              </a:rPr>
              <a:t>A real electrode image, inspected by the deployed model</a:t>
            </a:r>
          </a:p>
        </p:txBody>
      </p:sp>
      <p:sp>
        <p:nvSpPr>
          <p:cNvPr id="3" name="cn-title">
            <a:extLst xmlns:a="http://schemas.openxmlformats.org/drawingml/2006/main">
              <a:ext uri="{FF2B5EF4-FFF2-40B4-BE49-F238E27FC236}">
                <a16:creationId xmlns:a16="http://schemas.microsoft.com/office/drawing/2014/main" id="{AB18C922-9C0E-4B82-AD7B-3347C72CBA32}"/>
              </a:ext>
            </a:extLst>
          </p:cNvPr>
          <p:cNvSpPr>
            <a:spLocks xmlns:a="http://schemas.openxmlformats.org/drawingml/2006/main" noGrp="1"/>
          </p:cNvSpPr>
          <p:nvPr/>
        </p:nvSpPr>
        <p:spPr>
          <a:xfrm xmlns:a="http://schemas.openxmlformats.org/drawingml/2006/main">
            <a:off x="685800" y="1200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F6670"/>
                </a:solidFill>
              </a:defRPr>
            </a:pPr>
            <a:r>
              <a:rPr sz="1500" b="0">
                <a:solidFill>
                  <a:srgbClr val="5F6670"/>
                </a:solidFill>
              </a:rPr>
              <a:t>微小缺陷，巨大后果</a:t>
            </a:r>
          </a:p>
        </p:txBody>
      </p:sp>
      <p:sp>
        <p:nvSpPr>
          <p:cNvPr id="4" name="Straight Connector 3">
            <a:extLst xmlns:a="http://schemas.openxmlformats.org/drawingml/2006/main">
              <a:ext uri="{FF2B5EF4-FFF2-40B4-BE49-F238E27FC236}">
                <a16:creationId xmlns:a16="http://schemas.microsoft.com/office/drawing/2014/main" id="{687E6D3D-991E-40D3-AEBC-5B14C6A9BEF3}"/>
              </a:ext>
            </a:extLst>
          </p:cNvPr>
          <p:cNvSpPr>
            <a:spLocks xmlns:a="http://schemas.openxmlformats.org/drawingml/2006/main" noGrp="1"/>
          </p:cNvSpPr>
          <p:nvPr/>
        </p:nvSpPr>
        <p:spPr>
          <a:xfrm xmlns:a="http://schemas.openxmlformats.org/drawingml/2006/main">
            <a:off x="685800" y="156210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pic>
        <p:nvPicPr>
          <p:cNvPr id="30" name="Picture 27"/>
          <p:cNvPicPr>
            <a:picLocks xmlns:a="http://schemas.openxmlformats.org/drawingml/2006/main" noChangeAspect="1"/>
          </p:cNvPicPr>
          <p:nvPr/>
        </p:nvPicPr>
        <p:blipFill>
          <a:blip xmlns:r="http://schemas.openxmlformats.org/officeDocument/2006/relationships" xmlns:a="http://schemas.openxmlformats.org/drawingml/2006/main" r:embed="Rfe563e1c2b4b4f5e"/>
          <a:srcRect xmlns:a="http://schemas.openxmlformats.org/drawingml/2006/main" l="0" t="3333" r="0" b="3333"/>
          <a:stretch xmlns:a="http://schemas.openxmlformats.org/drawingml/2006/main">
            <a:fillRect l="0" t="0" r="0" b="0"/>
          </a:stretch>
        </p:blipFill>
        <p:spPr>
          <a:xfrm xmlns:a="http://schemas.openxmlformats.org/drawingml/2006/main">
            <a:off x="685800" y="1943100"/>
            <a:ext cx="4762500" cy="333375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17F415B3-AC82-4DC5-B817-3A1CEC4739E1}"/>
              </a:ext>
            </a:extLst>
          </p:cNvPr>
          <p:cNvSpPr>
            <a:spLocks xmlns:a="http://schemas.openxmlformats.org/drawingml/2006/main" noGrp="1"/>
          </p:cNvSpPr>
          <p:nvPr/>
        </p:nvSpPr>
        <p:spPr>
          <a:xfrm xmlns:a="http://schemas.openxmlformats.org/drawingml/2006/main">
            <a:off x="800100" y="4914900"/>
            <a:ext cx="271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FFFFFF"/>
                </a:solidFill>
              </a:defRPr>
            </a:pPr>
            <a:r>
              <a:rPr sz="825" b="1">
                <a:solidFill>
                  <a:srgbClr val="FFFFFF"/>
                </a:solidFill>
              </a:rPr>
              <a:t>REAL COATINGVISION DATA — YOLO OUTPUT</a:t>
            </a:r>
          </a:p>
        </p:txBody>
      </p:sp>
      <p:sp>
        <p:nvSpPr>
          <p:cNvPr id="7" name="metric">
            <a:extLst xmlns:a="http://schemas.openxmlformats.org/drawingml/2006/main">
              <a:ext uri="{FF2B5EF4-FFF2-40B4-BE49-F238E27FC236}">
                <a16:creationId xmlns:a16="http://schemas.microsoft.com/office/drawing/2014/main" id="{AD469830-E901-494E-8907-A9F9EF6FEA51}"/>
              </a:ext>
            </a:extLst>
          </p:cNvPr>
          <p:cNvSpPr>
            <a:spLocks xmlns:a="http://schemas.openxmlformats.org/drawingml/2006/main" noGrp="1"/>
          </p:cNvSpPr>
          <p:nvPr/>
        </p:nvSpPr>
        <p:spPr>
          <a:xfrm xmlns:a="http://schemas.openxmlformats.org/drawingml/2006/main">
            <a:off x="5962650" y="2009775"/>
            <a:ext cx="224790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metric-accent">
            <a:extLst xmlns:a="http://schemas.openxmlformats.org/drawingml/2006/main">
              <a:ext uri="{FF2B5EF4-FFF2-40B4-BE49-F238E27FC236}">
                <a16:creationId xmlns:a16="http://schemas.microsoft.com/office/drawing/2014/main" id="{0C3FD5A3-D345-45EB-8D7E-0D7AF7708838}"/>
              </a:ext>
            </a:extLst>
          </p:cNvPr>
          <p:cNvSpPr>
            <a:spLocks xmlns:a="http://schemas.openxmlformats.org/drawingml/2006/main" noGrp="1"/>
          </p:cNvSpPr>
          <p:nvPr/>
        </p:nvSpPr>
        <p:spPr>
          <a:xfrm xmlns:a="http://schemas.openxmlformats.org/drawingml/2006/main">
            <a:off x="5962650" y="2009775"/>
            <a:ext cx="76200" cy="1190625"/>
          </a:xfrm>
          <a:prstGeom xmlns:a="http://schemas.openxmlformats.org/drawingml/2006/main" prst="rect">
            <a:avLst/>
          </a:prstGeom>
          <a:solidFill xmlns:a="http://schemas.openxmlformats.org/drawingml/2006/main">
            <a:srgbClr val="C43D3D"/>
          </a:solidFill>
          <a:ln xmlns:a="http://schemas.openxmlformats.org/drawingml/2006/main" w="9525">
            <a:solidFill>
              <a:srgbClr val="C43D3D"/>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metric-label">
            <a:extLst xmlns:a="http://schemas.openxmlformats.org/drawingml/2006/main">
              <a:ext uri="{FF2B5EF4-FFF2-40B4-BE49-F238E27FC236}">
                <a16:creationId xmlns:a16="http://schemas.microsoft.com/office/drawing/2014/main" id="{6038149D-23F8-4B1E-A4C3-6033E352EED8}"/>
              </a:ext>
            </a:extLst>
          </p:cNvPr>
          <p:cNvSpPr>
            <a:spLocks xmlns:a="http://schemas.openxmlformats.org/drawingml/2006/main" noGrp="1"/>
          </p:cNvSpPr>
          <p:nvPr/>
        </p:nvSpPr>
        <p:spPr>
          <a:xfrm xmlns:a="http://schemas.openxmlformats.org/drawingml/2006/main">
            <a:off x="6172200" y="2181225"/>
            <a:ext cx="1924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SEPARATOR REFERENCE</a:t>
            </a:r>
          </a:p>
        </p:txBody>
      </p:sp>
      <p:sp>
        <p:nvSpPr>
          <p:cNvPr id="10" name="metric-value">
            <a:extLst xmlns:a="http://schemas.openxmlformats.org/drawingml/2006/main">
              <a:ext uri="{FF2B5EF4-FFF2-40B4-BE49-F238E27FC236}">
                <a16:creationId xmlns:a16="http://schemas.microsoft.com/office/drawing/2014/main" id="{697A202F-E233-4F06-B3B7-3C397106AA9F}"/>
              </a:ext>
            </a:extLst>
          </p:cNvPr>
          <p:cNvSpPr>
            <a:spLocks xmlns:a="http://schemas.openxmlformats.org/drawingml/2006/main" noGrp="1"/>
          </p:cNvSpPr>
          <p:nvPr/>
        </p:nvSpPr>
        <p:spPr>
          <a:xfrm xmlns:a="http://schemas.openxmlformats.org/drawingml/2006/main">
            <a:off x="6172200" y="241935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14 µm</a:t>
            </a:r>
          </a:p>
        </p:txBody>
      </p:sp>
      <p:sp>
        <p:nvSpPr>
          <p:cNvPr id="11" name="metric-sub">
            <a:extLst xmlns:a="http://schemas.openxmlformats.org/drawingml/2006/main">
              <a:ext uri="{FF2B5EF4-FFF2-40B4-BE49-F238E27FC236}">
                <a16:creationId xmlns:a16="http://schemas.microsoft.com/office/drawing/2014/main" id="{5C8CF618-58F6-4F4F-B2F0-EF45A2174244}"/>
              </a:ext>
            </a:extLst>
          </p:cNvPr>
          <p:cNvSpPr>
            <a:spLocks xmlns:a="http://schemas.openxmlformats.org/drawingml/2006/main" noGrp="1"/>
          </p:cNvSpPr>
          <p:nvPr/>
        </p:nvSpPr>
        <p:spPr>
          <a:xfrm xmlns:a="http://schemas.openxmlformats.org/drawingml/2006/main">
            <a:off x="6172200" y="2876550"/>
            <a:ext cx="1924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Risk boundary for stack design</a:t>
            </a:r>
          </a:p>
        </p:txBody>
      </p:sp>
      <p:sp>
        <p:nvSpPr>
          <p:cNvPr id="12" name="metric">
            <a:extLst xmlns:a="http://schemas.openxmlformats.org/drawingml/2006/main">
              <a:ext uri="{FF2B5EF4-FFF2-40B4-BE49-F238E27FC236}">
                <a16:creationId xmlns:a16="http://schemas.microsoft.com/office/drawing/2014/main" id="{5D8FE487-AF9C-4F57-8D83-0A3BE79259B6}"/>
              </a:ext>
            </a:extLst>
          </p:cNvPr>
          <p:cNvSpPr>
            <a:spLocks xmlns:a="http://schemas.openxmlformats.org/drawingml/2006/main" noGrp="1"/>
          </p:cNvSpPr>
          <p:nvPr/>
        </p:nvSpPr>
        <p:spPr>
          <a:xfrm xmlns:a="http://schemas.openxmlformats.org/drawingml/2006/main">
            <a:off x="8401050" y="2009775"/>
            <a:ext cx="224790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metric-accent">
            <a:extLst xmlns:a="http://schemas.openxmlformats.org/drawingml/2006/main">
              <a:ext uri="{FF2B5EF4-FFF2-40B4-BE49-F238E27FC236}">
                <a16:creationId xmlns:a16="http://schemas.microsoft.com/office/drawing/2014/main" id="{160B82A3-28B7-4F96-9039-34E318D93101}"/>
              </a:ext>
            </a:extLst>
          </p:cNvPr>
          <p:cNvSpPr>
            <a:spLocks xmlns:a="http://schemas.openxmlformats.org/drawingml/2006/main" noGrp="1"/>
          </p:cNvSpPr>
          <p:nvPr/>
        </p:nvSpPr>
        <p:spPr>
          <a:xfrm xmlns:a="http://schemas.openxmlformats.org/drawingml/2006/main">
            <a:off x="8401050" y="2009775"/>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metric-label">
            <a:extLst xmlns:a="http://schemas.openxmlformats.org/drawingml/2006/main">
              <a:ext uri="{FF2B5EF4-FFF2-40B4-BE49-F238E27FC236}">
                <a16:creationId xmlns:a16="http://schemas.microsoft.com/office/drawing/2014/main" id="{7AA6E953-9010-4041-B73F-2303CB40197A}"/>
              </a:ext>
            </a:extLst>
          </p:cNvPr>
          <p:cNvSpPr>
            <a:spLocks xmlns:a="http://schemas.openxmlformats.org/drawingml/2006/main" noGrp="1"/>
          </p:cNvSpPr>
          <p:nvPr/>
        </p:nvSpPr>
        <p:spPr>
          <a:xfrm xmlns:a="http://schemas.openxmlformats.org/drawingml/2006/main">
            <a:off x="8610600" y="2181225"/>
            <a:ext cx="1924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INSPECTION GAP</a:t>
            </a:r>
          </a:p>
        </p:txBody>
      </p:sp>
      <p:sp>
        <p:nvSpPr>
          <p:cNvPr id="15" name="metric-value">
            <a:extLst xmlns:a="http://schemas.openxmlformats.org/drawingml/2006/main">
              <a:ext uri="{FF2B5EF4-FFF2-40B4-BE49-F238E27FC236}">
                <a16:creationId xmlns:a16="http://schemas.microsoft.com/office/drawing/2014/main" id="{0DB459AE-4F85-4965-A679-45DE83A1340D}"/>
              </a:ext>
            </a:extLst>
          </p:cNvPr>
          <p:cNvSpPr>
            <a:spLocks xmlns:a="http://schemas.openxmlformats.org/drawingml/2006/main" noGrp="1"/>
          </p:cNvSpPr>
          <p:nvPr/>
        </p:nvSpPr>
        <p:spPr>
          <a:xfrm xmlns:a="http://schemas.openxmlformats.org/drawingml/2006/main">
            <a:off x="8610600" y="241935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Subsurface</a:t>
            </a:r>
          </a:p>
        </p:txBody>
      </p:sp>
      <p:sp>
        <p:nvSpPr>
          <p:cNvPr id="16" name="metric-sub">
            <a:extLst xmlns:a="http://schemas.openxmlformats.org/drawingml/2006/main">
              <a:ext uri="{FF2B5EF4-FFF2-40B4-BE49-F238E27FC236}">
                <a16:creationId xmlns:a16="http://schemas.microsoft.com/office/drawing/2014/main" id="{E1A1EB02-08AD-4C94-8B55-9E683D00185D}"/>
              </a:ext>
            </a:extLst>
          </p:cNvPr>
          <p:cNvSpPr>
            <a:spLocks xmlns:a="http://schemas.openxmlformats.org/drawingml/2006/main" noGrp="1"/>
          </p:cNvSpPr>
          <p:nvPr/>
        </p:nvSpPr>
        <p:spPr>
          <a:xfrm xmlns:a="http://schemas.openxmlformats.org/drawingml/2006/main">
            <a:off x="8610600" y="2876550"/>
            <a:ext cx="1924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Surface-only RGB cannot see void physics</a:t>
            </a:r>
          </a:p>
        </p:txBody>
      </p:sp>
      <p:sp>
        <p:nvSpPr>
          <p:cNvPr id="17" name="rect">
            <a:extLst xmlns:a="http://schemas.openxmlformats.org/drawingml/2006/main">
              <a:ext uri="{FF2B5EF4-FFF2-40B4-BE49-F238E27FC236}">
                <a16:creationId xmlns:a16="http://schemas.microsoft.com/office/drawing/2014/main" id="{9FE226B0-D1A4-421B-8BC7-023AAC9F7A9E}"/>
              </a:ext>
            </a:extLst>
          </p:cNvPr>
          <p:cNvSpPr>
            <a:spLocks xmlns:a="http://schemas.openxmlformats.org/drawingml/2006/main" noGrp="1"/>
          </p:cNvSpPr>
          <p:nvPr/>
        </p:nvSpPr>
        <p:spPr>
          <a:xfrm xmlns:a="http://schemas.openxmlformats.org/drawingml/2006/main">
            <a:off x="5962650" y="3476625"/>
            <a:ext cx="4686300" cy="137160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0214DDC0-BB2B-480E-B2FD-1488AFDBE0CF}"/>
              </a:ext>
            </a:extLst>
          </p:cNvPr>
          <p:cNvSpPr>
            <a:spLocks xmlns:a="http://schemas.openxmlformats.org/drawingml/2006/main" noGrp="1"/>
          </p:cNvSpPr>
          <p:nvPr/>
        </p:nvSpPr>
        <p:spPr>
          <a:xfrm xmlns:a="http://schemas.openxmlformats.org/drawingml/2006/main">
            <a:off x="6153150" y="3695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Factory consequence</a:t>
            </a:r>
          </a:p>
        </p:txBody>
      </p:sp>
      <p:sp>
        <p:nvSpPr>
          <p:cNvPr id="19" name="text">
            <a:extLst xmlns:a="http://schemas.openxmlformats.org/drawingml/2006/main">
              <a:ext uri="{FF2B5EF4-FFF2-40B4-BE49-F238E27FC236}">
                <a16:creationId xmlns:a16="http://schemas.microsoft.com/office/drawing/2014/main" id="{66147890-234D-4747-9CED-B0D73FF33D19}"/>
              </a:ext>
            </a:extLst>
          </p:cNvPr>
          <p:cNvSpPr>
            <a:spLocks xmlns:a="http://schemas.openxmlformats.org/drawingml/2006/main" noGrp="1"/>
          </p:cNvSpPr>
          <p:nvPr/>
        </p:nvSpPr>
        <p:spPr>
          <a:xfrm xmlns:a="http://schemas.openxmlformats.org/drawingml/2006/main">
            <a:off x="6153150" y="4010025"/>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318"/>
                </a:solidFill>
              </a:defRPr>
            </a:pPr>
            <a:r>
              <a:rPr sz="1425" b="0">
                <a:solidFill>
                  <a:srgbClr val="111318"/>
                </a:solidFill>
              </a:rPr>
              <a:t>A defect escape is not “one missed box.”</a:t>
            </a:r>
          </a:p>
          <a:p xmlns:a="http://schemas.openxmlformats.org/drawingml/2006/main">
            <a:pPr algn="l">
              <a:buNone/>
              <a:defRPr sz="1425" b="0">
                <a:solidFill>
                  <a:srgbClr val="111318"/>
                </a:solidFill>
              </a:defRPr>
            </a:pPr>
            <a:r>
              <a:rPr sz="1425" b="0">
                <a:solidFill>
                  <a:srgbClr val="111318"/>
                </a:solidFill>
              </a:rPr>
              <a:t>It is an untraceable precursor to rework, yield loss, or an internal-short investigation.</a:t>
            </a:r>
          </a:p>
        </p:txBody>
      </p:sp>
      <p:sp>
        <p:nvSpPr>
          <p:cNvPr id="20" name="text">
            <a:extLst xmlns:a="http://schemas.openxmlformats.org/drawingml/2006/main">
              <a:ext uri="{FF2B5EF4-FFF2-40B4-BE49-F238E27FC236}">
                <a16:creationId xmlns:a16="http://schemas.microsoft.com/office/drawing/2014/main" id="{1153728D-BB2D-456B-887D-4DFE9BBCF0E0}"/>
              </a:ext>
            </a:extLst>
          </p:cNvPr>
          <p:cNvSpPr>
            <a:spLocks xmlns:a="http://schemas.openxmlformats.org/drawingml/2006/main" noGrp="1"/>
          </p:cNvSpPr>
          <p:nvPr/>
        </p:nvSpPr>
        <p:spPr>
          <a:xfrm xmlns:a="http://schemas.openxmlformats.org/drawingml/2006/main">
            <a:off x="5962650" y="5172075"/>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11318"/>
                </a:solidFill>
              </a:defRPr>
            </a:pPr>
            <a:r>
              <a:rPr sz="1350" b="1">
                <a:solidFill>
                  <a:srgbClr val="111318"/>
                </a:solidFill>
              </a:rPr>
              <a:t>The engineering question: can we detect, measure, locate, and act before slitting?</a:t>
            </a:r>
          </a:p>
        </p:txBody>
      </p:sp>
      <p:sp>
        <p:nvSpPr>
          <p:cNvPr id="21" name="Straight Connector 20">
            <a:extLst xmlns:a="http://schemas.openxmlformats.org/drawingml/2006/main">
              <a:ext uri="{FF2B5EF4-FFF2-40B4-BE49-F238E27FC236}">
                <a16:creationId xmlns:a16="http://schemas.microsoft.com/office/drawing/2014/main" id="{3A6118E1-79D1-4120-8B07-19DBEDE0226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ource">
            <a:extLst xmlns:a="http://schemas.openxmlformats.org/drawingml/2006/main">
              <a:ext uri="{FF2B5EF4-FFF2-40B4-BE49-F238E27FC236}">
                <a16:creationId xmlns:a16="http://schemas.microsoft.com/office/drawing/2014/main" id="{91EC0F93-B569-4FD0-AA0B-0D23B6CDCB8E}"/>
              </a:ext>
            </a:extLst>
          </p:cNvPr>
          <p:cNvSpPr>
            <a:spLocks xmlns:a="http://schemas.openxmlformats.org/drawingml/2006/main" noGrp="1"/>
          </p:cNvSpPr>
          <p:nvPr/>
        </p:nvSpPr>
        <p:spPr>
          <a:xfrm xmlns:a="http://schemas.openxmlformats.org/drawingml/2006/main">
            <a:off x="685800" y="64960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5F6670"/>
                </a:solidFill>
              </a:defRPr>
            </a:pPr>
            <a:r>
              <a:rPr sz="825" b="0">
                <a:solidFill>
                  <a:srgbClr val="5F6670"/>
                </a:solidFill>
              </a:rPr>
              <a:t>Real CoatingVision image; YOLO output; RGB-only HOLD mode.</a:t>
            </a:r>
          </a:p>
        </p:txBody>
      </p:sp>
      <p:sp>
        <p:nvSpPr>
          <p:cNvPr id="23" name="page">
            <a:extLst xmlns:a="http://schemas.openxmlformats.org/drawingml/2006/main">
              <a:ext uri="{FF2B5EF4-FFF2-40B4-BE49-F238E27FC236}">
                <a16:creationId xmlns:a16="http://schemas.microsoft.com/office/drawing/2014/main" id="{D7120092-9D82-43FB-AC3D-D2D6F8C76291}"/>
              </a:ext>
            </a:extLst>
          </p:cNvPr>
          <p:cNvSpPr>
            <a:spLocks xmlns:a="http://schemas.openxmlformats.org/drawingml/2006/main" noGrp="1"/>
          </p:cNvSpPr>
          <p:nvPr/>
        </p:nvSpPr>
        <p:spPr>
          <a:xfrm xmlns:a="http://schemas.openxmlformats.org/drawingml/2006/main">
            <a:off x="10382250" y="6496050"/>
            <a:ext cx="11239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5F6670"/>
                </a:solidFill>
              </a:defRPr>
            </a:pPr>
            <a:r>
              <a:rPr sz="825" b="1">
                <a:solidFill>
                  <a:srgbClr val="5F6670"/>
                </a:solidFill>
              </a:rPr>
              <a:t>TEAM 71  /  2</a:t>
            </a:r>
          </a:p>
        </p:txBody>
      </p:sp>
    </p:spTree>
    <p:extLst>
      <p:ext uri="{BB962C8B-B14F-4D97-AF65-F5344CB8AC3E}">
        <p14:creationId xmlns:p14="http://schemas.microsoft.com/office/powerpoint/2010/main" val="11140080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eyebrow">
            <a:extLst xmlns:a="http://schemas.openxmlformats.org/drawingml/2006/main">
              <a:ext uri="{FF2B5EF4-FFF2-40B4-BE49-F238E27FC236}">
                <a16:creationId xmlns:a16="http://schemas.microsoft.com/office/drawing/2014/main" id="{837B98A7-387C-4D47-8E87-AF04BF338E18}"/>
              </a:ext>
            </a:extLst>
          </p:cNvPr>
          <p:cNvSpPr>
            <a:spLocks xmlns:a="http://schemas.openxmlformats.org/drawingml/2006/main" noGrp="1"/>
          </p:cNvSpPr>
          <p:nvPr/>
        </p:nvSpPr>
        <p:spPr>
          <a:xfrm xmlns:a="http://schemas.openxmlformats.org/drawingml/2006/main">
            <a:off x="685800" y="3619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F6670"/>
                </a:solidFill>
              </a:defRPr>
            </a:pPr>
            <a:r>
              <a:rPr sz="975" b="1">
                <a:solidFill>
                  <a:srgbClr val="5F6670"/>
                </a:solidFill>
              </a:rPr>
              <a:t>03  |  1:15–2:00</a:t>
            </a:r>
          </a:p>
        </p:txBody>
      </p:sp>
      <p:sp>
        <p:nvSpPr>
          <p:cNvPr id="2" name="title">
            <a:extLst xmlns:a="http://schemas.openxmlformats.org/drawingml/2006/main">
              <a:ext uri="{FF2B5EF4-FFF2-40B4-BE49-F238E27FC236}">
                <a16:creationId xmlns:a16="http://schemas.microsoft.com/office/drawing/2014/main" id="{FC8A1CDE-100C-48E9-AFA3-9F544B6A70C6}"/>
              </a:ext>
            </a:extLst>
          </p:cNvPr>
          <p:cNvSpPr>
            <a:spLocks xmlns:a="http://schemas.openxmlformats.org/drawingml/2006/main" noGrp="1"/>
          </p:cNvSpPr>
          <p:nvPr/>
        </p:nvSpPr>
        <p:spPr>
          <a:xfrm xmlns:a="http://schemas.openxmlformats.org/drawingml/2006/main">
            <a:off x="685800" y="6953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11318"/>
                </a:solidFill>
              </a:defRPr>
            </a:pPr>
            <a:r>
              <a:rPr sz="2775" b="1">
                <a:solidFill>
                  <a:srgbClr val="111318"/>
                </a:solidFill>
              </a:rPr>
              <a:t>Seven stages, one physically closed inspection decision</a:t>
            </a:r>
          </a:p>
        </p:txBody>
      </p:sp>
      <p:sp>
        <p:nvSpPr>
          <p:cNvPr id="3" name="cn-title">
            <a:extLst xmlns:a="http://schemas.openxmlformats.org/drawingml/2006/main">
              <a:ext uri="{FF2B5EF4-FFF2-40B4-BE49-F238E27FC236}">
                <a16:creationId xmlns:a16="http://schemas.microsoft.com/office/drawing/2014/main" id="{2E31405D-CD4F-4E51-8CBF-0327DA109D10}"/>
              </a:ext>
            </a:extLst>
          </p:cNvPr>
          <p:cNvSpPr>
            <a:spLocks xmlns:a="http://schemas.openxmlformats.org/drawingml/2006/main" noGrp="1"/>
          </p:cNvSpPr>
          <p:nvPr/>
        </p:nvSpPr>
        <p:spPr>
          <a:xfrm xmlns:a="http://schemas.openxmlformats.org/drawingml/2006/main">
            <a:off x="685800" y="1200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F6670"/>
                </a:solidFill>
              </a:defRPr>
            </a:pPr>
            <a:r>
              <a:rPr sz="1500" b="0">
                <a:solidFill>
                  <a:srgbClr val="5F6670"/>
                </a:solidFill>
              </a:rPr>
              <a:t>七工站闭环检测决策</a:t>
            </a:r>
          </a:p>
        </p:txBody>
      </p:sp>
      <p:sp>
        <p:nvSpPr>
          <p:cNvPr id="4" name="Straight Connector 3">
            <a:extLst xmlns:a="http://schemas.openxmlformats.org/drawingml/2006/main">
              <a:ext uri="{FF2B5EF4-FFF2-40B4-BE49-F238E27FC236}">
                <a16:creationId xmlns:a16="http://schemas.microsoft.com/office/drawing/2014/main" id="{0257CA6F-77D0-48C4-A459-98B3294DD779}"/>
              </a:ext>
            </a:extLst>
          </p:cNvPr>
          <p:cNvSpPr>
            <a:spLocks xmlns:a="http://schemas.openxmlformats.org/drawingml/2006/main" noGrp="1"/>
          </p:cNvSpPr>
          <p:nvPr/>
        </p:nvSpPr>
        <p:spPr>
          <a:xfrm xmlns:a="http://schemas.openxmlformats.org/drawingml/2006/main">
            <a:off x="685800" y="156210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node">
            <a:extLst xmlns:a="http://schemas.openxmlformats.org/drawingml/2006/main">
              <a:ext uri="{FF2B5EF4-FFF2-40B4-BE49-F238E27FC236}">
                <a16:creationId xmlns:a16="http://schemas.microsoft.com/office/drawing/2014/main" id="{F594C7EE-DCB2-484C-BBE4-F98A7C013F97}"/>
              </a:ext>
            </a:extLst>
          </p:cNvPr>
          <p:cNvSpPr>
            <a:spLocks xmlns:a="http://schemas.openxmlformats.org/drawingml/2006/main" noGrp="1"/>
          </p:cNvSpPr>
          <p:nvPr/>
        </p:nvSpPr>
        <p:spPr>
          <a:xfrm xmlns:a="http://schemas.openxmlformats.org/drawingml/2006/main">
            <a:off x="685800" y="2143125"/>
            <a:ext cx="12573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node-head">
            <a:extLst xmlns:a="http://schemas.openxmlformats.org/drawingml/2006/main">
              <a:ext uri="{FF2B5EF4-FFF2-40B4-BE49-F238E27FC236}">
                <a16:creationId xmlns:a16="http://schemas.microsoft.com/office/drawing/2014/main" id="{2A5C2036-8C42-4BDB-8513-A237C68ED05B}"/>
              </a:ext>
            </a:extLst>
          </p:cNvPr>
          <p:cNvSpPr>
            <a:spLocks xmlns:a="http://schemas.openxmlformats.org/drawingml/2006/main" noGrp="1"/>
          </p:cNvSpPr>
          <p:nvPr/>
        </p:nvSpPr>
        <p:spPr>
          <a:xfrm xmlns:a="http://schemas.openxmlformats.org/drawingml/2006/main">
            <a:off x="819150" y="2266950"/>
            <a:ext cx="99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1</a:t>
            </a:r>
          </a:p>
        </p:txBody>
      </p:sp>
      <p:sp>
        <p:nvSpPr>
          <p:cNvPr id="7" name="node-body">
            <a:extLst xmlns:a="http://schemas.openxmlformats.org/drawingml/2006/main">
              <a:ext uri="{FF2B5EF4-FFF2-40B4-BE49-F238E27FC236}">
                <a16:creationId xmlns:a16="http://schemas.microsoft.com/office/drawing/2014/main" id="{A9BB1A32-2A4C-4BF4-8846-13844D75E746}"/>
              </a:ext>
            </a:extLst>
          </p:cNvPr>
          <p:cNvSpPr>
            <a:spLocks xmlns:a="http://schemas.openxmlformats.org/drawingml/2006/main" noGrp="1"/>
          </p:cNvSpPr>
          <p:nvPr/>
        </p:nvSpPr>
        <p:spPr>
          <a:xfrm xmlns:a="http://schemas.openxmlformats.org/drawingml/2006/main">
            <a:off x="819150" y="25146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Encoder</a:t>
            </a:r>
          </a:p>
          <a:p xmlns:a="http://schemas.openxmlformats.org/drawingml/2006/main">
            <a:pPr algn="l">
              <a:buNone/>
              <a:defRPr sz="975" b="0">
                <a:solidFill>
                  <a:srgbClr val="5F6670"/>
                </a:solidFill>
              </a:defRPr>
            </a:pPr>
            <a:r>
              <a:rPr sz="975" b="0">
                <a:solidFill>
                  <a:srgbClr val="5F6670"/>
                </a:solidFill>
              </a:rPr>
              <a:t>同步</a:t>
            </a:r>
          </a:p>
        </p:txBody>
      </p:sp>
      <p:sp>
        <p:nvSpPr>
          <p:cNvPr id="8" name="node">
            <a:extLst xmlns:a="http://schemas.openxmlformats.org/drawingml/2006/main">
              <a:ext uri="{FF2B5EF4-FFF2-40B4-BE49-F238E27FC236}">
                <a16:creationId xmlns:a16="http://schemas.microsoft.com/office/drawing/2014/main" id="{C36A6701-FBC5-449C-AC41-2D3E91581952}"/>
              </a:ext>
            </a:extLst>
          </p:cNvPr>
          <p:cNvSpPr>
            <a:spLocks xmlns:a="http://schemas.openxmlformats.org/drawingml/2006/main" noGrp="1"/>
          </p:cNvSpPr>
          <p:nvPr/>
        </p:nvSpPr>
        <p:spPr>
          <a:xfrm xmlns:a="http://schemas.openxmlformats.org/drawingml/2006/main">
            <a:off x="2152650" y="2143125"/>
            <a:ext cx="12573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node-head">
            <a:extLst xmlns:a="http://schemas.openxmlformats.org/drawingml/2006/main">
              <a:ext uri="{FF2B5EF4-FFF2-40B4-BE49-F238E27FC236}">
                <a16:creationId xmlns:a16="http://schemas.microsoft.com/office/drawing/2014/main" id="{F0D87EB0-F72F-48C8-B31C-C93ED12F5639}"/>
              </a:ext>
            </a:extLst>
          </p:cNvPr>
          <p:cNvSpPr>
            <a:spLocks xmlns:a="http://schemas.openxmlformats.org/drawingml/2006/main" noGrp="1"/>
          </p:cNvSpPr>
          <p:nvPr/>
        </p:nvSpPr>
        <p:spPr>
          <a:xfrm xmlns:a="http://schemas.openxmlformats.org/drawingml/2006/main">
            <a:off x="2286000" y="2266950"/>
            <a:ext cx="99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2</a:t>
            </a:r>
          </a:p>
        </p:txBody>
      </p:sp>
      <p:sp>
        <p:nvSpPr>
          <p:cNvPr id="10" name="node-body">
            <a:extLst xmlns:a="http://schemas.openxmlformats.org/drawingml/2006/main">
              <a:ext uri="{FF2B5EF4-FFF2-40B4-BE49-F238E27FC236}">
                <a16:creationId xmlns:a16="http://schemas.microsoft.com/office/drawing/2014/main" id="{291599E0-F803-4A02-B3F7-321D776B3182}"/>
              </a:ext>
            </a:extLst>
          </p:cNvPr>
          <p:cNvSpPr>
            <a:spLocks xmlns:a="http://schemas.openxmlformats.org/drawingml/2006/main" noGrp="1"/>
          </p:cNvSpPr>
          <p:nvPr/>
        </p:nvSpPr>
        <p:spPr>
          <a:xfrm xmlns:a="http://schemas.openxmlformats.org/drawingml/2006/main">
            <a:off x="2286000" y="25146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RGB / Thermal / 3D</a:t>
            </a:r>
          </a:p>
          <a:p xmlns:a="http://schemas.openxmlformats.org/drawingml/2006/main">
            <a:pPr algn="l">
              <a:buNone/>
              <a:defRPr sz="975" b="0">
                <a:solidFill>
                  <a:srgbClr val="5F6670"/>
                </a:solidFill>
              </a:defRPr>
            </a:pPr>
            <a:r>
              <a:rPr sz="975" b="0">
                <a:solidFill>
                  <a:srgbClr val="5F6670"/>
                </a:solidFill>
              </a:rPr>
              <a:t>采集</a:t>
            </a:r>
          </a:p>
        </p:txBody>
      </p:sp>
      <p:cxnSp>
        <p:nvCxnSpPr>
          <p:cNvPr id="97" name="Straight Arrow Connector 65"/>
          <p:cNvCxnSpPr>
            <a:stCxn xmlns:a="http://schemas.openxmlformats.org/drawingml/2006/main" id="5" idx="3"/>
            <a:endCxn xmlns:a="http://schemas.openxmlformats.org/drawingml/2006/main" id="8" idx="1"/>
          </p:cNvCxnSpPr>
          <p:nvPr/>
        </p:nvCxnSpPr>
        <p:spPr>
          <a:xfrm xmlns:a="http://schemas.openxmlformats.org/drawingml/2006/main">
            <a:off x="1943100" y="2619375"/>
            <a:ext cx="209550"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sp>
        <p:nvSpPr>
          <p:cNvPr id="12" name="node">
            <a:extLst xmlns:a="http://schemas.openxmlformats.org/drawingml/2006/main">
              <a:ext uri="{FF2B5EF4-FFF2-40B4-BE49-F238E27FC236}">
                <a16:creationId xmlns:a16="http://schemas.microsoft.com/office/drawing/2014/main" id="{2E89EB11-D747-4117-97FB-D266B94156AF}"/>
              </a:ext>
            </a:extLst>
          </p:cNvPr>
          <p:cNvSpPr>
            <a:spLocks xmlns:a="http://schemas.openxmlformats.org/drawingml/2006/main" noGrp="1"/>
          </p:cNvSpPr>
          <p:nvPr/>
        </p:nvSpPr>
        <p:spPr>
          <a:xfrm xmlns:a="http://schemas.openxmlformats.org/drawingml/2006/main">
            <a:off x="3619500" y="2143125"/>
            <a:ext cx="12573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node-head">
            <a:extLst xmlns:a="http://schemas.openxmlformats.org/drawingml/2006/main">
              <a:ext uri="{FF2B5EF4-FFF2-40B4-BE49-F238E27FC236}">
                <a16:creationId xmlns:a16="http://schemas.microsoft.com/office/drawing/2014/main" id="{53616098-17E2-4A38-8FDF-81889C2FED7A}"/>
              </a:ext>
            </a:extLst>
          </p:cNvPr>
          <p:cNvSpPr>
            <a:spLocks xmlns:a="http://schemas.openxmlformats.org/drawingml/2006/main" noGrp="1"/>
          </p:cNvSpPr>
          <p:nvPr/>
        </p:nvSpPr>
        <p:spPr>
          <a:xfrm xmlns:a="http://schemas.openxmlformats.org/drawingml/2006/main">
            <a:off x="3752850" y="2266950"/>
            <a:ext cx="99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3</a:t>
            </a:r>
          </a:p>
        </p:txBody>
      </p:sp>
      <p:sp>
        <p:nvSpPr>
          <p:cNvPr id="14" name="node-body">
            <a:extLst xmlns:a="http://schemas.openxmlformats.org/drawingml/2006/main">
              <a:ext uri="{FF2B5EF4-FFF2-40B4-BE49-F238E27FC236}">
                <a16:creationId xmlns:a16="http://schemas.microsoft.com/office/drawing/2014/main" id="{E84A2AD8-4A60-4875-85C5-53D771186B1A}"/>
              </a:ext>
            </a:extLst>
          </p:cNvPr>
          <p:cNvSpPr>
            <a:spLocks xmlns:a="http://schemas.openxmlformats.org/drawingml/2006/main" noGrp="1"/>
          </p:cNvSpPr>
          <p:nvPr/>
        </p:nvSpPr>
        <p:spPr>
          <a:xfrm xmlns:a="http://schemas.openxmlformats.org/drawingml/2006/main">
            <a:off x="3752850" y="25146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5-channel</a:t>
            </a:r>
          </a:p>
          <a:p xmlns:a="http://schemas.openxmlformats.org/drawingml/2006/main">
            <a:pPr algn="l">
              <a:buNone/>
              <a:defRPr sz="975" b="0">
                <a:solidFill>
                  <a:srgbClr val="5F6670"/>
                </a:solidFill>
              </a:defRPr>
            </a:pPr>
            <a:r>
              <a:rPr sz="975" b="0">
                <a:solidFill>
                  <a:srgbClr val="5F6670"/>
                </a:solidFill>
              </a:rPr>
              <a:t>对齐融合</a:t>
            </a:r>
          </a:p>
        </p:txBody>
      </p:sp>
      <p:cxnSp>
        <p:nvCxnSpPr>
          <p:cNvPr id="101" name="Straight Arrow Connector 69"/>
          <p:cNvCxnSpPr>
            <a:stCxn xmlns:a="http://schemas.openxmlformats.org/drawingml/2006/main" id="8" idx="3"/>
            <a:endCxn xmlns:a="http://schemas.openxmlformats.org/drawingml/2006/main" id="12" idx="1"/>
          </p:cNvCxnSpPr>
          <p:nvPr/>
        </p:nvCxnSpPr>
        <p:spPr>
          <a:xfrm xmlns:a="http://schemas.openxmlformats.org/drawingml/2006/main">
            <a:off x="3409950" y="2619375"/>
            <a:ext cx="209550"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sp>
        <p:nvSpPr>
          <p:cNvPr id="16" name="node">
            <a:extLst xmlns:a="http://schemas.openxmlformats.org/drawingml/2006/main">
              <a:ext uri="{FF2B5EF4-FFF2-40B4-BE49-F238E27FC236}">
                <a16:creationId xmlns:a16="http://schemas.microsoft.com/office/drawing/2014/main" id="{8C1902FA-2B3F-4609-8335-2C1E2357506A}"/>
              </a:ext>
            </a:extLst>
          </p:cNvPr>
          <p:cNvSpPr>
            <a:spLocks xmlns:a="http://schemas.openxmlformats.org/drawingml/2006/main" noGrp="1"/>
          </p:cNvSpPr>
          <p:nvPr/>
        </p:nvSpPr>
        <p:spPr>
          <a:xfrm xmlns:a="http://schemas.openxmlformats.org/drawingml/2006/main">
            <a:off x="5086350" y="2143125"/>
            <a:ext cx="12573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node-head">
            <a:extLst xmlns:a="http://schemas.openxmlformats.org/drawingml/2006/main">
              <a:ext uri="{FF2B5EF4-FFF2-40B4-BE49-F238E27FC236}">
                <a16:creationId xmlns:a16="http://schemas.microsoft.com/office/drawing/2014/main" id="{43178BC8-DB36-460A-9E4B-63F17FB6103B}"/>
              </a:ext>
            </a:extLst>
          </p:cNvPr>
          <p:cNvSpPr>
            <a:spLocks xmlns:a="http://schemas.openxmlformats.org/drawingml/2006/main" noGrp="1"/>
          </p:cNvSpPr>
          <p:nvPr/>
        </p:nvSpPr>
        <p:spPr>
          <a:xfrm xmlns:a="http://schemas.openxmlformats.org/drawingml/2006/main">
            <a:off x="5219700" y="2266950"/>
            <a:ext cx="99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4</a:t>
            </a:r>
          </a:p>
        </p:txBody>
      </p:sp>
      <p:sp>
        <p:nvSpPr>
          <p:cNvPr id="18" name="node-body">
            <a:extLst xmlns:a="http://schemas.openxmlformats.org/drawingml/2006/main">
              <a:ext uri="{FF2B5EF4-FFF2-40B4-BE49-F238E27FC236}">
                <a16:creationId xmlns:a16="http://schemas.microsoft.com/office/drawing/2014/main" id="{CE37ECA9-3130-431A-A1E2-2A40A77CF8FE}"/>
              </a:ext>
            </a:extLst>
          </p:cNvPr>
          <p:cNvSpPr>
            <a:spLocks xmlns:a="http://schemas.openxmlformats.org/drawingml/2006/main" noGrp="1"/>
          </p:cNvSpPr>
          <p:nvPr/>
        </p:nvSpPr>
        <p:spPr>
          <a:xfrm xmlns:a="http://schemas.openxmlformats.org/drawingml/2006/main">
            <a:off x="5219700" y="25146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AI segmentation</a:t>
            </a:r>
          </a:p>
          <a:p xmlns:a="http://schemas.openxmlformats.org/drawingml/2006/main">
            <a:pPr algn="l">
              <a:buNone/>
              <a:defRPr sz="975" b="0">
                <a:solidFill>
                  <a:srgbClr val="5F6670"/>
                </a:solidFill>
              </a:defRPr>
            </a:pPr>
            <a:r>
              <a:rPr sz="975" b="0">
                <a:solidFill>
                  <a:srgbClr val="5F6670"/>
                </a:solidFill>
              </a:rPr>
              <a:t>推理</a:t>
            </a:r>
          </a:p>
        </p:txBody>
      </p:sp>
      <p:cxnSp>
        <p:nvCxnSpPr>
          <p:cNvPr id="105" name="Straight Arrow Connector 73"/>
          <p:cNvCxnSpPr>
            <a:stCxn xmlns:a="http://schemas.openxmlformats.org/drawingml/2006/main" id="12" idx="3"/>
            <a:endCxn xmlns:a="http://schemas.openxmlformats.org/drawingml/2006/main" id="16" idx="1"/>
          </p:cNvCxnSpPr>
          <p:nvPr/>
        </p:nvCxnSpPr>
        <p:spPr>
          <a:xfrm xmlns:a="http://schemas.openxmlformats.org/drawingml/2006/main">
            <a:off x="4876800" y="2619375"/>
            <a:ext cx="209550"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sp>
        <p:nvSpPr>
          <p:cNvPr id="20" name="node">
            <a:extLst xmlns:a="http://schemas.openxmlformats.org/drawingml/2006/main">
              <a:ext uri="{FF2B5EF4-FFF2-40B4-BE49-F238E27FC236}">
                <a16:creationId xmlns:a16="http://schemas.microsoft.com/office/drawing/2014/main" id="{A42DCBF4-B375-49A4-AA0C-9374044D97A1}"/>
              </a:ext>
            </a:extLst>
          </p:cNvPr>
          <p:cNvSpPr>
            <a:spLocks xmlns:a="http://schemas.openxmlformats.org/drawingml/2006/main" noGrp="1"/>
          </p:cNvSpPr>
          <p:nvPr/>
        </p:nvSpPr>
        <p:spPr>
          <a:xfrm xmlns:a="http://schemas.openxmlformats.org/drawingml/2006/main">
            <a:off x="6553200" y="2143125"/>
            <a:ext cx="12573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node-head">
            <a:extLst xmlns:a="http://schemas.openxmlformats.org/drawingml/2006/main">
              <a:ext uri="{FF2B5EF4-FFF2-40B4-BE49-F238E27FC236}">
                <a16:creationId xmlns:a16="http://schemas.microsoft.com/office/drawing/2014/main" id="{B6D32A21-7A09-4302-B4FA-C28B174D55FE}"/>
              </a:ext>
            </a:extLst>
          </p:cNvPr>
          <p:cNvSpPr>
            <a:spLocks xmlns:a="http://schemas.openxmlformats.org/drawingml/2006/main" noGrp="1"/>
          </p:cNvSpPr>
          <p:nvPr/>
        </p:nvSpPr>
        <p:spPr>
          <a:xfrm xmlns:a="http://schemas.openxmlformats.org/drawingml/2006/main">
            <a:off x="6686550" y="2266950"/>
            <a:ext cx="99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5</a:t>
            </a:r>
          </a:p>
        </p:txBody>
      </p:sp>
      <p:sp>
        <p:nvSpPr>
          <p:cNvPr id="22" name="node-body">
            <a:extLst xmlns:a="http://schemas.openxmlformats.org/drawingml/2006/main">
              <a:ext uri="{FF2B5EF4-FFF2-40B4-BE49-F238E27FC236}">
                <a16:creationId xmlns:a16="http://schemas.microsoft.com/office/drawing/2014/main" id="{40F7BE45-3FAA-4D22-A9F7-46E51F93BAB8}"/>
              </a:ext>
            </a:extLst>
          </p:cNvPr>
          <p:cNvSpPr>
            <a:spLocks xmlns:a="http://schemas.openxmlformats.org/drawingml/2006/main" noGrp="1"/>
          </p:cNvSpPr>
          <p:nvPr/>
        </p:nvSpPr>
        <p:spPr>
          <a:xfrm xmlns:a="http://schemas.openxmlformats.org/drawingml/2006/main">
            <a:off x="6686550" y="25146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Physics</a:t>
            </a:r>
          </a:p>
          <a:p xmlns:a="http://schemas.openxmlformats.org/drawingml/2006/main">
            <a:pPr algn="l">
              <a:buNone/>
              <a:defRPr sz="975" b="0">
                <a:solidFill>
                  <a:srgbClr val="5F6670"/>
                </a:solidFill>
              </a:defRPr>
            </a:pPr>
            <a:r>
              <a:rPr sz="975" b="0">
                <a:solidFill>
                  <a:srgbClr val="5F6670"/>
                </a:solidFill>
              </a:rPr>
              <a:t>metrology</a:t>
            </a:r>
          </a:p>
        </p:txBody>
      </p:sp>
      <p:cxnSp>
        <p:nvCxnSpPr>
          <p:cNvPr id="109" name="Straight Arrow Connector 77"/>
          <p:cNvCxnSpPr>
            <a:stCxn xmlns:a="http://schemas.openxmlformats.org/drawingml/2006/main" id="16" idx="3"/>
            <a:endCxn xmlns:a="http://schemas.openxmlformats.org/drawingml/2006/main" id="20" idx="1"/>
          </p:cNvCxnSpPr>
          <p:nvPr/>
        </p:nvCxnSpPr>
        <p:spPr>
          <a:xfrm xmlns:a="http://schemas.openxmlformats.org/drawingml/2006/main">
            <a:off x="6343650" y="2619375"/>
            <a:ext cx="209550"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sp>
        <p:nvSpPr>
          <p:cNvPr id="24" name="node">
            <a:extLst xmlns:a="http://schemas.openxmlformats.org/drawingml/2006/main">
              <a:ext uri="{FF2B5EF4-FFF2-40B4-BE49-F238E27FC236}">
                <a16:creationId xmlns:a16="http://schemas.microsoft.com/office/drawing/2014/main" id="{FA9B9AC4-2649-4D13-BA40-08DBFD0645A2}"/>
              </a:ext>
            </a:extLst>
          </p:cNvPr>
          <p:cNvSpPr>
            <a:spLocks xmlns:a="http://schemas.openxmlformats.org/drawingml/2006/main" noGrp="1"/>
          </p:cNvSpPr>
          <p:nvPr/>
        </p:nvSpPr>
        <p:spPr>
          <a:xfrm xmlns:a="http://schemas.openxmlformats.org/drawingml/2006/main">
            <a:off x="8020050" y="2143125"/>
            <a:ext cx="12573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node-head">
            <a:extLst xmlns:a="http://schemas.openxmlformats.org/drawingml/2006/main">
              <a:ext uri="{FF2B5EF4-FFF2-40B4-BE49-F238E27FC236}">
                <a16:creationId xmlns:a16="http://schemas.microsoft.com/office/drawing/2014/main" id="{630C2C4D-190F-44D0-9CDD-401E2F2E348E}"/>
              </a:ext>
            </a:extLst>
          </p:cNvPr>
          <p:cNvSpPr>
            <a:spLocks xmlns:a="http://schemas.openxmlformats.org/drawingml/2006/main" noGrp="1"/>
          </p:cNvSpPr>
          <p:nvPr/>
        </p:nvSpPr>
        <p:spPr>
          <a:xfrm xmlns:a="http://schemas.openxmlformats.org/drawingml/2006/main">
            <a:off x="8153400" y="2266950"/>
            <a:ext cx="99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6</a:t>
            </a:r>
          </a:p>
        </p:txBody>
      </p:sp>
      <p:sp>
        <p:nvSpPr>
          <p:cNvPr id="26" name="node-body">
            <a:extLst xmlns:a="http://schemas.openxmlformats.org/drawingml/2006/main">
              <a:ext uri="{FF2B5EF4-FFF2-40B4-BE49-F238E27FC236}">
                <a16:creationId xmlns:a16="http://schemas.microsoft.com/office/drawing/2014/main" id="{7CCF425D-EA22-43A5-AFC2-998FE7A3774D}"/>
              </a:ext>
            </a:extLst>
          </p:cNvPr>
          <p:cNvSpPr>
            <a:spLocks xmlns:a="http://schemas.openxmlformats.org/drawingml/2006/main" noGrp="1"/>
          </p:cNvSpPr>
          <p:nvPr/>
        </p:nvSpPr>
        <p:spPr>
          <a:xfrm xmlns:a="http://schemas.openxmlformats.org/drawingml/2006/main">
            <a:off x="8153400" y="25146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PLC</a:t>
            </a:r>
          </a:p>
          <a:p xmlns:a="http://schemas.openxmlformats.org/drawingml/2006/main">
            <a:pPr algn="l">
              <a:buNone/>
              <a:defRPr sz="975" b="0">
                <a:solidFill>
                  <a:srgbClr val="5F6670"/>
                </a:solidFill>
              </a:defRPr>
            </a:pPr>
            <a:r>
              <a:rPr sz="975" b="0">
                <a:solidFill>
                  <a:srgbClr val="5F6670"/>
                </a:solidFill>
              </a:rPr>
              <a:t>interlock</a:t>
            </a:r>
          </a:p>
        </p:txBody>
      </p:sp>
      <p:cxnSp>
        <p:nvCxnSpPr>
          <p:cNvPr id="113" name="Straight Arrow Connector 81"/>
          <p:cNvCxnSpPr>
            <a:stCxn xmlns:a="http://schemas.openxmlformats.org/drawingml/2006/main" id="20" idx="3"/>
            <a:endCxn xmlns:a="http://schemas.openxmlformats.org/drawingml/2006/main" id="24" idx="1"/>
          </p:cNvCxnSpPr>
          <p:nvPr/>
        </p:nvCxnSpPr>
        <p:spPr>
          <a:xfrm xmlns:a="http://schemas.openxmlformats.org/drawingml/2006/main">
            <a:off x="7810500" y="2619375"/>
            <a:ext cx="209550"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sp>
        <p:nvSpPr>
          <p:cNvPr id="28" name="node">
            <a:extLst xmlns:a="http://schemas.openxmlformats.org/drawingml/2006/main">
              <a:ext uri="{FF2B5EF4-FFF2-40B4-BE49-F238E27FC236}">
                <a16:creationId xmlns:a16="http://schemas.microsoft.com/office/drawing/2014/main" id="{C88117F1-EFB9-41C8-8F66-27C4EAA905AF}"/>
              </a:ext>
            </a:extLst>
          </p:cNvPr>
          <p:cNvSpPr>
            <a:spLocks xmlns:a="http://schemas.openxmlformats.org/drawingml/2006/main" noGrp="1"/>
          </p:cNvSpPr>
          <p:nvPr/>
        </p:nvSpPr>
        <p:spPr>
          <a:xfrm xmlns:a="http://schemas.openxmlformats.org/drawingml/2006/main">
            <a:off x="9486900" y="2143125"/>
            <a:ext cx="1257300" cy="95250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node-head">
            <a:extLst xmlns:a="http://schemas.openxmlformats.org/drawingml/2006/main">
              <a:ext uri="{FF2B5EF4-FFF2-40B4-BE49-F238E27FC236}">
                <a16:creationId xmlns:a16="http://schemas.microsoft.com/office/drawing/2014/main" id="{5EA7E9F7-6E69-41FC-887E-D3C8E76DA56E}"/>
              </a:ext>
            </a:extLst>
          </p:cNvPr>
          <p:cNvSpPr>
            <a:spLocks xmlns:a="http://schemas.openxmlformats.org/drawingml/2006/main" noGrp="1"/>
          </p:cNvSpPr>
          <p:nvPr/>
        </p:nvSpPr>
        <p:spPr>
          <a:xfrm xmlns:a="http://schemas.openxmlformats.org/drawingml/2006/main">
            <a:off x="9620250" y="2266950"/>
            <a:ext cx="99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7</a:t>
            </a:r>
          </a:p>
        </p:txBody>
      </p:sp>
      <p:sp>
        <p:nvSpPr>
          <p:cNvPr id="30" name="node-body">
            <a:extLst xmlns:a="http://schemas.openxmlformats.org/drawingml/2006/main">
              <a:ext uri="{FF2B5EF4-FFF2-40B4-BE49-F238E27FC236}">
                <a16:creationId xmlns:a16="http://schemas.microsoft.com/office/drawing/2014/main" id="{5D676331-1E29-4D53-9C86-AF02B973480F}"/>
              </a:ext>
            </a:extLst>
          </p:cNvPr>
          <p:cNvSpPr>
            <a:spLocks xmlns:a="http://schemas.openxmlformats.org/drawingml/2006/main" noGrp="1"/>
          </p:cNvSpPr>
          <p:nvPr/>
        </p:nvSpPr>
        <p:spPr>
          <a:xfrm xmlns:a="http://schemas.openxmlformats.org/drawingml/2006/main">
            <a:off x="9620250" y="25146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Root-cause</a:t>
            </a:r>
          </a:p>
          <a:p xmlns:a="http://schemas.openxmlformats.org/drawingml/2006/main">
            <a:pPr algn="l">
              <a:buNone/>
              <a:defRPr sz="975" b="0">
                <a:solidFill>
                  <a:srgbClr val="5F6670"/>
                </a:solidFill>
              </a:defRPr>
            </a:pPr>
            <a:r>
              <a:rPr sz="975" b="0">
                <a:solidFill>
                  <a:srgbClr val="5F6670"/>
                </a:solidFill>
              </a:rPr>
              <a:t>feedback</a:t>
            </a:r>
          </a:p>
        </p:txBody>
      </p:sp>
      <p:cxnSp>
        <p:nvCxnSpPr>
          <p:cNvPr id="117" name="Straight Arrow Connector 85"/>
          <p:cNvCxnSpPr>
            <a:stCxn xmlns:a="http://schemas.openxmlformats.org/drawingml/2006/main" id="24" idx="3"/>
            <a:endCxn xmlns:a="http://schemas.openxmlformats.org/drawingml/2006/main" id="28" idx="1"/>
          </p:cNvCxnSpPr>
          <p:nvPr/>
        </p:nvCxnSpPr>
        <p:spPr>
          <a:xfrm xmlns:a="http://schemas.openxmlformats.org/drawingml/2006/main">
            <a:off x="9277350" y="2619375"/>
            <a:ext cx="209550"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sp>
        <p:nvSpPr>
          <p:cNvPr id="32" name="metric">
            <a:extLst xmlns:a="http://schemas.openxmlformats.org/drawingml/2006/main">
              <a:ext uri="{FF2B5EF4-FFF2-40B4-BE49-F238E27FC236}">
                <a16:creationId xmlns:a16="http://schemas.microsoft.com/office/drawing/2014/main" id="{0548D1A4-2AF1-45CE-8BBC-51AD58C54943}"/>
              </a:ext>
            </a:extLst>
          </p:cNvPr>
          <p:cNvSpPr>
            <a:spLocks xmlns:a="http://schemas.openxmlformats.org/drawingml/2006/main" noGrp="1"/>
          </p:cNvSpPr>
          <p:nvPr/>
        </p:nvSpPr>
        <p:spPr>
          <a:xfrm xmlns:a="http://schemas.openxmlformats.org/drawingml/2006/main">
            <a:off x="685800" y="3762375"/>
            <a:ext cx="2352675"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metric-accent">
            <a:extLst xmlns:a="http://schemas.openxmlformats.org/drawingml/2006/main">
              <a:ext uri="{FF2B5EF4-FFF2-40B4-BE49-F238E27FC236}">
                <a16:creationId xmlns:a16="http://schemas.microsoft.com/office/drawing/2014/main" id="{1A405073-A2BB-41E8-917E-F714F3F3BB4F}"/>
              </a:ext>
            </a:extLst>
          </p:cNvPr>
          <p:cNvSpPr>
            <a:spLocks xmlns:a="http://schemas.openxmlformats.org/drawingml/2006/main" noGrp="1"/>
          </p:cNvSpPr>
          <p:nvPr/>
        </p:nvSpPr>
        <p:spPr>
          <a:xfrm xmlns:a="http://schemas.openxmlformats.org/drawingml/2006/main">
            <a:off x="685800" y="3762375"/>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metric-label">
            <a:extLst xmlns:a="http://schemas.openxmlformats.org/drawingml/2006/main">
              <a:ext uri="{FF2B5EF4-FFF2-40B4-BE49-F238E27FC236}">
                <a16:creationId xmlns:a16="http://schemas.microsoft.com/office/drawing/2014/main" id="{2EB82EA8-6244-45D1-90C8-E77EB3A0F91B}"/>
              </a:ext>
            </a:extLst>
          </p:cNvPr>
          <p:cNvSpPr>
            <a:spLocks xmlns:a="http://schemas.openxmlformats.org/drawingml/2006/main" noGrp="1"/>
          </p:cNvSpPr>
          <p:nvPr/>
        </p:nvSpPr>
        <p:spPr>
          <a:xfrm xmlns:a="http://schemas.openxmlformats.org/drawingml/2006/main">
            <a:off x="895350" y="3933825"/>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WEB SPEED</a:t>
            </a:r>
          </a:p>
        </p:txBody>
      </p:sp>
      <p:sp>
        <p:nvSpPr>
          <p:cNvPr id="35" name="metric-value">
            <a:extLst xmlns:a="http://schemas.openxmlformats.org/drawingml/2006/main">
              <a:ext uri="{FF2B5EF4-FFF2-40B4-BE49-F238E27FC236}">
                <a16:creationId xmlns:a16="http://schemas.microsoft.com/office/drawing/2014/main" id="{B43B7E8D-E067-46A8-973C-BC0A83261995}"/>
              </a:ext>
            </a:extLst>
          </p:cNvPr>
          <p:cNvSpPr>
            <a:spLocks xmlns:a="http://schemas.openxmlformats.org/drawingml/2006/main" noGrp="1"/>
          </p:cNvSpPr>
          <p:nvPr/>
        </p:nvSpPr>
        <p:spPr>
          <a:xfrm xmlns:a="http://schemas.openxmlformats.org/drawingml/2006/main">
            <a:off x="895350" y="41719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1.8 m/s</a:t>
            </a:r>
          </a:p>
        </p:txBody>
      </p:sp>
      <p:sp>
        <p:nvSpPr>
          <p:cNvPr id="36" name="metric-sub">
            <a:extLst xmlns:a="http://schemas.openxmlformats.org/drawingml/2006/main">
              <a:ext uri="{FF2B5EF4-FFF2-40B4-BE49-F238E27FC236}">
                <a16:creationId xmlns:a16="http://schemas.microsoft.com/office/drawing/2014/main" id="{FC35E8FC-63C2-4B05-8E7E-32FF192F3099}"/>
              </a:ext>
            </a:extLst>
          </p:cNvPr>
          <p:cNvSpPr>
            <a:spLocks xmlns:a="http://schemas.openxmlformats.org/drawingml/2006/main" noGrp="1"/>
          </p:cNvSpPr>
          <p:nvPr/>
        </p:nvSpPr>
        <p:spPr>
          <a:xfrm xmlns:a="http://schemas.openxmlformats.org/drawingml/2006/main">
            <a:off x="895350" y="4629150"/>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design operating point</a:t>
            </a:r>
          </a:p>
        </p:txBody>
      </p:sp>
      <p:sp>
        <p:nvSpPr>
          <p:cNvPr id="37" name="metric">
            <a:extLst xmlns:a="http://schemas.openxmlformats.org/drawingml/2006/main">
              <a:ext uri="{FF2B5EF4-FFF2-40B4-BE49-F238E27FC236}">
                <a16:creationId xmlns:a16="http://schemas.microsoft.com/office/drawing/2014/main" id="{A4B5B898-E821-48D3-9FF0-7D4C0DAE77E6}"/>
              </a:ext>
            </a:extLst>
          </p:cNvPr>
          <p:cNvSpPr>
            <a:spLocks xmlns:a="http://schemas.openxmlformats.org/drawingml/2006/main" noGrp="1"/>
          </p:cNvSpPr>
          <p:nvPr/>
        </p:nvSpPr>
        <p:spPr>
          <a:xfrm xmlns:a="http://schemas.openxmlformats.org/drawingml/2006/main">
            <a:off x="3219450" y="3762375"/>
            <a:ext cx="2352675"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metric-accent">
            <a:extLst xmlns:a="http://schemas.openxmlformats.org/drawingml/2006/main">
              <a:ext uri="{FF2B5EF4-FFF2-40B4-BE49-F238E27FC236}">
                <a16:creationId xmlns:a16="http://schemas.microsoft.com/office/drawing/2014/main" id="{A37CB742-5FF4-472A-88DA-CDB64E0C6E54}"/>
              </a:ext>
            </a:extLst>
          </p:cNvPr>
          <p:cNvSpPr>
            <a:spLocks xmlns:a="http://schemas.openxmlformats.org/drawingml/2006/main" noGrp="1"/>
          </p:cNvSpPr>
          <p:nvPr/>
        </p:nvSpPr>
        <p:spPr>
          <a:xfrm xmlns:a="http://schemas.openxmlformats.org/drawingml/2006/main">
            <a:off x="3219450" y="3762375"/>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metric-label">
            <a:extLst xmlns:a="http://schemas.openxmlformats.org/drawingml/2006/main">
              <a:ext uri="{FF2B5EF4-FFF2-40B4-BE49-F238E27FC236}">
                <a16:creationId xmlns:a16="http://schemas.microsoft.com/office/drawing/2014/main" id="{7D723D98-F48D-4988-8832-FA89FC718CD1}"/>
              </a:ext>
            </a:extLst>
          </p:cNvPr>
          <p:cNvSpPr>
            <a:spLocks xmlns:a="http://schemas.openxmlformats.org/drawingml/2006/main" noGrp="1"/>
          </p:cNvSpPr>
          <p:nvPr/>
        </p:nvSpPr>
        <p:spPr>
          <a:xfrm xmlns:a="http://schemas.openxmlformats.org/drawingml/2006/main">
            <a:off x="3429000" y="3933825"/>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LINE RATE</a:t>
            </a:r>
          </a:p>
        </p:txBody>
      </p:sp>
      <p:sp>
        <p:nvSpPr>
          <p:cNvPr id="40" name="metric-value">
            <a:extLst xmlns:a="http://schemas.openxmlformats.org/drawingml/2006/main">
              <a:ext uri="{FF2B5EF4-FFF2-40B4-BE49-F238E27FC236}">
                <a16:creationId xmlns:a16="http://schemas.microsoft.com/office/drawing/2014/main" id="{8D981E17-8B34-454D-B975-72A2EC233D7B}"/>
              </a:ext>
            </a:extLst>
          </p:cNvPr>
          <p:cNvSpPr>
            <a:spLocks xmlns:a="http://schemas.openxmlformats.org/drawingml/2006/main" noGrp="1"/>
          </p:cNvSpPr>
          <p:nvPr/>
        </p:nvSpPr>
        <p:spPr>
          <a:xfrm xmlns:a="http://schemas.openxmlformats.org/drawingml/2006/main">
            <a:off x="3429000" y="41719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42.6 kHz</a:t>
            </a:r>
          </a:p>
        </p:txBody>
      </p:sp>
      <p:sp>
        <p:nvSpPr>
          <p:cNvPr id="41" name="metric-sub">
            <a:extLst xmlns:a="http://schemas.openxmlformats.org/drawingml/2006/main">
              <a:ext uri="{FF2B5EF4-FFF2-40B4-BE49-F238E27FC236}">
                <a16:creationId xmlns:a16="http://schemas.microsoft.com/office/drawing/2014/main" id="{B09911F3-1529-4938-BED6-0937AD112443}"/>
              </a:ext>
            </a:extLst>
          </p:cNvPr>
          <p:cNvSpPr>
            <a:spLocks xmlns:a="http://schemas.openxmlformats.org/drawingml/2006/main" noGrp="1"/>
          </p:cNvSpPr>
          <p:nvPr/>
        </p:nvSpPr>
        <p:spPr>
          <a:xfrm xmlns:a="http://schemas.openxmlformats.org/drawingml/2006/main">
            <a:off x="3429000" y="4629150"/>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1.8 m/s ÷ 42.24 µm/px</a:t>
            </a:r>
          </a:p>
        </p:txBody>
      </p:sp>
      <p:sp>
        <p:nvSpPr>
          <p:cNvPr id="42" name="metric">
            <a:extLst xmlns:a="http://schemas.openxmlformats.org/drawingml/2006/main">
              <a:ext uri="{FF2B5EF4-FFF2-40B4-BE49-F238E27FC236}">
                <a16:creationId xmlns:a16="http://schemas.microsoft.com/office/drawing/2014/main" id="{3075A22C-866B-45DB-92B9-9D7E53FCFC6F}"/>
              </a:ext>
            </a:extLst>
          </p:cNvPr>
          <p:cNvSpPr>
            <a:spLocks xmlns:a="http://schemas.openxmlformats.org/drawingml/2006/main" noGrp="1"/>
          </p:cNvSpPr>
          <p:nvPr/>
        </p:nvSpPr>
        <p:spPr>
          <a:xfrm xmlns:a="http://schemas.openxmlformats.org/drawingml/2006/main">
            <a:off x="5753100" y="3762375"/>
            <a:ext cx="2352675"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metric-accent">
            <a:extLst xmlns:a="http://schemas.openxmlformats.org/drawingml/2006/main">
              <a:ext uri="{FF2B5EF4-FFF2-40B4-BE49-F238E27FC236}">
                <a16:creationId xmlns:a16="http://schemas.microsoft.com/office/drawing/2014/main" id="{1F3B1870-5CE1-40E4-A83B-920683A101E5}"/>
              </a:ext>
            </a:extLst>
          </p:cNvPr>
          <p:cNvSpPr>
            <a:spLocks xmlns:a="http://schemas.openxmlformats.org/drawingml/2006/main" noGrp="1"/>
          </p:cNvSpPr>
          <p:nvPr/>
        </p:nvSpPr>
        <p:spPr>
          <a:xfrm xmlns:a="http://schemas.openxmlformats.org/drawingml/2006/main">
            <a:off x="5753100" y="3762375"/>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metric-label">
            <a:extLst xmlns:a="http://schemas.openxmlformats.org/drawingml/2006/main">
              <a:ext uri="{FF2B5EF4-FFF2-40B4-BE49-F238E27FC236}">
                <a16:creationId xmlns:a16="http://schemas.microsoft.com/office/drawing/2014/main" id="{95A44C82-2926-4096-A944-AE98A91CD0D9}"/>
              </a:ext>
            </a:extLst>
          </p:cNvPr>
          <p:cNvSpPr>
            <a:spLocks xmlns:a="http://schemas.openxmlformats.org/drawingml/2006/main" noGrp="1"/>
          </p:cNvSpPr>
          <p:nvPr/>
        </p:nvSpPr>
        <p:spPr>
          <a:xfrm xmlns:a="http://schemas.openxmlformats.org/drawingml/2006/main">
            <a:off x="5962650" y="3933825"/>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OPTICS</a:t>
            </a:r>
          </a:p>
        </p:txBody>
      </p:sp>
      <p:sp>
        <p:nvSpPr>
          <p:cNvPr id="45" name="metric-value">
            <a:extLst xmlns:a="http://schemas.openxmlformats.org/drawingml/2006/main">
              <a:ext uri="{FF2B5EF4-FFF2-40B4-BE49-F238E27FC236}">
                <a16:creationId xmlns:a16="http://schemas.microsoft.com/office/drawing/2014/main" id="{3AB16A7A-D169-416A-BCAE-3B7D87D21C6B}"/>
              </a:ext>
            </a:extLst>
          </p:cNvPr>
          <p:cNvSpPr>
            <a:spLocks xmlns:a="http://schemas.openxmlformats.org/drawingml/2006/main" noGrp="1"/>
          </p:cNvSpPr>
          <p:nvPr/>
        </p:nvSpPr>
        <p:spPr>
          <a:xfrm xmlns:a="http://schemas.openxmlformats.org/drawingml/2006/main">
            <a:off x="5962650" y="41719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M = 0.17</a:t>
            </a:r>
          </a:p>
        </p:txBody>
      </p:sp>
      <p:sp>
        <p:nvSpPr>
          <p:cNvPr id="46" name="metric-sub">
            <a:extLst xmlns:a="http://schemas.openxmlformats.org/drawingml/2006/main">
              <a:ext uri="{FF2B5EF4-FFF2-40B4-BE49-F238E27FC236}">
                <a16:creationId xmlns:a16="http://schemas.microsoft.com/office/drawing/2014/main" id="{7AE45FC3-FD72-4ADF-90CD-F3EA1F712144}"/>
              </a:ext>
            </a:extLst>
          </p:cNvPr>
          <p:cNvSpPr>
            <a:spLocks xmlns:a="http://schemas.openxmlformats.org/drawingml/2006/main" noGrp="1"/>
          </p:cNvSpPr>
          <p:nvPr/>
        </p:nvSpPr>
        <p:spPr>
          <a:xfrm xmlns:a="http://schemas.openxmlformats.org/drawingml/2006/main">
            <a:off x="5962650" y="4629150"/>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2 × 8K line-scan</a:t>
            </a:r>
          </a:p>
        </p:txBody>
      </p:sp>
      <p:sp>
        <p:nvSpPr>
          <p:cNvPr id="47" name="metric">
            <a:extLst xmlns:a="http://schemas.openxmlformats.org/drawingml/2006/main">
              <a:ext uri="{FF2B5EF4-FFF2-40B4-BE49-F238E27FC236}">
                <a16:creationId xmlns:a16="http://schemas.microsoft.com/office/drawing/2014/main" id="{788CE6F0-2C11-4C24-9D6B-4A53E04BEA37}"/>
              </a:ext>
            </a:extLst>
          </p:cNvPr>
          <p:cNvSpPr>
            <a:spLocks xmlns:a="http://schemas.openxmlformats.org/drawingml/2006/main" noGrp="1"/>
          </p:cNvSpPr>
          <p:nvPr/>
        </p:nvSpPr>
        <p:spPr>
          <a:xfrm xmlns:a="http://schemas.openxmlformats.org/drawingml/2006/main">
            <a:off x="8286750" y="3762375"/>
            <a:ext cx="2352675"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metric-accent">
            <a:extLst xmlns:a="http://schemas.openxmlformats.org/drawingml/2006/main">
              <a:ext uri="{FF2B5EF4-FFF2-40B4-BE49-F238E27FC236}">
                <a16:creationId xmlns:a16="http://schemas.microsoft.com/office/drawing/2014/main" id="{6D97476C-C608-428C-A150-2992E6FDDBD0}"/>
              </a:ext>
            </a:extLst>
          </p:cNvPr>
          <p:cNvSpPr>
            <a:spLocks xmlns:a="http://schemas.openxmlformats.org/drawingml/2006/main" noGrp="1"/>
          </p:cNvSpPr>
          <p:nvPr/>
        </p:nvSpPr>
        <p:spPr>
          <a:xfrm xmlns:a="http://schemas.openxmlformats.org/drawingml/2006/main">
            <a:off x="8286750" y="3762375"/>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49" name="metric-label">
            <a:extLst xmlns:a="http://schemas.openxmlformats.org/drawingml/2006/main">
              <a:ext uri="{FF2B5EF4-FFF2-40B4-BE49-F238E27FC236}">
                <a16:creationId xmlns:a16="http://schemas.microsoft.com/office/drawing/2014/main" id="{5F1BB4E5-A7C7-4ECE-AD20-478DCF0568C5}"/>
              </a:ext>
            </a:extLst>
          </p:cNvPr>
          <p:cNvSpPr>
            <a:spLocks xmlns:a="http://schemas.openxmlformats.org/drawingml/2006/main" noGrp="1"/>
          </p:cNvSpPr>
          <p:nvPr/>
        </p:nvSpPr>
        <p:spPr>
          <a:xfrm xmlns:a="http://schemas.openxmlformats.org/drawingml/2006/main">
            <a:off x="8496300" y="3933825"/>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MOTION BLUR</a:t>
            </a:r>
          </a:p>
        </p:txBody>
      </p:sp>
      <p:sp>
        <p:nvSpPr>
          <p:cNvPr id="50" name="metric-value">
            <a:extLst xmlns:a="http://schemas.openxmlformats.org/drawingml/2006/main">
              <a:ext uri="{FF2B5EF4-FFF2-40B4-BE49-F238E27FC236}">
                <a16:creationId xmlns:a16="http://schemas.microsoft.com/office/drawing/2014/main" id="{659D7511-92AA-4D6C-96A3-58CE7256E7F7}"/>
              </a:ext>
            </a:extLst>
          </p:cNvPr>
          <p:cNvSpPr>
            <a:spLocks xmlns:a="http://schemas.openxmlformats.org/drawingml/2006/main" noGrp="1"/>
          </p:cNvSpPr>
          <p:nvPr/>
        </p:nvSpPr>
        <p:spPr>
          <a:xfrm xmlns:a="http://schemas.openxmlformats.org/drawingml/2006/main">
            <a:off x="8496300" y="41719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 0.40 px</a:t>
            </a:r>
          </a:p>
        </p:txBody>
      </p:sp>
      <p:sp>
        <p:nvSpPr>
          <p:cNvPr id="51" name="metric-sub">
            <a:extLst xmlns:a="http://schemas.openxmlformats.org/drawingml/2006/main">
              <a:ext uri="{FF2B5EF4-FFF2-40B4-BE49-F238E27FC236}">
                <a16:creationId xmlns:a16="http://schemas.microsoft.com/office/drawing/2014/main" id="{CFC4003D-2DAF-4A14-8534-94906F950DE2}"/>
              </a:ext>
            </a:extLst>
          </p:cNvPr>
          <p:cNvSpPr>
            <a:spLocks xmlns:a="http://schemas.openxmlformats.org/drawingml/2006/main" noGrp="1"/>
          </p:cNvSpPr>
          <p:nvPr/>
        </p:nvSpPr>
        <p:spPr>
          <a:xfrm xmlns:a="http://schemas.openxmlformats.org/drawingml/2006/main">
            <a:off x="8496300" y="4629150"/>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exposure design limit</a:t>
            </a:r>
          </a:p>
        </p:txBody>
      </p:sp>
      <p:sp>
        <p:nvSpPr>
          <p:cNvPr id="52" name="text">
            <a:extLst xmlns:a="http://schemas.openxmlformats.org/drawingml/2006/main">
              <a:ext uri="{FF2B5EF4-FFF2-40B4-BE49-F238E27FC236}">
                <a16:creationId xmlns:a16="http://schemas.microsoft.com/office/drawing/2014/main" id="{019B7116-5202-43AE-8454-119B1A241B12}"/>
              </a:ext>
            </a:extLst>
          </p:cNvPr>
          <p:cNvSpPr>
            <a:spLocks xmlns:a="http://schemas.openxmlformats.org/drawingml/2006/main" noGrp="1"/>
          </p:cNvSpPr>
          <p:nvPr/>
        </p:nvSpPr>
        <p:spPr>
          <a:xfrm xmlns:a="http://schemas.openxmlformats.org/drawingml/2006/main">
            <a:off x="685800" y="53149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11318"/>
                </a:solidFill>
              </a:defRPr>
            </a:pPr>
            <a:r>
              <a:rPr sz="1500" b="1">
                <a:solidFill>
                  <a:srgbClr val="111318"/>
                </a:solidFill>
              </a:rPr>
              <a:t>Optical budget is a calculable requirement — not a marketing number.</a:t>
            </a:r>
          </a:p>
        </p:txBody>
      </p:sp>
      <p:sp>
        <p:nvSpPr>
          <p:cNvPr id="53" name="Straight Connector 52">
            <a:extLst xmlns:a="http://schemas.openxmlformats.org/drawingml/2006/main">
              <a:ext uri="{FF2B5EF4-FFF2-40B4-BE49-F238E27FC236}">
                <a16:creationId xmlns:a16="http://schemas.microsoft.com/office/drawing/2014/main" id="{1ED6C37F-B2BA-4891-B383-8C2BAFAE39AF}"/>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source">
            <a:extLst xmlns:a="http://schemas.openxmlformats.org/drawingml/2006/main">
              <a:ext uri="{FF2B5EF4-FFF2-40B4-BE49-F238E27FC236}">
                <a16:creationId xmlns:a16="http://schemas.microsoft.com/office/drawing/2014/main" id="{DBEB7AE7-B931-4C81-B68B-F81352FE35AE}"/>
              </a:ext>
            </a:extLst>
          </p:cNvPr>
          <p:cNvSpPr>
            <a:spLocks xmlns:a="http://schemas.openxmlformats.org/drawingml/2006/main" noGrp="1"/>
          </p:cNvSpPr>
          <p:nvPr/>
        </p:nvSpPr>
        <p:spPr>
          <a:xfrm xmlns:a="http://schemas.openxmlformats.org/drawingml/2006/main">
            <a:off x="685800" y="64960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5F6670"/>
                </a:solidFill>
              </a:defRPr>
            </a:pPr>
            <a:r>
              <a:rPr sz="825" b="0">
                <a:solidFill>
                  <a:srgbClr val="5F6670"/>
                </a:solidFill>
              </a:rPr>
              <a:t>Design budget: 50 mm lens, 350 mm WD, 7.04 µm sensor pixels, 650 mm web.</a:t>
            </a:r>
          </a:p>
        </p:txBody>
      </p:sp>
      <p:sp>
        <p:nvSpPr>
          <p:cNvPr id="55" name="page">
            <a:extLst xmlns:a="http://schemas.openxmlformats.org/drawingml/2006/main">
              <a:ext uri="{FF2B5EF4-FFF2-40B4-BE49-F238E27FC236}">
                <a16:creationId xmlns:a16="http://schemas.microsoft.com/office/drawing/2014/main" id="{5C596144-D490-4E1F-9E80-FA83DE48B80C}"/>
              </a:ext>
            </a:extLst>
          </p:cNvPr>
          <p:cNvSpPr>
            <a:spLocks xmlns:a="http://schemas.openxmlformats.org/drawingml/2006/main" noGrp="1"/>
          </p:cNvSpPr>
          <p:nvPr/>
        </p:nvSpPr>
        <p:spPr>
          <a:xfrm xmlns:a="http://schemas.openxmlformats.org/drawingml/2006/main">
            <a:off x="10382250" y="6496050"/>
            <a:ext cx="11239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5F6670"/>
                </a:solidFill>
              </a:defRPr>
            </a:pPr>
            <a:r>
              <a:rPr sz="825" b="1">
                <a:solidFill>
                  <a:srgbClr val="5F6670"/>
                </a:solidFill>
              </a:rPr>
              <a:t>TEAM 71  /  3</a:t>
            </a:r>
          </a:p>
        </p:txBody>
      </p:sp>
    </p:spTree>
    <p:extLst>
      <p:ext uri="{BB962C8B-B14F-4D97-AF65-F5344CB8AC3E}">
        <p14:creationId xmlns:p14="http://schemas.microsoft.com/office/powerpoint/2010/main" val="428674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83D68CEE-4284-4B9A-8BF5-A5977D312D79}"/>
              </a:ext>
            </a:extLst>
          </p:cNvPr>
          <p:cNvSpPr>
            <a:spLocks xmlns:a="http://schemas.openxmlformats.org/drawingml/2006/main" noGrp="1"/>
          </p:cNvSpPr>
          <p:nvPr/>
        </p:nvSpPr>
        <p:spPr>
          <a:xfrm xmlns:a="http://schemas.openxmlformats.org/drawingml/2006/main">
            <a:off x="685800" y="3619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F6670"/>
                </a:solidFill>
              </a:defRPr>
            </a:pPr>
            <a:r>
              <a:rPr sz="975" b="1">
                <a:solidFill>
                  <a:srgbClr val="5F6670"/>
                </a:solidFill>
              </a:rPr>
              <a:t>04  |  2:00–2:45</a:t>
            </a:r>
          </a:p>
        </p:txBody>
      </p:sp>
      <p:sp>
        <p:nvSpPr>
          <p:cNvPr id="2" name="title">
            <a:extLst xmlns:a="http://schemas.openxmlformats.org/drawingml/2006/main">
              <a:ext uri="{FF2B5EF4-FFF2-40B4-BE49-F238E27FC236}">
                <a16:creationId xmlns:a16="http://schemas.microsoft.com/office/drawing/2014/main" id="{60481F25-3095-4204-8515-52E8BFC89C24}"/>
              </a:ext>
            </a:extLst>
          </p:cNvPr>
          <p:cNvSpPr>
            <a:spLocks xmlns:a="http://schemas.openxmlformats.org/drawingml/2006/main" noGrp="1"/>
          </p:cNvSpPr>
          <p:nvPr/>
        </p:nvSpPr>
        <p:spPr>
          <a:xfrm xmlns:a="http://schemas.openxmlformats.org/drawingml/2006/main">
            <a:off x="685800" y="6953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11318"/>
                </a:solidFill>
              </a:defRPr>
            </a:pPr>
            <a:r>
              <a:rPr sz="2775" b="1">
                <a:solidFill>
                  <a:srgbClr val="111318"/>
                </a:solidFill>
              </a:rPr>
              <a:t>Fusion is anchored to material coordinates, not arrival time</a:t>
            </a:r>
          </a:p>
        </p:txBody>
      </p:sp>
      <p:sp>
        <p:nvSpPr>
          <p:cNvPr id="3" name="cn-title">
            <a:extLst xmlns:a="http://schemas.openxmlformats.org/drawingml/2006/main">
              <a:ext uri="{FF2B5EF4-FFF2-40B4-BE49-F238E27FC236}">
                <a16:creationId xmlns:a16="http://schemas.microsoft.com/office/drawing/2014/main" id="{4202A10A-A3D4-4699-8ECA-1D87B532AA4F}"/>
              </a:ext>
            </a:extLst>
          </p:cNvPr>
          <p:cNvSpPr>
            <a:spLocks xmlns:a="http://schemas.openxmlformats.org/drawingml/2006/main" noGrp="1"/>
          </p:cNvSpPr>
          <p:nvPr/>
        </p:nvSpPr>
        <p:spPr>
          <a:xfrm xmlns:a="http://schemas.openxmlformats.org/drawingml/2006/main">
            <a:off x="685800" y="1200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F6670"/>
                </a:solidFill>
              </a:defRPr>
            </a:pPr>
            <a:r>
              <a:rPr sz="1500" b="0">
                <a:solidFill>
                  <a:srgbClr val="5F6670"/>
                </a:solidFill>
              </a:rPr>
              <a:t>多模态融合：锚定材料坐标，而非到达时间</a:t>
            </a:r>
          </a:p>
        </p:txBody>
      </p:sp>
      <p:sp>
        <p:nvSpPr>
          <p:cNvPr id="4" name="Straight Connector 3">
            <a:extLst xmlns:a="http://schemas.openxmlformats.org/drawingml/2006/main">
              <a:ext uri="{FF2B5EF4-FFF2-40B4-BE49-F238E27FC236}">
                <a16:creationId xmlns:a16="http://schemas.microsoft.com/office/drawing/2014/main" id="{6294408C-8B48-43F8-B9D6-8CD4C0EEB65B}"/>
              </a:ext>
            </a:extLst>
          </p:cNvPr>
          <p:cNvSpPr>
            <a:spLocks xmlns:a="http://schemas.openxmlformats.org/drawingml/2006/main" noGrp="1"/>
          </p:cNvSpPr>
          <p:nvPr/>
        </p:nvSpPr>
        <p:spPr>
          <a:xfrm xmlns:a="http://schemas.openxmlformats.org/drawingml/2006/main">
            <a:off x="685800" y="156210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node">
            <a:extLst xmlns:a="http://schemas.openxmlformats.org/drawingml/2006/main">
              <a:ext uri="{FF2B5EF4-FFF2-40B4-BE49-F238E27FC236}">
                <a16:creationId xmlns:a16="http://schemas.microsoft.com/office/drawing/2014/main" id="{6733B903-4407-4377-8B7E-4A84B829A373}"/>
              </a:ext>
            </a:extLst>
          </p:cNvPr>
          <p:cNvSpPr>
            <a:spLocks xmlns:a="http://schemas.openxmlformats.org/drawingml/2006/main" noGrp="1"/>
          </p:cNvSpPr>
          <p:nvPr/>
        </p:nvSpPr>
        <p:spPr>
          <a:xfrm xmlns:a="http://schemas.openxmlformats.org/drawingml/2006/main">
            <a:off x="685800" y="2286000"/>
            <a:ext cx="2000250" cy="11620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node-head">
            <a:extLst xmlns:a="http://schemas.openxmlformats.org/drawingml/2006/main">
              <a:ext uri="{FF2B5EF4-FFF2-40B4-BE49-F238E27FC236}">
                <a16:creationId xmlns:a16="http://schemas.microsoft.com/office/drawing/2014/main" id="{2279C996-07B4-4D43-BAD8-B958FA68CC3A}"/>
              </a:ext>
            </a:extLst>
          </p:cNvPr>
          <p:cNvSpPr>
            <a:spLocks xmlns:a="http://schemas.openxmlformats.org/drawingml/2006/main" noGrp="1"/>
          </p:cNvSpPr>
          <p:nvPr/>
        </p:nvSpPr>
        <p:spPr>
          <a:xfrm xmlns:a="http://schemas.openxmlformats.org/drawingml/2006/main">
            <a:off x="819150" y="2409825"/>
            <a:ext cx="1733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FrameContext</a:t>
            </a:r>
          </a:p>
        </p:txBody>
      </p:sp>
      <p:sp>
        <p:nvSpPr>
          <p:cNvPr id="7" name="node-body">
            <a:extLst xmlns:a="http://schemas.openxmlformats.org/drawingml/2006/main">
              <a:ext uri="{FF2B5EF4-FFF2-40B4-BE49-F238E27FC236}">
                <a16:creationId xmlns:a16="http://schemas.microsoft.com/office/drawing/2014/main" id="{3497FF8A-04D4-4ED9-8ACF-FC4C3D504924}"/>
              </a:ext>
            </a:extLst>
          </p:cNvPr>
          <p:cNvSpPr>
            <a:spLocks xmlns:a="http://schemas.openxmlformats.org/drawingml/2006/main" noGrp="1"/>
          </p:cNvSpPr>
          <p:nvPr/>
        </p:nvSpPr>
        <p:spPr>
          <a:xfrm xmlns:a="http://schemas.openxmlformats.org/drawingml/2006/main">
            <a:off x="819150" y="2657475"/>
            <a:ext cx="173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roll ID</a:t>
            </a:r>
          </a:p>
          <a:p xmlns:a="http://schemas.openxmlformats.org/drawingml/2006/main">
            <a:pPr algn="l">
              <a:buNone/>
              <a:defRPr sz="975" b="0">
                <a:solidFill>
                  <a:srgbClr val="5F6670"/>
                </a:solidFill>
              </a:defRPr>
            </a:pPr>
            <a:r>
              <a:rPr sz="975" b="0">
                <a:solidFill>
                  <a:srgbClr val="5F6670"/>
                </a:solidFill>
              </a:rPr>
              <a:t>encoder pulse at capture</a:t>
            </a:r>
          </a:p>
          <a:p xmlns:a="http://schemas.openxmlformats.org/drawingml/2006/main">
            <a:pPr algn="l">
              <a:buNone/>
              <a:defRPr sz="975" b="0">
                <a:solidFill>
                  <a:srgbClr val="5F6670"/>
                </a:solidFill>
              </a:defRPr>
            </a:pPr>
            <a:r>
              <a:rPr sz="975" b="0">
                <a:solidFill>
                  <a:srgbClr val="5F6670"/>
                </a:solidFill>
              </a:rPr>
              <a:t>monotonic timestamp</a:t>
            </a:r>
          </a:p>
        </p:txBody>
      </p:sp>
      <p:sp>
        <p:nvSpPr>
          <p:cNvPr id="8" name="node">
            <a:extLst xmlns:a="http://schemas.openxmlformats.org/drawingml/2006/main">
              <a:ext uri="{FF2B5EF4-FFF2-40B4-BE49-F238E27FC236}">
                <a16:creationId xmlns:a16="http://schemas.microsoft.com/office/drawing/2014/main" id="{D4EFBCB3-89E6-4930-81BE-C283112D39FD}"/>
              </a:ext>
            </a:extLst>
          </p:cNvPr>
          <p:cNvSpPr>
            <a:spLocks xmlns:a="http://schemas.openxmlformats.org/drawingml/2006/main" noGrp="1"/>
          </p:cNvSpPr>
          <p:nvPr/>
        </p:nvSpPr>
        <p:spPr>
          <a:xfrm xmlns:a="http://schemas.openxmlformats.org/drawingml/2006/main">
            <a:off x="3619500" y="2095500"/>
            <a:ext cx="1857375"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node-head">
            <a:extLst xmlns:a="http://schemas.openxmlformats.org/drawingml/2006/main">
              <a:ext uri="{FF2B5EF4-FFF2-40B4-BE49-F238E27FC236}">
                <a16:creationId xmlns:a16="http://schemas.microsoft.com/office/drawing/2014/main" id="{C8CC2990-1810-42A9-ADAE-B0C9E81AEEAE}"/>
              </a:ext>
            </a:extLst>
          </p:cNvPr>
          <p:cNvSpPr>
            <a:spLocks xmlns:a="http://schemas.openxmlformats.org/drawingml/2006/main" noGrp="1"/>
          </p:cNvSpPr>
          <p:nvPr/>
        </p:nvSpPr>
        <p:spPr>
          <a:xfrm xmlns:a="http://schemas.openxmlformats.org/drawingml/2006/main">
            <a:off x="3752850" y="2219325"/>
            <a:ext cx="1590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RGB</a:t>
            </a:r>
          </a:p>
        </p:txBody>
      </p:sp>
      <p:sp>
        <p:nvSpPr>
          <p:cNvPr id="10" name="node-body">
            <a:extLst xmlns:a="http://schemas.openxmlformats.org/drawingml/2006/main">
              <a:ext uri="{FF2B5EF4-FFF2-40B4-BE49-F238E27FC236}">
                <a16:creationId xmlns:a16="http://schemas.microsoft.com/office/drawing/2014/main" id="{413DEDFF-D27B-4A6E-9FA8-5862917750E7}"/>
              </a:ext>
            </a:extLst>
          </p:cNvPr>
          <p:cNvSpPr>
            <a:spLocks xmlns:a="http://schemas.openxmlformats.org/drawingml/2006/main" noGrp="1"/>
          </p:cNvSpPr>
          <p:nvPr/>
        </p:nvSpPr>
        <p:spPr>
          <a:xfrm xmlns:a="http://schemas.openxmlformats.org/drawingml/2006/main">
            <a:off x="3752850" y="2466975"/>
            <a:ext cx="1590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surface texture</a:t>
            </a:r>
          </a:p>
        </p:txBody>
      </p:sp>
      <p:sp>
        <p:nvSpPr>
          <p:cNvPr id="11" name="node">
            <a:extLst xmlns:a="http://schemas.openxmlformats.org/drawingml/2006/main">
              <a:ext uri="{FF2B5EF4-FFF2-40B4-BE49-F238E27FC236}">
                <a16:creationId xmlns:a16="http://schemas.microsoft.com/office/drawing/2014/main" id="{D949189C-B31E-4D54-B499-1FF8523B1C7F}"/>
              </a:ext>
            </a:extLst>
          </p:cNvPr>
          <p:cNvSpPr>
            <a:spLocks xmlns:a="http://schemas.openxmlformats.org/drawingml/2006/main" noGrp="1"/>
          </p:cNvSpPr>
          <p:nvPr/>
        </p:nvSpPr>
        <p:spPr>
          <a:xfrm xmlns:a="http://schemas.openxmlformats.org/drawingml/2006/main">
            <a:off x="3619500" y="3009900"/>
            <a:ext cx="1857375"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node-head">
            <a:extLst xmlns:a="http://schemas.openxmlformats.org/drawingml/2006/main">
              <a:ext uri="{FF2B5EF4-FFF2-40B4-BE49-F238E27FC236}">
                <a16:creationId xmlns:a16="http://schemas.microsoft.com/office/drawing/2014/main" id="{7D5510EC-5DF7-4138-BD03-475F7E9BD1AE}"/>
              </a:ext>
            </a:extLst>
          </p:cNvPr>
          <p:cNvSpPr>
            <a:spLocks xmlns:a="http://schemas.openxmlformats.org/drawingml/2006/main" noGrp="1"/>
          </p:cNvSpPr>
          <p:nvPr/>
        </p:nvSpPr>
        <p:spPr>
          <a:xfrm xmlns:a="http://schemas.openxmlformats.org/drawingml/2006/main">
            <a:off x="3752850" y="3133725"/>
            <a:ext cx="1590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Traveling-wave thermal</a:t>
            </a:r>
          </a:p>
        </p:txBody>
      </p:sp>
      <p:sp>
        <p:nvSpPr>
          <p:cNvPr id="13" name="node-body">
            <a:extLst xmlns:a="http://schemas.openxmlformats.org/drawingml/2006/main">
              <a:ext uri="{FF2B5EF4-FFF2-40B4-BE49-F238E27FC236}">
                <a16:creationId xmlns:a16="http://schemas.microsoft.com/office/drawing/2014/main" id="{F678C42B-A43F-4B7E-8666-73E5B430AFC4}"/>
              </a:ext>
            </a:extLst>
          </p:cNvPr>
          <p:cNvSpPr>
            <a:spLocks xmlns:a="http://schemas.openxmlformats.org/drawingml/2006/main" noGrp="1"/>
          </p:cNvSpPr>
          <p:nvPr/>
        </p:nvSpPr>
        <p:spPr>
          <a:xfrm xmlns:a="http://schemas.openxmlformats.org/drawingml/2006/main">
            <a:off x="3752850" y="3381375"/>
            <a:ext cx="1590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phase / subsurface response</a:t>
            </a:r>
          </a:p>
        </p:txBody>
      </p:sp>
      <p:sp>
        <p:nvSpPr>
          <p:cNvPr id="14" name="node">
            <a:extLst xmlns:a="http://schemas.openxmlformats.org/drawingml/2006/main">
              <a:ext uri="{FF2B5EF4-FFF2-40B4-BE49-F238E27FC236}">
                <a16:creationId xmlns:a16="http://schemas.microsoft.com/office/drawing/2014/main" id="{B4643E73-CD90-46B9-9C9F-3AF4E8EA77D3}"/>
              </a:ext>
            </a:extLst>
          </p:cNvPr>
          <p:cNvSpPr>
            <a:spLocks xmlns:a="http://schemas.openxmlformats.org/drawingml/2006/main" noGrp="1"/>
          </p:cNvSpPr>
          <p:nvPr/>
        </p:nvSpPr>
        <p:spPr>
          <a:xfrm xmlns:a="http://schemas.openxmlformats.org/drawingml/2006/main">
            <a:off x="3619500" y="3924300"/>
            <a:ext cx="1857375"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node-head">
            <a:extLst xmlns:a="http://schemas.openxmlformats.org/drawingml/2006/main">
              <a:ext uri="{FF2B5EF4-FFF2-40B4-BE49-F238E27FC236}">
                <a16:creationId xmlns:a16="http://schemas.microsoft.com/office/drawing/2014/main" id="{7284B682-EB31-4DB5-9656-796EEFBE9024}"/>
              </a:ext>
            </a:extLst>
          </p:cNvPr>
          <p:cNvSpPr>
            <a:spLocks xmlns:a="http://schemas.openxmlformats.org/drawingml/2006/main" noGrp="1"/>
          </p:cNvSpPr>
          <p:nvPr/>
        </p:nvSpPr>
        <p:spPr>
          <a:xfrm xmlns:a="http://schemas.openxmlformats.org/drawingml/2006/main">
            <a:off x="3752850" y="4048125"/>
            <a:ext cx="1590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Laser 3D</a:t>
            </a:r>
          </a:p>
        </p:txBody>
      </p:sp>
      <p:sp>
        <p:nvSpPr>
          <p:cNvPr id="16" name="node-body">
            <a:extLst xmlns:a="http://schemas.openxmlformats.org/drawingml/2006/main">
              <a:ext uri="{FF2B5EF4-FFF2-40B4-BE49-F238E27FC236}">
                <a16:creationId xmlns:a16="http://schemas.microsoft.com/office/drawing/2014/main" id="{66B44623-119C-4E48-B37D-EF72F8ABFAFD}"/>
              </a:ext>
            </a:extLst>
          </p:cNvPr>
          <p:cNvSpPr>
            <a:spLocks xmlns:a="http://schemas.openxmlformats.org/drawingml/2006/main" noGrp="1"/>
          </p:cNvSpPr>
          <p:nvPr/>
        </p:nvSpPr>
        <p:spPr>
          <a:xfrm xmlns:a="http://schemas.openxmlformats.org/drawingml/2006/main">
            <a:off x="3752850" y="4295775"/>
            <a:ext cx="1590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height / topology</a:t>
            </a:r>
          </a:p>
        </p:txBody>
      </p:sp>
      <p:sp>
        <p:nvSpPr>
          <p:cNvPr id="17" name="node">
            <a:extLst xmlns:a="http://schemas.openxmlformats.org/drawingml/2006/main">
              <a:ext uri="{FF2B5EF4-FFF2-40B4-BE49-F238E27FC236}">
                <a16:creationId xmlns:a16="http://schemas.microsoft.com/office/drawing/2014/main" id="{D7FCB003-E8D5-4CBC-8F0E-7BEE76328FC6}"/>
              </a:ext>
            </a:extLst>
          </p:cNvPr>
          <p:cNvSpPr>
            <a:spLocks xmlns:a="http://schemas.openxmlformats.org/drawingml/2006/main" noGrp="1"/>
          </p:cNvSpPr>
          <p:nvPr/>
        </p:nvSpPr>
        <p:spPr>
          <a:xfrm xmlns:a="http://schemas.openxmlformats.org/drawingml/2006/main">
            <a:off x="6619875" y="2724150"/>
            <a:ext cx="185737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node-head">
            <a:extLst xmlns:a="http://schemas.openxmlformats.org/drawingml/2006/main">
              <a:ext uri="{FF2B5EF4-FFF2-40B4-BE49-F238E27FC236}">
                <a16:creationId xmlns:a16="http://schemas.microsoft.com/office/drawing/2014/main" id="{27B584B3-E87B-41BD-8D39-21AF1577D399}"/>
              </a:ext>
            </a:extLst>
          </p:cNvPr>
          <p:cNvSpPr>
            <a:spLocks xmlns:a="http://schemas.openxmlformats.org/drawingml/2006/main" noGrp="1"/>
          </p:cNvSpPr>
          <p:nvPr/>
        </p:nvSpPr>
        <p:spPr>
          <a:xfrm xmlns:a="http://schemas.openxmlformats.org/drawingml/2006/main">
            <a:off x="6753225" y="2847975"/>
            <a:ext cx="1590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5-layer tensor</a:t>
            </a:r>
          </a:p>
        </p:txBody>
      </p:sp>
      <p:sp>
        <p:nvSpPr>
          <p:cNvPr id="19" name="node-body">
            <a:extLst xmlns:a="http://schemas.openxmlformats.org/drawingml/2006/main">
              <a:ext uri="{FF2B5EF4-FFF2-40B4-BE49-F238E27FC236}">
                <a16:creationId xmlns:a16="http://schemas.microsoft.com/office/drawing/2014/main" id="{10C1D336-3435-4117-8ECA-D3ED4271829F}"/>
              </a:ext>
            </a:extLst>
          </p:cNvPr>
          <p:cNvSpPr>
            <a:spLocks xmlns:a="http://schemas.openxmlformats.org/drawingml/2006/main" noGrp="1"/>
          </p:cNvSpPr>
          <p:nvPr/>
        </p:nvSpPr>
        <p:spPr>
          <a:xfrm xmlns:a="http://schemas.openxmlformats.org/drawingml/2006/main">
            <a:off x="6753225" y="3095625"/>
            <a:ext cx="15906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[R, G, B, ΔT/phase, Z]</a:t>
            </a:r>
          </a:p>
          <a:p xmlns:a="http://schemas.openxmlformats.org/drawingml/2006/main">
            <a:pPr algn="l">
              <a:buNone/>
              <a:defRPr sz="975" b="0">
                <a:solidFill>
                  <a:srgbClr val="5F6670"/>
                </a:solidFill>
              </a:defRPr>
            </a:pPr>
            <a:r>
              <a:rPr sz="975" b="0">
                <a:solidFill>
                  <a:srgbClr val="5F6670"/>
                </a:solidFill>
              </a:rPr>
              <a:t>spatial warp + quality flags</a:t>
            </a:r>
          </a:p>
        </p:txBody>
      </p:sp>
      <p:sp>
        <p:nvSpPr>
          <p:cNvPr id="20" name="node">
            <a:extLst xmlns:a="http://schemas.openxmlformats.org/drawingml/2006/main">
              <a:ext uri="{FF2B5EF4-FFF2-40B4-BE49-F238E27FC236}">
                <a16:creationId xmlns:a16="http://schemas.microsoft.com/office/drawing/2014/main" id="{170380CB-BA0B-4E9B-ABCD-A737F15AF24B}"/>
              </a:ext>
            </a:extLst>
          </p:cNvPr>
          <p:cNvSpPr>
            <a:spLocks xmlns:a="http://schemas.openxmlformats.org/drawingml/2006/main" noGrp="1"/>
          </p:cNvSpPr>
          <p:nvPr/>
        </p:nvSpPr>
        <p:spPr>
          <a:xfrm xmlns:a="http://schemas.openxmlformats.org/drawingml/2006/main">
            <a:off x="9563100" y="2724150"/>
            <a:ext cx="1809750" cy="12001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node-head">
            <a:extLst xmlns:a="http://schemas.openxmlformats.org/drawingml/2006/main">
              <a:ext uri="{FF2B5EF4-FFF2-40B4-BE49-F238E27FC236}">
                <a16:creationId xmlns:a16="http://schemas.microsoft.com/office/drawing/2014/main" id="{EA8F7A11-80FA-40F7-B72B-6E6355BB1223}"/>
              </a:ext>
            </a:extLst>
          </p:cNvPr>
          <p:cNvSpPr>
            <a:spLocks xmlns:a="http://schemas.openxmlformats.org/drawingml/2006/main" noGrp="1"/>
          </p:cNvSpPr>
          <p:nvPr/>
        </p:nvSpPr>
        <p:spPr>
          <a:xfrm xmlns:a="http://schemas.openxmlformats.org/drawingml/2006/main">
            <a:off x="9696450" y="2847975"/>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Decision event</a:t>
            </a:r>
          </a:p>
        </p:txBody>
      </p:sp>
      <p:sp>
        <p:nvSpPr>
          <p:cNvPr id="22" name="node-body">
            <a:extLst xmlns:a="http://schemas.openxmlformats.org/drawingml/2006/main">
              <a:ext uri="{FF2B5EF4-FFF2-40B4-BE49-F238E27FC236}">
                <a16:creationId xmlns:a16="http://schemas.microsoft.com/office/drawing/2014/main" id="{825CD24E-77FB-4720-BF1D-23F7B475D672}"/>
              </a:ext>
            </a:extLst>
          </p:cNvPr>
          <p:cNvSpPr>
            <a:spLocks xmlns:a="http://schemas.openxmlformats.org/drawingml/2006/main" noGrp="1"/>
          </p:cNvSpPr>
          <p:nvPr/>
        </p:nvSpPr>
        <p:spPr>
          <a:xfrm xmlns:a="http://schemas.openxmlformats.org/drawingml/2006/main">
            <a:off x="9696450" y="3095625"/>
            <a:ext cx="1543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X_m · Y_mm · lane</a:t>
            </a:r>
          </a:p>
          <a:p xmlns:a="http://schemas.openxmlformats.org/drawingml/2006/main">
            <a:pPr algn="l">
              <a:buNone/>
              <a:defRPr sz="975" b="0">
                <a:solidFill>
                  <a:srgbClr val="5F6670"/>
                </a:solidFill>
              </a:defRPr>
            </a:pPr>
            <a:r>
              <a:rPr sz="975" b="0">
                <a:solidFill>
                  <a:srgbClr val="5F6670"/>
                </a:solidFill>
              </a:rPr>
              <a:t>confidence · disposition</a:t>
            </a:r>
          </a:p>
        </p:txBody>
      </p:sp>
      <p:cxnSp>
        <p:nvCxnSpPr>
          <p:cNvPr id="85" name="Straight Arrow Connector 55"/>
          <p:cNvCxnSpPr>
            <a:stCxn xmlns:a="http://schemas.openxmlformats.org/drawingml/2006/main" id="5" idx="3"/>
            <a:endCxn xmlns:a="http://schemas.openxmlformats.org/drawingml/2006/main" id="8" idx="1"/>
          </p:cNvCxnSpPr>
          <p:nvPr/>
        </p:nvCxnSpPr>
        <p:spPr>
          <a:xfrm xmlns:a="http://schemas.openxmlformats.org/drawingml/2006/main" flipV="1">
            <a:off x="2686050" y="2447925"/>
            <a:ext cx="933450" cy="41910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cxnSp>
        <p:nvCxnSpPr>
          <p:cNvPr id="86" name="Straight Arrow Connector 56"/>
          <p:cNvCxnSpPr>
            <a:stCxn xmlns:a="http://schemas.openxmlformats.org/drawingml/2006/main" id="5" idx="3"/>
            <a:endCxn xmlns:a="http://schemas.openxmlformats.org/drawingml/2006/main" id="11" idx="1"/>
          </p:cNvCxnSpPr>
          <p:nvPr/>
        </p:nvCxnSpPr>
        <p:spPr>
          <a:xfrm xmlns:a="http://schemas.openxmlformats.org/drawingml/2006/main">
            <a:off x="2686050" y="2867025"/>
            <a:ext cx="933450" cy="49530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cxnSp>
        <p:nvCxnSpPr>
          <p:cNvPr id="87" name="Straight Arrow Connector 57"/>
          <p:cNvCxnSpPr>
            <a:stCxn xmlns:a="http://schemas.openxmlformats.org/drawingml/2006/main" id="5" idx="3"/>
            <a:endCxn xmlns:a="http://schemas.openxmlformats.org/drawingml/2006/main" id="14" idx="1"/>
          </p:cNvCxnSpPr>
          <p:nvPr/>
        </p:nvCxnSpPr>
        <p:spPr>
          <a:xfrm xmlns:a="http://schemas.openxmlformats.org/drawingml/2006/main">
            <a:off x="2686050" y="2867025"/>
            <a:ext cx="933450" cy="140970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cxnSp>
        <p:nvCxnSpPr>
          <p:cNvPr id="88" name="Straight Arrow Connector 58"/>
          <p:cNvCxnSpPr>
            <a:stCxn xmlns:a="http://schemas.openxmlformats.org/drawingml/2006/main" id="8" idx="3"/>
            <a:endCxn xmlns:a="http://schemas.openxmlformats.org/drawingml/2006/main" id="17" idx="1"/>
          </p:cNvCxnSpPr>
          <p:nvPr/>
        </p:nvCxnSpPr>
        <p:spPr>
          <a:xfrm xmlns:a="http://schemas.openxmlformats.org/drawingml/2006/main">
            <a:off x="5476875" y="2447925"/>
            <a:ext cx="1143000" cy="87630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cxnSp>
        <p:nvCxnSpPr>
          <p:cNvPr id="89" name="Straight Arrow Connector 59"/>
          <p:cNvCxnSpPr>
            <a:stCxn xmlns:a="http://schemas.openxmlformats.org/drawingml/2006/main" id="11" idx="3"/>
            <a:endCxn xmlns:a="http://schemas.openxmlformats.org/drawingml/2006/main" id="17" idx="1"/>
          </p:cNvCxnSpPr>
          <p:nvPr/>
        </p:nvCxnSpPr>
        <p:spPr>
          <a:xfrm xmlns:a="http://schemas.openxmlformats.org/drawingml/2006/main" flipV="1">
            <a:off x="5476875" y="3324225"/>
            <a:ext cx="1143000" cy="3810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cxnSp>
        <p:nvCxnSpPr>
          <p:cNvPr id="90" name="Straight Arrow Connector 60"/>
          <p:cNvCxnSpPr>
            <a:stCxn xmlns:a="http://schemas.openxmlformats.org/drawingml/2006/main" id="14" idx="3"/>
            <a:endCxn xmlns:a="http://schemas.openxmlformats.org/drawingml/2006/main" id="17" idx="1"/>
          </p:cNvCxnSpPr>
          <p:nvPr/>
        </p:nvCxnSpPr>
        <p:spPr>
          <a:xfrm xmlns:a="http://schemas.openxmlformats.org/drawingml/2006/main" flipV="1">
            <a:off x="5476875" y="3324225"/>
            <a:ext cx="1143000" cy="95250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cxnSp>
        <p:nvCxnSpPr>
          <p:cNvPr id="91" name="Straight Arrow Connector 61"/>
          <p:cNvCxnSpPr>
            <a:stCxn xmlns:a="http://schemas.openxmlformats.org/drawingml/2006/main" id="17" idx="3"/>
            <a:endCxn xmlns:a="http://schemas.openxmlformats.org/drawingml/2006/main" id="20" idx="1"/>
          </p:cNvCxnSpPr>
          <p:nvPr/>
        </p:nvCxnSpPr>
        <p:spPr>
          <a:xfrm xmlns:a="http://schemas.openxmlformats.org/drawingml/2006/main">
            <a:off x="8477250" y="3324225"/>
            <a:ext cx="1085850"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sp>
        <p:nvSpPr>
          <p:cNvPr id="30" name="text">
            <a:extLst xmlns:a="http://schemas.openxmlformats.org/drawingml/2006/main">
              <a:ext uri="{FF2B5EF4-FFF2-40B4-BE49-F238E27FC236}">
                <a16:creationId xmlns:a16="http://schemas.microsoft.com/office/drawing/2014/main" id="{4A3424C7-6E7D-4C53-80A4-24BB80158BBC}"/>
              </a:ext>
            </a:extLst>
          </p:cNvPr>
          <p:cNvSpPr>
            <a:spLocks xmlns:a="http://schemas.openxmlformats.org/drawingml/2006/main" noGrp="1"/>
          </p:cNvSpPr>
          <p:nvPr/>
        </p:nvSpPr>
        <p:spPr>
          <a:xfrm xmlns:a="http://schemas.openxmlformats.org/drawingml/2006/main">
            <a:off x="685800" y="5286375"/>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11318"/>
                </a:solidFill>
              </a:defRPr>
            </a:pPr>
            <a:r>
              <a:rPr sz="1425" b="1">
                <a:solidFill>
                  <a:srgbClr val="111318"/>
                </a:solidFill>
              </a:rPr>
              <a:t>FrameContext preserves the web position at photon capture; downstream latency cannot shift the defect coordinate.</a:t>
            </a:r>
          </a:p>
        </p:txBody>
      </p:sp>
      <p:sp>
        <p:nvSpPr>
          <p:cNvPr id="31" name="Straight Connector 30">
            <a:extLst xmlns:a="http://schemas.openxmlformats.org/drawingml/2006/main">
              <a:ext uri="{FF2B5EF4-FFF2-40B4-BE49-F238E27FC236}">
                <a16:creationId xmlns:a16="http://schemas.microsoft.com/office/drawing/2014/main" id="{B6628FB7-EC2D-438D-A47C-3B19DE8BCBC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source">
            <a:extLst xmlns:a="http://schemas.openxmlformats.org/drawingml/2006/main">
              <a:ext uri="{FF2B5EF4-FFF2-40B4-BE49-F238E27FC236}">
                <a16:creationId xmlns:a16="http://schemas.microsoft.com/office/drawing/2014/main" id="{4776CD9E-C726-4FDE-A39C-70CFA6212482}"/>
              </a:ext>
            </a:extLst>
          </p:cNvPr>
          <p:cNvSpPr>
            <a:spLocks xmlns:a="http://schemas.openxmlformats.org/drawingml/2006/main" noGrp="1"/>
          </p:cNvSpPr>
          <p:nvPr/>
        </p:nvSpPr>
        <p:spPr>
          <a:xfrm xmlns:a="http://schemas.openxmlformats.org/drawingml/2006/main">
            <a:off x="685800" y="64960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5F6670"/>
                </a:solidFill>
              </a:defRPr>
            </a:pPr>
            <a:r>
              <a:rPr sz="825" b="0">
                <a:solidFill>
                  <a:srgbClr val="5F6670"/>
                </a:solidFill>
              </a:rPr>
              <a:t>Temporal anchoring is implemented in the prototype; real sensor streams remain a pilot integration gate.</a:t>
            </a:r>
          </a:p>
        </p:txBody>
      </p:sp>
      <p:sp>
        <p:nvSpPr>
          <p:cNvPr id="33" name="page">
            <a:extLst xmlns:a="http://schemas.openxmlformats.org/drawingml/2006/main">
              <a:ext uri="{FF2B5EF4-FFF2-40B4-BE49-F238E27FC236}">
                <a16:creationId xmlns:a16="http://schemas.microsoft.com/office/drawing/2014/main" id="{EF097105-40A6-4121-B1B6-FE922FBB5792}"/>
              </a:ext>
            </a:extLst>
          </p:cNvPr>
          <p:cNvSpPr>
            <a:spLocks xmlns:a="http://schemas.openxmlformats.org/drawingml/2006/main" noGrp="1"/>
          </p:cNvSpPr>
          <p:nvPr/>
        </p:nvSpPr>
        <p:spPr>
          <a:xfrm xmlns:a="http://schemas.openxmlformats.org/drawingml/2006/main">
            <a:off x="10382250" y="6496050"/>
            <a:ext cx="11239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5F6670"/>
                </a:solidFill>
              </a:defRPr>
            </a:pPr>
            <a:r>
              <a:rPr sz="825" b="1">
                <a:solidFill>
                  <a:srgbClr val="5F6670"/>
                </a:solidFill>
              </a:rPr>
              <a:t>TEAM 71  /  4</a:t>
            </a:r>
          </a:p>
        </p:txBody>
      </p:sp>
    </p:spTree>
    <p:extLst>
      <p:ext uri="{BB962C8B-B14F-4D97-AF65-F5344CB8AC3E}">
        <p14:creationId xmlns:p14="http://schemas.microsoft.com/office/powerpoint/2010/main" val="14138273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D2889611-AAF6-4A5E-8E05-1785A4129EFA}"/>
              </a:ext>
            </a:extLst>
          </p:cNvPr>
          <p:cNvSpPr>
            <a:spLocks xmlns:a="http://schemas.openxmlformats.org/drawingml/2006/main" noGrp="1"/>
          </p:cNvSpPr>
          <p:nvPr/>
        </p:nvSpPr>
        <p:spPr>
          <a:xfrm xmlns:a="http://schemas.openxmlformats.org/drawingml/2006/main">
            <a:off x="685800" y="3619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F6670"/>
                </a:solidFill>
              </a:defRPr>
            </a:pPr>
            <a:r>
              <a:rPr sz="975" b="1">
                <a:solidFill>
                  <a:srgbClr val="5F6670"/>
                </a:solidFill>
              </a:rPr>
              <a:t>05  |  2:45–3:35</a:t>
            </a:r>
          </a:p>
        </p:txBody>
      </p:sp>
      <p:sp>
        <p:nvSpPr>
          <p:cNvPr id="2" name="title">
            <a:extLst xmlns:a="http://schemas.openxmlformats.org/drawingml/2006/main">
              <a:ext uri="{FF2B5EF4-FFF2-40B4-BE49-F238E27FC236}">
                <a16:creationId xmlns:a16="http://schemas.microsoft.com/office/drawing/2014/main" id="{26DD4616-151B-44A2-9BF4-DD1368341887}"/>
              </a:ext>
            </a:extLst>
          </p:cNvPr>
          <p:cNvSpPr>
            <a:spLocks xmlns:a="http://schemas.openxmlformats.org/drawingml/2006/main" noGrp="1"/>
          </p:cNvSpPr>
          <p:nvPr/>
        </p:nvSpPr>
        <p:spPr>
          <a:xfrm xmlns:a="http://schemas.openxmlformats.org/drawingml/2006/main">
            <a:off x="685800" y="6953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11318"/>
                </a:solidFill>
              </a:defRPr>
            </a:pPr>
            <a:r>
              <a:rPr sz="2775" b="1">
                <a:solidFill>
                  <a:srgbClr val="111318"/>
                </a:solidFill>
              </a:rPr>
              <a:t>A mask becomes a guard-banded measurement record</a:t>
            </a:r>
          </a:p>
        </p:txBody>
      </p:sp>
      <p:sp>
        <p:nvSpPr>
          <p:cNvPr id="3" name="cn-title">
            <a:extLst xmlns:a="http://schemas.openxmlformats.org/drawingml/2006/main">
              <a:ext uri="{FF2B5EF4-FFF2-40B4-BE49-F238E27FC236}">
                <a16:creationId xmlns:a16="http://schemas.microsoft.com/office/drawing/2014/main" id="{1684E8D0-2E59-4D3A-BFFC-6656F3B7CEF8}"/>
              </a:ext>
            </a:extLst>
          </p:cNvPr>
          <p:cNvSpPr>
            <a:spLocks xmlns:a="http://schemas.openxmlformats.org/drawingml/2006/main" noGrp="1"/>
          </p:cNvSpPr>
          <p:nvPr/>
        </p:nvSpPr>
        <p:spPr>
          <a:xfrm xmlns:a="http://schemas.openxmlformats.org/drawingml/2006/main">
            <a:off x="685800" y="1200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F6670"/>
                </a:solidFill>
              </a:defRPr>
            </a:pPr>
            <a:r>
              <a:rPr sz="1500" b="0">
                <a:solidFill>
                  <a:srgbClr val="5F6670"/>
                </a:solidFill>
              </a:rPr>
              <a:t>从分割掩膜到带防护带的测量记录</a:t>
            </a:r>
          </a:p>
        </p:txBody>
      </p:sp>
      <p:sp>
        <p:nvSpPr>
          <p:cNvPr id="4" name="Straight Connector 3">
            <a:extLst xmlns:a="http://schemas.openxmlformats.org/drawingml/2006/main">
              <a:ext uri="{FF2B5EF4-FFF2-40B4-BE49-F238E27FC236}">
                <a16:creationId xmlns:a16="http://schemas.microsoft.com/office/drawing/2014/main" id="{5D7619A4-A820-4625-A538-B568375DD651}"/>
              </a:ext>
            </a:extLst>
          </p:cNvPr>
          <p:cNvSpPr>
            <a:spLocks xmlns:a="http://schemas.openxmlformats.org/drawingml/2006/main" noGrp="1"/>
          </p:cNvSpPr>
          <p:nvPr/>
        </p:nvSpPr>
        <p:spPr>
          <a:xfrm xmlns:a="http://schemas.openxmlformats.org/drawingml/2006/main">
            <a:off x="685800" y="156210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
            <a:extLst xmlns:a="http://schemas.openxmlformats.org/drawingml/2006/main">
              <a:ext uri="{FF2B5EF4-FFF2-40B4-BE49-F238E27FC236}">
                <a16:creationId xmlns:a16="http://schemas.microsoft.com/office/drawing/2014/main" id="{028C5AA7-395B-489F-9F97-B236809AAA85}"/>
              </a:ext>
            </a:extLst>
          </p:cNvPr>
          <p:cNvSpPr>
            <a:spLocks xmlns:a="http://schemas.openxmlformats.org/drawingml/2006/main" noGrp="1"/>
          </p:cNvSpPr>
          <p:nvPr/>
        </p:nvSpPr>
        <p:spPr>
          <a:xfrm xmlns:a="http://schemas.openxmlformats.org/drawingml/2006/main">
            <a:off x="685800" y="2085975"/>
            <a:ext cx="7286625" cy="45720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BF6FC32A-6736-4FEA-9435-BA77071DDE6B}"/>
              </a:ext>
            </a:extLst>
          </p:cNvPr>
          <p:cNvSpPr>
            <a:spLocks xmlns:a="http://schemas.openxmlformats.org/drawingml/2006/main" noGrp="1"/>
          </p:cNvSpPr>
          <p:nvPr/>
        </p:nvSpPr>
        <p:spPr>
          <a:xfrm xmlns:a="http://schemas.openxmlformats.org/drawingml/2006/main">
            <a:off x="838200" y="2219325"/>
            <a:ext cx="15621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1  Geometry</a:t>
            </a:r>
          </a:p>
        </p:txBody>
      </p:sp>
      <p:sp>
        <p:nvSpPr>
          <p:cNvPr id="7" name="text">
            <a:extLst xmlns:a="http://schemas.openxmlformats.org/drawingml/2006/main">
              <a:ext uri="{FF2B5EF4-FFF2-40B4-BE49-F238E27FC236}">
                <a16:creationId xmlns:a16="http://schemas.microsoft.com/office/drawing/2014/main" id="{0AE5A5C1-52B5-475F-A8E8-07B098CAC709}"/>
              </a:ext>
            </a:extLst>
          </p:cNvPr>
          <p:cNvSpPr>
            <a:spLocks xmlns:a="http://schemas.openxmlformats.org/drawingml/2006/main" noGrp="1"/>
          </p:cNvSpPr>
          <p:nvPr/>
        </p:nvSpPr>
        <p:spPr>
          <a:xfrm xmlns:a="http://schemas.openxmlformats.org/drawingml/2006/main">
            <a:off x="2638425" y="2219325"/>
            <a:ext cx="5048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318"/>
                </a:solidFill>
              </a:defRPr>
            </a:pPr>
            <a:r>
              <a:rPr sz="1200" b="0">
                <a:solidFill>
                  <a:srgbClr val="111318"/>
                </a:solidFill>
              </a:rPr>
              <a:t>minAreaRect · web angle · area</a:t>
            </a:r>
          </a:p>
        </p:txBody>
      </p:sp>
      <p:sp>
        <p:nvSpPr>
          <p:cNvPr id="8" name="rect">
            <a:extLst xmlns:a="http://schemas.openxmlformats.org/drawingml/2006/main">
              <a:ext uri="{FF2B5EF4-FFF2-40B4-BE49-F238E27FC236}">
                <a16:creationId xmlns:a16="http://schemas.microsoft.com/office/drawing/2014/main" id="{5AC120C3-5478-4E3C-8A6C-CCADA0188CDB}"/>
              </a:ext>
            </a:extLst>
          </p:cNvPr>
          <p:cNvSpPr>
            <a:spLocks xmlns:a="http://schemas.openxmlformats.org/drawingml/2006/main" noGrp="1"/>
          </p:cNvSpPr>
          <p:nvPr/>
        </p:nvSpPr>
        <p:spPr>
          <a:xfrm xmlns:a="http://schemas.openxmlformats.org/drawingml/2006/main">
            <a:off x="685800" y="2695575"/>
            <a:ext cx="7286625" cy="45720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a:extLst xmlns:a="http://schemas.openxmlformats.org/drawingml/2006/main">
              <a:ext uri="{FF2B5EF4-FFF2-40B4-BE49-F238E27FC236}">
                <a16:creationId xmlns:a16="http://schemas.microsoft.com/office/drawing/2014/main" id="{C0DD05C8-8D38-40E7-AAB4-4B67AA16450F}"/>
              </a:ext>
            </a:extLst>
          </p:cNvPr>
          <p:cNvSpPr>
            <a:spLocks xmlns:a="http://schemas.openxmlformats.org/drawingml/2006/main" noGrp="1"/>
          </p:cNvSpPr>
          <p:nvPr/>
        </p:nvSpPr>
        <p:spPr>
          <a:xfrm xmlns:a="http://schemas.openxmlformats.org/drawingml/2006/main">
            <a:off x="838200" y="2828925"/>
            <a:ext cx="15621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2  Topography</a:t>
            </a:r>
          </a:p>
        </p:txBody>
      </p:sp>
      <p:sp>
        <p:nvSpPr>
          <p:cNvPr id="10" name="text">
            <a:extLst xmlns:a="http://schemas.openxmlformats.org/drawingml/2006/main">
              <a:ext uri="{FF2B5EF4-FFF2-40B4-BE49-F238E27FC236}">
                <a16:creationId xmlns:a16="http://schemas.microsoft.com/office/drawing/2014/main" id="{7BD2964F-9AE6-4F98-AB6E-420D4D521634}"/>
              </a:ext>
            </a:extLst>
          </p:cNvPr>
          <p:cNvSpPr>
            <a:spLocks xmlns:a="http://schemas.openxmlformats.org/drawingml/2006/main" noGrp="1"/>
          </p:cNvSpPr>
          <p:nvPr/>
        </p:nvSpPr>
        <p:spPr>
          <a:xfrm xmlns:a="http://schemas.openxmlformats.org/drawingml/2006/main">
            <a:off x="2638425" y="2828925"/>
            <a:ext cx="5048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318"/>
                </a:solidFill>
              </a:defRPr>
            </a:pPr>
            <a:r>
              <a:rPr sz="1200" b="0">
                <a:solidFill>
                  <a:srgbClr val="111318"/>
                </a:solidFill>
              </a:rPr>
              <a:t>plane leveling · Ra · volume</a:t>
            </a:r>
          </a:p>
        </p:txBody>
      </p:sp>
      <p:sp>
        <p:nvSpPr>
          <p:cNvPr id="11" name="rect">
            <a:extLst xmlns:a="http://schemas.openxmlformats.org/drawingml/2006/main">
              <a:ext uri="{FF2B5EF4-FFF2-40B4-BE49-F238E27FC236}">
                <a16:creationId xmlns:a16="http://schemas.microsoft.com/office/drawing/2014/main" id="{623121E2-7BB5-44FB-8C35-8F8A925E5B33}"/>
              </a:ext>
            </a:extLst>
          </p:cNvPr>
          <p:cNvSpPr>
            <a:spLocks xmlns:a="http://schemas.openxmlformats.org/drawingml/2006/main" noGrp="1"/>
          </p:cNvSpPr>
          <p:nvPr/>
        </p:nvSpPr>
        <p:spPr>
          <a:xfrm xmlns:a="http://schemas.openxmlformats.org/drawingml/2006/main">
            <a:off x="685800" y="3305175"/>
            <a:ext cx="7286625" cy="45720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63DA69A3-BF09-430B-BDD6-3F9EAE4C8E85}"/>
              </a:ext>
            </a:extLst>
          </p:cNvPr>
          <p:cNvSpPr>
            <a:spLocks xmlns:a="http://schemas.openxmlformats.org/drawingml/2006/main" noGrp="1"/>
          </p:cNvSpPr>
          <p:nvPr/>
        </p:nvSpPr>
        <p:spPr>
          <a:xfrm xmlns:a="http://schemas.openxmlformats.org/drawingml/2006/main">
            <a:off x="838200" y="3438525"/>
            <a:ext cx="15621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3  Risk index</a:t>
            </a:r>
          </a:p>
        </p:txBody>
      </p:sp>
      <p:sp>
        <p:nvSpPr>
          <p:cNvPr id="13" name="text">
            <a:extLst xmlns:a="http://schemas.openxmlformats.org/drawingml/2006/main">
              <a:ext uri="{FF2B5EF4-FFF2-40B4-BE49-F238E27FC236}">
                <a16:creationId xmlns:a16="http://schemas.microsoft.com/office/drawing/2014/main" id="{6E1D86D2-D72B-409C-AB99-05857FBDA32B}"/>
              </a:ext>
            </a:extLst>
          </p:cNvPr>
          <p:cNvSpPr>
            <a:spLocks xmlns:a="http://schemas.openxmlformats.org/drawingml/2006/main" noGrp="1"/>
          </p:cNvSpPr>
          <p:nvPr/>
        </p:nvSpPr>
        <p:spPr>
          <a:xfrm xmlns:a="http://schemas.openxmlformats.org/drawingml/2006/main">
            <a:off x="2638425" y="3438525"/>
            <a:ext cx="5048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318"/>
                </a:solidFill>
              </a:defRPr>
            </a:pPr>
            <a:r>
              <a:rPr sz="1200" b="0">
                <a:solidFill>
                  <a:srgbClr val="111318"/>
                </a:solidFill>
              </a:rPr>
              <a:t>separator-aware empirical score</a:t>
            </a:r>
          </a:p>
        </p:txBody>
      </p:sp>
      <p:sp>
        <p:nvSpPr>
          <p:cNvPr id="14" name="rect">
            <a:extLst xmlns:a="http://schemas.openxmlformats.org/drawingml/2006/main">
              <a:ext uri="{FF2B5EF4-FFF2-40B4-BE49-F238E27FC236}">
                <a16:creationId xmlns:a16="http://schemas.microsoft.com/office/drawing/2014/main" id="{68CED802-F7A5-40F9-BC58-5098C9652511}"/>
              </a:ext>
            </a:extLst>
          </p:cNvPr>
          <p:cNvSpPr>
            <a:spLocks xmlns:a="http://schemas.openxmlformats.org/drawingml/2006/main" noGrp="1"/>
          </p:cNvSpPr>
          <p:nvPr/>
        </p:nvSpPr>
        <p:spPr>
          <a:xfrm xmlns:a="http://schemas.openxmlformats.org/drawingml/2006/main">
            <a:off x="685800" y="3914775"/>
            <a:ext cx="7286625" cy="45720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a:extLst xmlns:a="http://schemas.openxmlformats.org/drawingml/2006/main">
              <a:ext uri="{FF2B5EF4-FFF2-40B4-BE49-F238E27FC236}">
                <a16:creationId xmlns:a16="http://schemas.microsoft.com/office/drawing/2014/main" id="{C72E358C-2007-4EB0-82E7-1355131D93B8}"/>
              </a:ext>
            </a:extLst>
          </p:cNvPr>
          <p:cNvSpPr>
            <a:spLocks xmlns:a="http://schemas.openxmlformats.org/drawingml/2006/main" noGrp="1"/>
          </p:cNvSpPr>
          <p:nvPr/>
        </p:nvSpPr>
        <p:spPr>
          <a:xfrm xmlns:a="http://schemas.openxmlformats.org/drawingml/2006/main">
            <a:off x="838200" y="4048125"/>
            <a:ext cx="15621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4  Guard band</a:t>
            </a:r>
          </a:p>
        </p:txBody>
      </p:sp>
      <p:sp>
        <p:nvSpPr>
          <p:cNvPr id="16" name="text">
            <a:extLst xmlns:a="http://schemas.openxmlformats.org/drawingml/2006/main">
              <a:ext uri="{FF2B5EF4-FFF2-40B4-BE49-F238E27FC236}">
                <a16:creationId xmlns:a16="http://schemas.microsoft.com/office/drawing/2014/main" id="{4D0F4F9D-F02B-475D-BD91-4B4DA8AC2FC8}"/>
              </a:ext>
            </a:extLst>
          </p:cNvPr>
          <p:cNvSpPr>
            <a:spLocks xmlns:a="http://schemas.openxmlformats.org/drawingml/2006/main" noGrp="1"/>
          </p:cNvSpPr>
          <p:nvPr/>
        </p:nvSpPr>
        <p:spPr>
          <a:xfrm xmlns:a="http://schemas.openxmlformats.org/drawingml/2006/main">
            <a:off x="2638425" y="4048125"/>
            <a:ext cx="5048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318"/>
                </a:solidFill>
              </a:defRPr>
            </a:pPr>
            <a:r>
              <a:rPr sz="1200" b="0">
                <a:solidFill>
                  <a:srgbClr val="111318"/>
                </a:solidFill>
              </a:rPr>
              <a:t>limit − expanded uncertainty U</a:t>
            </a:r>
          </a:p>
        </p:txBody>
      </p:sp>
      <p:sp>
        <p:nvSpPr>
          <p:cNvPr id="17" name="rect">
            <a:extLst xmlns:a="http://schemas.openxmlformats.org/drawingml/2006/main">
              <a:ext uri="{FF2B5EF4-FFF2-40B4-BE49-F238E27FC236}">
                <a16:creationId xmlns:a16="http://schemas.microsoft.com/office/drawing/2014/main" id="{8A00211D-8541-43E6-9D82-659C50028234}"/>
              </a:ext>
            </a:extLst>
          </p:cNvPr>
          <p:cNvSpPr>
            <a:spLocks xmlns:a="http://schemas.openxmlformats.org/drawingml/2006/main" noGrp="1"/>
          </p:cNvSpPr>
          <p:nvPr/>
        </p:nvSpPr>
        <p:spPr>
          <a:xfrm xmlns:a="http://schemas.openxmlformats.org/drawingml/2006/main">
            <a:off x="685800" y="4524375"/>
            <a:ext cx="7286625" cy="45720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C7F7E19A-C772-4DDE-9740-9E3F4B45C7FD}"/>
              </a:ext>
            </a:extLst>
          </p:cNvPr>
          <p:cNvSpPr>
            <a:spLocks xmlns:a="http://schemas.openxmlformats.org/drawingml/2006/main" noGrp="1"/>
          </p:cNvSpPr>
          <p:nvPr/>
        </p:nvSpPr>
        <p:spPr>
          <a:xfrm xmlns:a="http://schemas.openxmlformats.org/drawingml/2006/main">
            <a:off x="838200" y="4657725"/>
            <a:ext cx="15621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5  Traceability</a:t>
            </a:r>
          </a:p>
        </p:txBody>
      </p:sp>
      <p:sp>
        <p:nvSpPr>
          <p:cNvPr id="19" name="text">
            <a:extLst xmlns:a="http://schemas.openxmlformats.org/drawingml/2006/main">
              <a:ext uri="{FF2B5EF4-FFF2-40B4-BE49-F238E27FC236}">
                <a16:creationId xmlns:a16="http://schemas.microsoft.com/office/drawing/2014/main" id="{0C557096-CC9A-44C7-AA1F-7590641970F3}"/>
              </a:ext>
            </a:extLst>
          </p:cNvPr>
          <p:cNvSpPr>
            <a:spLocks xmlns:a="http://schemas.openxmlformats.org/drawingml/2006/main" noGrp="1"/>
          </p:cNvSpPr>
          <p:nvPr/>
        </p:nvSpPr>
        <p:spPr>
          <a:xfrm xmlns:a="http://schemas.openxmlformats.org/drawingml/2006/main">
            <a:off x="2638425" y="4657725"/>
            <a:ext cx="5048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318"/>
                </a:solidFill>
              </a:defRPr>
            </a:pPr>
            <a:r>
              <a:rPr sz="1200" b="0">
                <a:solidFill>
                  <a:srgbClr val="111318"/>
                </a:solidFill>
              </a:rPr>
              <a:t>plant SOP / customer spec mapping</a:t>
            </a:r>
          </a:p>
        </p:txBody>
      </p:sp>
      <p:sp>
        <p:nvSpPr>
          <p:cNvPr id="20" name="metric">
            <a:extLst xmlns:a="http://schemas.openxmlformats.org/drawingml/2006/main">
              <a:ext uri="{FF2B5EF4-FFF2-40B4-BE49-F238E27FC236}">
                <a16:creationId xmlns:a16="http://schemas.microsoft.com/office/drawing/2014/main" id="{42D22079-EEEF-42E8-A464-937E7ED70F58}"/>
              </a:ext>
            </a:extLst>
          </p:cNvPr>
          <p:cNvSpPr>
            <a:spLocks xmlns:a="http://schemas.openxmlformats.org/drawingml/2006/main" noGrp="1"/>
          </p:cNvSpPr>
          <p:nvPr/>
        </p:nvSpPr>
        <p:spPr>
          <a:xfrm xmlns:a="http://schemas.openxmlformats.org/drawingml/2006/main">
            <a:off x="8486775" y="2143125"/>
            <a:ext cx="238125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metric-accent">
            <a:extLst xmlns:a="http://schemas.openxmlformats.org/drawingml/2006/main">
              <a:ext uri="{FF2B5EF4-FFF2-40B4-BE49-F238E27FC236}">
                <a16:creationId xmlns:a16="http://schemas.microsoft.com/office/drawing/2014/main" id="{79AC2095-280B-44EC-B32D-03352840D86D}"/>
              </a:ext>
            </a:extLst>
          </p:cNvPr>
          <p:cNvSpPr>
            <a:spLocks xmlns:a="http://schemas.openxmlformats.org/drawingml/2006/main" noGrp="1"/>
          </p:cNvSpPr>
          <p:nvPr/>
        </p:nvSpPr>
        <p:spPr>
          <a:xfrm xmlns:a="http://schemas.openxmlformats.org/drawingml/2006/main">
            <a:off x="8486775" y="2143125"/>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metric-label">
            <a:extLst xmlns:a="http://schemas.openxmlformats.org/drawingml/2006/main">
              <a:ext uri="{FF2B5EF4-FFF2-40B4-BE49-F238E27FC236}">
                <a16:creationId xmlns:a16="http://schemas.microsoft.com/office/drawing/2014/main" id="{9BAE0C4E-ECF1-477B-B5C2-617146E8DD41}"/>
              </a:ext>
            </a:extLst>
          </p:cNvPr>
          <p:cNvSpPr>
            <a:spLocks xmlns:a="http://schemas.openxmlformats.org/drawingml/2006/main" noGrp="1"/>
          </p:cNvSpPr>
          <p:nvPr/>
        </p:nvSpPr>
        <p:spPr>
          <a:xfrm xmlns:a="http://schemas.openxmlformats.org/drawingml/2006/main">
            <a:off x="8696325" y="23145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UNCERTAINTY</a:t>
            </a:r>
          </a:p>
        </p:txBody>
      </p:sp>
      <p:sp>
        <p:nvSpPr>
          <p:cNvPr id="23" name="metric-value">
            <a:extLst xmlns:a="http://schemas.openxmlformats.org/drawingml/2006/main">
              <a:ext uri="{FF2B5EF4-FFF2-40B4-BE49-F238E27FC236}">
                <a16:creationId xmlns:a16="http://schemas.microsoft.com/office/drawing/2014/main" id="{E96F0476-1429-47A5-90ED-50FC5FCB2FDA}"/>
              </a:ext>
            </a:extLst>
          </p:cNvPr>
          <p:cNvSpPr>
            <a:spLocks xmlns:a="http://schemas.openxmlformats.org/drawingml/2006/main" noGrp="1"/>
          </p:cNvSpPr>
          <p:nvPr/>
        </p:nvSpPr>
        <p:spPr>
          <a:xfrm xmlns:a="http://schemas.openxmlformats.org/drawingml/2006/main">
            <a:off x="8696325" y="25527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GUM k = 2</a:t>
            </a:r>
          </a:p>
        </p:txBody>
      </p:sp>
      <p:sp>
        <p:nvSpPr>
          <p:cNvPr id="24" name="metric-sub">
            <a:extLst xmlns:a="http://schemas.openxmlformats.org/drawingml/2006/main">
              <a:ext uri="{FF2B5EF4-FFF2-40B4-BE49-F238E27FC236}">
                <a16:creationId xmlns:a16="http://schemas.microsoft.com/office/drawing/2014/main" id="{F831E0F5-94C7-487D-BEBD-9FB87EBD548F}"/>
              </a:ext>
            </a:extLst>
          </p:cNvPr>
          <p:cNvSpPr>
            <a:spLocks xmlns:a="http://schemas.openxmlformats.org/drawingml/2006/main" noGrp="1"/>
          </p:cNvSpPr>
          <p:nvPr/>
        </p:nvSpPr>
        <p:spPr>
          <a:xfrm xmlns:a="http://schemas.openxmlformats.org/drawingml/2006/main">
            <a:off x="8696325" y="300990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expanded uncertainty; 95% coverage</a:t>
            </a:r>
          </a:p>
        </p:txBody>
      </p:sp>
      <p:sp>
        <p:nvSpPr>
          <p:cNvPr id="25" name="metric">
            <a:extLst xmlns:a="http://schemas.openxmlformats.org/drawingml/2006/main">
              <a:ext uri="{FF2B5EF4-FFF2-40B4-BE49-F238E27FC236}">
                <a16:creationId xmlns:a16="http://schemas.microsoft.com/office/drawing/2014/main" id="{B0DACE1A-A596-4FF0-A47B-7F3975BDCD78}"/>
              </a:ext>
            </a:extLst>
          </p:cNvPr>
          <p:cNvSpPr>
            <a:spLocks xmlns:a="http://schemas.openxmlformats.org/drawingml/2006/main" noGrp="1"/>
          </p:cNvSpPr>
          <p:nvPr/>
        </p:nvSpPr>
        <p:spPr>
          <a:xfrm xmlns:a="http://schemas.openxmlformats.org/drawingml/2006/main">
            <a:off x="8486775" y="3543300"/>
            <a:ext cx="238125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metric-accent">
            <a:extLst xmlns:a="http://schemas.openxmlformats.org/drawingml/2006/main">
              <a:ext uri="{FF2B5EF4-FFF2-40B4-BE49-F238E27FC236}">
                <a16:creationId xmlns:a16="http://schemas.microsoft.com/office/drawing/2014/main" id="{3083B468-47BF-408E-8FA4-B6401F1CBAB6}"/>
              </a:ext>
            </a:extLst>
          </p:cNvPr>
          <p:cNvSpPr>
            <a:spLocks xmlns:a="http://schemas.openxmlformats.org/drawingml/2006/main" noGrp="1"/>
          </p:cNvSpPr>
          <p:nvPr/>
        </p:nvSpPr>
        <p:spPr>
          <a:xfrm xmlns:a="http://schemas.openxmlformats.org/drawingml/2006/main">
            <a:off x="8486775" y="3543300"/>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metric-label">
            <a:extLst xmlns:a="http://schemas.openxmlformats.org/drawingml/2006/main">
              <a:ext uri="{FF2B5EF4-FFF2-40B4-BE49-F238E27FC236}">
                <a16:creationId xmlns:a16="http://schemas.microsoft.com/office/drawing/2014/main" id="{7F19E590-AB80-4C68-9230-1BC504B26000}"/>
              </a:ext>
            </a:extLst>
          </p:cNvPr>
          <p:cNvSpPr>
            <a:spLocks xmlns:a="http://schemas.openxmlformats.org/drawingml/2006/main" noGrp="1"/>
          </p:cNvSpPr>
          <p:nvPr/>
        </p:nvSpPr>
        <p:spPr>
          <a:xfrm xmlns:a="http://schemas.openxmlformats.org/drawingml/2006/main">
            <a:off x="8696325" y="371475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DECISION RULE</a:t>
            </a:r>
          </a:p>
        </p:txBody>
      </p:sp>
      <p:sp>
        <p:nvSpPr>
          <p:cNvPr id="28" name="metric-value">
            <a:extLst xmlns:a="http://schemas.openxmlformats.org/drawingml/2006/main">
              <a:ext uri="{FF2B5EF4-FFF2-40B4-BE49-F238E27FC236}">
                <a16:creationId xmlns:a16="http://schemas.microsoft.com/office/drawing/2014/main" id="{ABB4E4F0-215B-4E51-80F2-0490899B7B00}"/>
              </a:ext>
            </a:extLst>
          </p:cNvPr>
          <p:cNvSpPr>
            <a:spLocks xmlns:a="http://schemas.openxmlformats.org/drawingml/2006/main" noGrp="1"/>
          </p:cNvSpPr>
          <p:nvPr/>
        </p:nvSpPr>
        <p:spPr>
          <a:xfrm xmlns:a="http://schemas.openxmlformats.org/drawingml/2006/main">
            <a:off x="8696325" y="3952875"/>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Limit − U</a:t>
            </a:r>
          </a:p>
        </p:txBody>
      </p:sp>
      <p:sp>
        <p:nvSpPr>
          <p:cNvPr id="29" name="metric-sub">
            <a:extLst xmlns:a="http://schemas.openxmlformats.org/drawingml/2006/main">
              <a:ext uri="{FF2B5EF4-FFF2-40B4-BE49-F238E27FC236}">
                <a16:creationId xmlns:a16="http://schemas.microsoft.com/office/drawing/2014/main" id="{440ABCC0-D4AC-426D-8308-88511DFA1989}"/>
              </a:ext>
            </a:extLst>
          </p:cNvPr>
          <p:cNvSpPr>
            <a:spLocks xmlns:a="http://schemas.openxmlformats.org/drawingml/2006/main" noGrp="1"/>
          </p:cNvSpPr>
          <p:nvPr/>
        </p:nvSpPr>
        <p:spPr>
          <a:xfrm xmlns:a="http://schemas.openxmlformats.org/drawingml/2006/main">
            <a:off x="8696325" y="44100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guard band before A/B/C grade</a:t>
            </a:r>
          </a:p>
        </p:txBody>
      </p:sp>
      <p:sp>
        <p:nvSpPr>
          <p:cNvPr id="30" name="text">
            <a:extLst xmlns:a="http://schemas.openxmlformats.org/drawingml/2006/main">
              <a:ext uri="{FF2B5EF4-FFF2-40B4-BE49-F238E27FC236}">
                <a16:creationId xmlns:a16="http://schemas.microsoft.com/office/drawing/2014/main" id="{5A1570E6-7F61-4879-BA1E-3017685C05E8}"/>
              </a:ext>
            </a:extLst>
          </p:cNvPr>
          <p:cNvSpPr>
            <a:spLocks xmlns:a="http://schemas.openxmlformats.org/drawingml/2006/main" noGrp="1"/>
          </p:cNvSpPr>
          <p:nvPr/>
        </p:nvSpPr>
        <p:spPr>
          <a:xfrm xmlns:a="http://schemas.openxmlformats.org/drawingml/2006/main">
            <a:off x="685800" y="5334000"/>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C43D3D"/>
                </a:solidFill>
              </a:defRPr>
            </a:pPr>
            <a:r>
              <a:rPr sz="1125" b="1">
                <a:solidFill>
                  <a:srgbClr val="C43D3D"/>
                </a:solidFill>
              </a:rPr>
              <a:t>Standards correction: T/CIAPS 0006 and QC/T 743 are not valid coating-metrology compliance claims.</a:t>
            </a:r>
          </a:p>
        </p:txBody>
      </p:sp>
      <p:sp>
        <p:nvSpPr>
          <p:cNvPr id="31" name="Straight Connector 30">
            <a:extLst xmlns:a="http://schemas.openxmlformats.org/drawingml/2006/main">
              <a:ext uri="{FF2B5EF4-FFF2-40B4-BE49-F238E27FC236}">
                <a16:creationId xmlns:a16="http://schemas.microsoft.com/office/drawing/2014/main" id="{30F1D338-9142-4479-95D0-565AE15D29D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source">
            <a:extLst xmlns:a="http://schemas.openxmlformats.org/drawingml/2006/main">
              <a:ext uri="{FF2B5EF4-FFF2-40B4-BE49-F238E27FC236}">
                <a16:creationId xmlns:a16="http://schemas.microsoft.com/office/drawing/2014/main" id="{DC5CD426-9A1B-4362-B504-DAB726E3C0D4}"/>
              </a:ext>
            </a:extLst>
          </p:cNvPr>
          <p:cNvSpPr>
            <a:spLocks xmlns:a="http://schemas.openxmlformats.org/drawingml/2006/main" noGrp="1"/>
          </p:cNvSpPr>
          <p:nvPr/>
        </p:nvSpPr>
        <p:spPr>
          <a:xfrm xmlns:a="http://schemas.openxmlformats.org/drawingml/2006/main">
            <a:off x="685800" y="64960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5F6670"/>
                </a:solidFill>
              </a:defRPr>
            </a:pPr>
            <a:r>
              <a:rPr sz="825" b="0">
                <a:solidFill>
                  <a:srgbClr val="5F6670"/>
                </a:solidFill>
              </a:rPr>
              <a:t>Use plant-approved acceptance limits and an ISO 17025/GUM validation plan before compliance language.</a:t>
            </a:r>
          </a:p>
        </p:txBody>
      </p:sp>
      <p:sp>
        <p:nvSpPr>
          <p:cNvPr id="33" name="page">
            <a:extLst xmlns:a="http://schemas.openxmlformats.org/drawingml/2006/main">
              <a:ext uri="{FF2B5EF4-FFF2-40B4-BE49-F238E27FC236}">
                <a16:creationId xmlns:a16="http://schemas.microsoft.com/office/drawing/2014/main" id="{2CFE79CA-6D88-4A52-855A-00EF37F1E512}"/>
              </a:ext>
            </a:extLst>
          </p:cNvPr>
          <p:cNvSpPr>
            <a:spLocks xmlns:a="http://schemas.openxmlformats.org/drawingml/2006/main" noGrp="1"/>
          </p:cNvSpPr>
          <p:nvPr/>
        </p:nvSpPr>
        <p:spPr>
          <a:xfrm xmlns:a="http://schemas.openxmlformats.org/drawingml/2006/main">
            <a:off x="10382250" y="6496050"/>
            <a:ext cx="11239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5F6670"/>
                </a:solidFill>
              </a:defRPr>
            </a:pPr>
            <a:r>
              <a:rPr sz="825" b="1">
                <a:solidFill>
                  <a:srgbClr val="5F6670"/>
                </a:solidFill>
              </a:rPr>
              <a:t>TEAM 71  /  5</a:t>
            </a:r>
          </a:p>
        </p:txBody>
      </p:sp>
    </p:spTree>
    <p:extLst>
      <p:ext uri="{BB962C8B-B14F-4D97-AF65-F5344CB8AC3E}">
        <p14:creationId xmlns:p14="http://schemas.microsoft.com/office/powerpoint/2010/main" val="12358065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eyebrow">
            <a:extLst xmlns:a="http://schemas.openxmlformats.org/drawingml/2006/main">
              <a:ext uri="{FF2B5EF4-FFF2-40B4-BE49-F238E27FC236}">
                <a16:creationId xmlns:a16="http://schemas.microsoft.com/office/drawing/2014/main" id="{EE7DB145-B9D2-476D-A209-34DC13A01D9D}"/>
              </a:ext>
            </a:extLst>
          </p:cNvPr>
          <p:cNvSpPr>
            <a:spLocks xmlns:a="http://schemas.openxmlformats.org/drawingml/2006/main" noGrp="1"/>
          </p:cNvSpPr>
          <p:nvPr/>
        </p:nvSpPr>
        <p:spPr>
          <a:xfrm xmlns:a="http://schemas.openxmlformats.org/drawingml/2006/main">
            <a:off x="685800" y="3619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F6670"/>
                </a:solidFill>
              </a:defRPr>
            </a:pPr>
            <a:r>
              <a:rPr sz="975" b="1">
                <a:solidFill>
                  <a:srgbClr val="5F6670"/>
                </a:solidFill>
              </a:rPr>
              <a:t>06  |  3:35–4:20</a:t>
            </a:r>
          </a:p>
        </p:txBody>
      </p:sp>
      <p:sp>
        <p:nvSpPr>
          <p:cNvPr id="2" name="title">
            <a:extLst xmlns:a="http://schemas.openxmlformats.org/drawingml/2006/main">
              <a:ext uri="{FF2B5EF4-FFF2-40B4-BE49-F238E27FC236}">
                <a16:creationId xmlns:a16="http://schemas.microsoft.com/office/drawing/2014/main" id="{0094AAA8-F5AB-4B91-AAED-8B43FA5A7FDB}"/>
              </a:ext>
            </a:extLst>
          </p:cNvPr>
          <p:cNvSpPr>
            <a:spLocks xmlns:a="http://schemas.openxmlformats.org/drawingml/2006/main" noGrp="1"/>
          </p:cNvSpPr>
          <p:nvPr/>
        </p:nvSpPr>
        <p:spPr>
          <a:xfrm xmlns:a="http://schemas.openxmlformats.org/drawingml/2006/main">
            <a:off x="685800" y="6953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11318"/>
                </a:solidFill>
              </a:defRPr>
            </a:pPr>
            <a:r>
              <a:rPr sz="2775" b="1">
                <a:solidFill>
                  <a:srgbClr val="111318"/>
                </a:solidFill>
              </a:rPr>
              <a:t>Latency is a full physical chain — and currently a design model</a:t>
            </a:r>
          </a:p>
        </p:txBody>
      </p:sp>
      <p:sp>
        <p:nvSpPr>
          <p:cNvPr id="3" name="cn-title">
            <a:extLst xmlns:a="http://schemas.openxmlformats.org/drawingml/2006/main">
              <a:ext uri="{FF2B5EF4-FFF2-40B4-BE49-F238E27FC236}">
                <a16:creationId xmlns:a16="http://schemas.microsoft.com/office/drawing/2014/main" id="{238CA4B9-D443-4B0C-A098-0E720EFF54C8}"/>
              </a:ext>
            </a:extLst>
          </p:cNvPr>
          <p:cNvSpPr>
            <a:spLocks xmlns:a="http://schemas.openxmlformats.org/drawingml/2006/main" noGrp="1"/>
          </p:cNvSpPr>
          <p:nvPr/>
        </p:nvSpPr>
        <p:spPr>
          <a:xfrm xmlns:a="http://schemas.openxmlformats.org/drawingml/2006/main">
            <a:off x="685800" y="1200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F6670"/>
                </a:solidFill>
              </a:defRPr>
            </a:pPr>
            <a:r>
              <a:rPr sz="1500" b="0">
                <a:solidFill>
                  <a:srgbClr val="5F6670"/>
                </a:solidFill>
              </a:rPr>
              <a:t>时延是完整物理链路——当前为设计模型</a:t>
            </a:r>
          </a:p>
        </p:txBody>
      </p:sp>
      <p:sp>
        <p:nvSpPr>
          <p:cNvPr id="4" name="Straight Connector 3">
            <a:extLst xmlns:a="http://schemas.openxmlformats.org/drawingml/2006/main">
              <a:ext uri="{FF2B5EF4-FFF2-40B4-BE49-F238E27FC236}">
                <a16:creationId xmlns:a16="http://schemas.microsoft.com/office/drawing/2014/main" id="{480248AC-D469-47BF-9557-7B95CAC2BEE4}"/>
              </a:ext>
            </a:extLst>
          </p:cNvPr>
          <p:cNvSpPr>
            <a:spLocks xmlns:a="http://schemas.openxmlformats.org/drawingml/2006/main" noGrp="1"/>
          </p:cNvSpPr>
          <p:nvPr/>
        </p:nvSpPr>
        <p:spPr>
          <a:xfrm xmlns:a="http://schemas.openxmlformats.org/drawingml/2006/main">
            <a:off x="685800" y="156210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
            <a:extLst xmlns:a="http://schemas.openxmlformats.org/drawingml/2006/main">
              <a:ext uri="{FF2B5EF4-FFF2-40B4-BE49-F238E27FC236}">
                <a16:creationId xmlns:a16="http://schemas.microsoft.com/office/drawing/2014/main" id="{0D3DD63F-2093-49C7-943D-75514BA5C487}"/>
              </a:ext>
            </a:extLst>
          </p:cNvPr>
          <p:cNvSpPr>
            <a:spLocks xmlns:a="http://schemas.openxmlformats.org/drawingml/2006/main" noGrp="1"/>
          </p:cNvSpPr>
          <p:nvPr/>
        </p:nvSpPr>
        <p:spPr>
          <a:xfrm xmlns:a="http://schemas.openxmlformats.org/drawingml/2006/main">
            <a:off x="685800" y="2333625"/>
            <a:ext cx="1657350" cy="11620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DA901F8A-5D1E-46F9-92B7-2A8CDD963728}"/>
              </a:ext>
            </a:extLst>
          </p:cNvPr>
          <p:cNvSpPr>
            <a:spLocks xmlns:a="http://schemas.openxmlformats.org/drawingml/2006/main" noGrp="1"/>
          </p:cNvSpPr>
          <p:nvPr/>
        </p:nvSpPr>
        <p:spPr>
          <a:xfrm xmlns:a="http://schemas.openxmlformats.org/drawingml/2006/main">
            <a:off x="781050" y="25336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11318"/>
                </a:solidFill>
              </a:defRPr>
            </a:pPr>
            <a:r>
              <a:rPr sz="1050" b="1">
                <a:solidFill>
                  <a:srgbClr val="111318"/>
                </a:solidFill>
              </a:rPr>
              <a:t>Tile formation</a:t>
            </a:r>
          </a:p>
        </p:txBody>
      </p:sp>
      <p:sp>
        <p:nvSpPr>
          <p:cNvPr id="7" name="lt">
            <a:extLst xmlns:a="http://schemas.openxmlformats.org/drawingml/2006/main">
              <a:ext uri="{FF2B5EF4-FFF2-40B4-BE49-F238E27FC236}">
                <a16:creationId xmlns:a16="http://schemas.microsoft.com/office/drawing/2014/main" id="{02CC50AB-DC74-41E1-9CFB-18A7C09D46B4}"/>
              </a:ext>
            </a:extLst>
          </p:cNvPr>
          <p:cNvSpPr>
            <a:spLocks xmlns:a="http://schemas.openxmlformats.org/drawingml/2006/main" noGrp="1"/>
          </p:cNvSpPr>
          <p:nvPr/>
        </p:nvSpPr>
        <p:spPr>
          <a:xfrm xmlns:a="http://schemas.openxmlformats.org/drawingml/2006/main">
            <a:off x="781050" y="3009900"/>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318"/>
                </a:solidFill>
              </a:defRPr>
            </a:pPr>
            <a:r>
              <a:rPr sz="1425" b="1">
                <a:solidFill>
                  <a:srgbClr val="111318"/>
                </a:solidFill>
              </a:rPr>
              <a:t>12.1 ms</a:t>
            </a:r>
          </a:p>
        </p:txBody>
      </p:sp>
      <p:sp>
        <p:nvSpPr>
          <p:cNvPr id="8" name="text">
            <a:extLst xmlns:a="http://schemas.openxmlformats.org/drawingml/2006/main">
              <a:ext uri="{FF2B5EF4-FFF2-40B4-BE49-F238E27FC236}">
                <a16:creationId xmlns:a16="http://schemas.microsoft.com/office/drawing/2014/main" id="{925E915B-12DE-4ED5-BE26-091F9D6EEC55}"/>
              </a:ext>
            </a:extLst>
          </p:cNvPr>
          <p:cNvSpPr>
            <a:spLocks xmlns:a="http://schemas.openxmlformats.org/drawingml/2006/main" noGrp="1"/>
          </p:cNvSpPr>
          <p:nvPr/>
        </p:nvSpPr>
        <p:spPr>
          <a:xfrm xmlns:a="http://schemas.openxmlformats.org/drawingml/2006/main">
            <a:off x="2362200" y="276225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a:t>
            </a:r>
          </a:p>
        </p:txBody>
      </p:sp>
      <p:sp>
        <p:nvSpPr>
          <p:cNvPr id="9" name="rect">
            <a:extLst xmlns:a="http://schemas.openxmlformats.org/drawingml/2006/main">
              <a:ext uri="{FF2B5EF4-FFF2-40B4-BE49-F238E27FC236}">
                <a16:creationId xmlns:a16="http://schemas.microsoft.com/office/drawing/2014/main" id="{04982FB2-4BDB-415B-A523-1D4C5178A7F3}"/>
              </a:ext>
            </a:extLst>
          </p:cNvPr>
          <p:cNvSpPr>
            <a:spLocks xmlns:a="http://schemas.openxmlformats.org/drawingml/2006/main" noGrp="1"/>
          </p:cNvSpPr>
          <p:nvPr/>
        </p:nvSpPr>
        <p:spPr>
          <a:xfrm xmlns:a="http://schemas.openxmlformats.org/drawingml/2006/main">
            <a:off x="2533650" y="2333625"/>
            <a:ext cx="1123950" cy="11620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9891DCD5-99E7-4068-9306-81022FC40042}"/>
              </a:ext>
            </a:extLst>
          </p:cNvPr>
          <p:cNvSpPr>
            <a:spLocks xmlns:a="http://schemas.openxmlformats.org/drawingml/2006/main" noGrp="1"/>
          </p:cNvSpPr>
          <p:nvPr/>
        </p:nvSpPr>
        <p:spPr>
          <a:xfrm xmlns:a="http://schemas.openxmlformats.org/drawingml/2006/main">
            <a:off x="2628900" y="25336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11318"/>
                </a:solidFill>
              </a:defRPr>
            </a:pPr>
            <a:r>
              <a:rPr sz="1050" b="1">
                <a:solidFill>
                  <a:srgbClr val="111318"/>
                </a:solidFill>
              </a:rPr>
              <a:t>DMA</a:t>
            </a:r>
          </a:p>
        </p:txBody>
      </p:sp>
      <p:sp>
        <p:nvSpPr>
          <p:cNvPr id="11" name="lt">
            <a:extLst xmlns:a="http://schemas.openxmlformats.org/drawingml/2006/main">
              <a:ext uri="{FF2B5EF4-FFF2-40B4-BE49-F238E27FC236}">
                <a16:creationId xmlns:a16="http://schemas.microsoft.com/office/drawing/2014/main" id="{FF7065D5-ACA4-4F4B-877E-E60EE75B9173}"/>
              </a:ext>
            </a:extLst>
          </p:cNvPr>
          <p:cNvSpPr>
            <a:spLocks xmlns:a="http://schemas.openxmlformats.org/drawingml/2006/main" noGrp="1"/>
          </p:cNvSpPr>
          <p:nvPr/>
        </p:nvSpPr>
        <p:spPr>
          <a:xfrm xmlns:a="http://schemas.openxmlformats.org/drawingml/2006/main">
            <a:off x="2628900" y="30099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318"/>
                </a:solidFill>
              </a:defRPr>
            </a:pPr>
            <a:r>
              <a:rPr sz="1425" b="1">
                <a:solidFill>
                  <a:srgbClr val="111318"/>
                </a:solidFill>
              </a:rPr>
              <a:t>1.2 ms</a:t>
            </a:r>
          </a:p>
        </p:txBody>
      </p:sp>
      <p:sp>
        <p:nvSpPr>
          <p:cNvPr id="12" name="text">
            <a:extLst xmlns:a="http://schemas.openxmlformats.org/drawingml/2006/main">
              <a:ext uri="{FF2B5EF4-FFF2-40B4-BE49-F238E27FC236}">
                <a16:creationId xmlns:a16="http://schemas.microsoft.com/office/drawing/2014/main" id="{C2E7737F-8D0A-477F-B93B-75B1802808DC}"/>
              </a:ext>
            </a:extLst>
          </p:cNvPr>
          <p:cNvSpPr>
            <a:spLocks xmlns:a="http://schemas.openxmlformats.org/drawingml/2006/main" noGrp="1"/>
          </p:cNvSpPr>
          <p:nvPr/>
        </p:nvSpPr>
        <p:spPr>
          <a:xfrm xmlns:a="http://schemas.openxmlformats.org/drawingml/2006/main">
            <a:off x="3676650" y="276225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a:t>
            </a:r>
          </a:p>
        </p:txBody>
      </p:sp>
      <p:sp>
        <p:nvSpPr>
          <p:cNvPr id="13" name="rect">
            <a:extLst xmlns:a="http://schemas.openxmlformats.org/drawingml/2006/main">
              <a:ext uri="{FF2B5EF4-FFF2-40B4-BE49-F238E27FC236}">
                <a16:creationId xmlns:a16="http://schemas.microsoft.com/office/drawing/2014/main" id="{C0DC4C03-BE3F-47B0-9EEF-2EEB945CFB3D}"/>
              </a:ext>
            </a:extLst>
          </p:cNvPr>
          <p:cNvSpPr>
            <a:spLocks xmlns:a="http://schemas.openxmlformats.org/drawingml/2006/main" noGrp="1"/>
          </p:cNvSpPr>
          <p:nvPr/>
        </p:nvSpPr>
        <p:spPr>
          <a:xfrm xmlns:a="http://schemas.openxmlformats.org/drawingml/2006/main">
            <a:off x="3848100" y="2333625"/>
            <a:ext cx="1123950" cy="11620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692C7C9F-23C5-4975-94FB-5133E506D44C}"/>
              </a:ext>
            </a:extLst>
          </p:cNvPr>
          <p:cNvSpPr>
            <a:spLocks xmlns:a="http://schemas.openxmlformats.org/drawingml/2006/main" noGrp="1"/>
          </p:cNvSpPr>
          <p:nvPr/>
        </p:nvSpPr>
        <p:spPr>
          <a:xfrm xmlns:a="http://schemas.openxmlformats.org/drawingml/2006/main">
            <a:off x="3943350" y="25336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11318"/>
                </a:solidFill>
              </a:defRPr>
            </a:pPr>
            <a:r>
              <a:rPr sz="1050" b="1">
                <a:solidFill>
                  <a:srgbClr val="111318"/>
                </a:solidFill>
              </a:rPr>
              <a:t>Fusion</a:t>
            </a:r>
          </a:p>
        </p:txBody>
      </p:sp>
      <p:sp>
        <p:nvSpPr>
          <p:cNvPr id="15" name="lt">
            <a:extLst xmlns:a="http://schemas.openxmlformats.org/drawingml/2006/main">
              <a:ext uri="{FF2B5EF4-FFF2-40B4-BE49-F238E27FC236}">
                <a16:creationId xmlns:a16="http://schemas.microsoft.com/office/drawing/2014/main" id="{E7AFB9A1-E84F-46C5-A5FF-F4A97A8BFEEF}"/>
              </a:ext>
            </a:extLst>
          </p:cNvPr>
          <p:cNvSpPr>
            <a:spLocks xmlns:a="http://schemas.openxmlformats.org/drawingml/2006/main" noGrp="1"/>
          </p:cNvSpPr>
          <p:nvPr/>
        </p:nvSpPr>
        <p:spPr>
          <a:xfrm xmlns:a="http://schemas.openxmlformats.org/drawingml/2006/main">
            <a:off x="3943350" y="30099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318"/>
                </a:solidFill>
              </a:defRPr>
            </a:pPr>
            <a:r>
              <a:rPr sz="1425" b="1">
                <a:solidFill>
                  <a:srgbClr val="111318"/>
                </a:solidFill>
              </a:rPr>
              <a:t>1.8 ms</a:t>
            </a:r>
          </a:p>
        </p:txBody>
      </p:sp>
      <p:sp>
        <p:nvSpPr>
          <p:cNvPr id="16" name="text">
            <a:extLst xmlns:a="http://schemas.openxmlformats.org/drawingml/2006/main">
              <a:ext uri="{FF2B5EF4-FFF2-40B4-BE49-F238E27FC236}">
                <a16:creationId xmlns:a16="http://schemas.microsoft.com/office/drawing/2014/main" id="{0D078579-7B77-48DD-97C6-0E2900E0D3AC}"/>
              </a:ext>
            </a:extLst>
          </p:cNvPr>
          <p:cNvSpPr>
            <a:spLocks xmlns:a="http://schemas.openxmlformats.org/drawingml/2006/main" noGrp="1"/>
          </p:cNvSpPr>
          <p:nvPr/>
        </p:nvSpPr>
        <p:spPr>
          <a:xfrm xmlns:a="http://schemas.openxmlformats.org/drawingml/2006/main">
            <a:off x="4991100" y="276225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a:t>
            </a:r>
          </a:p>
        </p:txBody>
      </p:sp>
      <p:sp>
        <p:nvSpPr>
          <p:cNvPr id="17" name="rect">
            <a:extLst xmlns:a="http://schemas.openxmlformats.org/drawingml/2006/main">
              <a:ext uri="{FF2B5EF4-FFF2-40B4-BE49-F238E27FC236}">
                <a16:creationId xmlns:a16="http://schemas.microsoft.com/office/drawing/2014/main" id="{6B0E2309-82B2-44A3-9D79-2D146C730B1B}"/>
              </a:ext>
            </a:extLst>
          </p:cNvPr>
          <p:cNvSpPr>
            <a:spLocks xmlns:a="http://schemas.openxmlformats.org/drawingml/2006/main" noGrp="1"/>
          </p:cNvSpPr>
          <p:nvPr/>
        </p:nvSpPr>
        <p:spPr>
          <a:xfrm xmlns:a="http://schemas.openxmlformats.org/drawingml/2006/main">
            <a:off x="5162550" y="2333625"/>
            <a:ext cx="1123950" cy="11620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2138DB36-46FB-4DA3-BEBD-9074E1D6F32C}"/>
              </a:ext>
            </a:extLst>
          </p:cNvPr>
          <p:cNvSpPr>
            <a:spLocks xmlns:a="http://schemas.openxmlformats.org/drawingml/2006/main" noGrp="1"/>
          </p:cNvSpPr>
          <p:nvPr/>
        </p:nvSpPr>
        <p:spPr>
          <a:xfrm xmlns:a="http://schemas.openxmlformats.org/drawingml/2006/main">
            <a:off x="5257800" y="25336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11318"/>
                </a:solidFill>
              </a:defRPr>
            </a:pPr>
            <a:r>
              <a:rPr sz="1050" b="1">
                <a:solidFill>
                  <a:srgbClr val="111318"/>
                </a:solidFill>
              </a:rPr>
              <a:t>AI</a:t>
            </a:r>
          </a:p>
        </p:txBody>
      </p:sp>
      <p:sp>
        <p:nvSpPr>
          <p:cNvPr id="19" name="lt">
            <a:extLst xmlns:a="http://schemas.openxmlformats.org/drawingml/2006/main">
              <a:ext uri="{FF2B5EF4-FFF2-40B4-BE49-F238E27FC236}">
                <a16:creationId xmlns:a16="http://schemas.microsoft.com/office/drawing/2014/main" id="{FE72E0B4-A503-408F-B023-D3070659A6A4}"/>
              </a:ext>
            </a:extLst>
          </p:cNvPr>
          <p:cNvSpPr>
            <a:spLocks xmlns:a="http://schemas.openxmlformats.org/drawingml/2006/main" noGrp="1"/>
          </p:cNvSpPr>
          <p:nvPr/>
        </p:nvSpPr>
        <p:spPr>
          <a:xfrm xmlns:a="http://schemas.openxmlformats.org/drawingml/2006/main">
            <a:off x="5257800" y="30099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318"/>
                </a:solidFill>
              </a:defRPr>
            </a:pPr>
            <a:r>
              <a:rPr sz="1425" b="1">
                <a:solidFill>
                  <a:srgbClr val="111318"/>
                </a:solidFill>
              </a:rPr>
              <a:t>8.7 ms</a:t>
            </a:r>
          </a:p>
        </p:txBody>
      </p:sp>
      <p:sp>
        <p:nvSpPr>
          <p:cNvPr id="20" name="text">
            <a:extLst xmlns:a="http://schemas.openxmlformats.org/drawingml/2006/main">
              <a:ext uri="{FF2B5EF4-FFF2-40B4-BE49-F238E27FC236}">
                <a16:creationId xmlns:a16="http://schemas.microsoft.com/office/drawing/2014/main" id="{52694E4B-2070-4BE4-B874-FC4C2E5F8739}"/>
              </a:ext>
            </a:extLst>
          </p:cNvPr>
          <p:cNvSpPr>
            <a:spLocks xmlns:a="http://schemas.openxmlformats.org/drawingml/2006/main" noGrp="1"/>
          </p:cNvSpPr>
          <p:nvPr/>
        </p:nvSpPr>
        <p:spPr>
          <a:xfrm xmlns:a="http://schemas.openxmlformats.org/drawingml/2006/main">
            <a:off x="6305550" y="276225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a:t>
            </a:r>
          </a:p>
        </p:txBody>
      </p:sp>
      <p:sp>
        <p:nvSpPr>
          <p:cNvPr id="21" name="rect">
            <a:extLst xmlns:a="http://schemas.openxmlformats.org/drawingml/2006/main">
              <a:ext uri="{FF2B5EF4-FFF2-40B4-BE49-F238E27FC236}">
                <a16:creationId xmlns:a16="http://schemas.microsoft.com/office/drawing/2014/main" id="{8BC921D3-C5F2-4180-B5C2-356705D648E3}"/>
              </a:ext>
            </a:extLst>
          </p:cNvPr>
          <p:cNvSpPr>
            <a:spLocks xmlns:a="http://schemas.openxmlformats.org/drawingml/2006/main" noGrp="1"/>
          </p:cNvSpPr>
          <p:nvPr/>
        </p:nvSpPr>
        <p:spPr>
          <a:xfrm xmlns:a="http://schemas.openxmlformats.org/drawingml/2006/main">
            <a:off x="6477000" y="2333625"/>
            <a:ext cx="1123950" cy="11620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a:extLst xmlns:a="http://schemas.openxmlformats.org/drawingml/2006/main">
              <a:ext uri="{FF2B5EF4-FFF2-40B4-BE49-F238E27FC236}">
                <a16:creationId xmlns:a16="http://schemas.microsoft.com/office/drawing/2014/main" id="{B9B50579-0F1D-47F3-9E09-40B7309904A6}"/>
              </a:ext>
            </a:extLst>
          </p:cNvPr>
          <p:cNvSpPr>
            <a:spLocks xmlns:a="http://schemas.openxmlformats.org/drawingml/2006/main" noGrp="1"/>
          </p:cNvSpPr>
          <p:nvPr/>
        </p:nvSpPr>
        <p:spPr>
          <a:xfrm xmlns:a="http://schemas.openxmlformats.org/drawingml/2006/main">
            <a:off x="6572250" y="25336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11318"/>
                </a:solidFill>
              </a:defRPr>
            </a:pPr>
            <a:r>
              <a:rPr sz="1050" b="1">
                <a:solidFill>
                  <a:srgbClr val="111318"/>
                </a:solidFill>
              </a:rPr>
              <a:t>Metrology</a:t>
            </a:r>
          </a:p>
        </p:txBody>
      </p:sp>
      <p:sp>
        <p:nvSpPr>
          <p:cNvPr id="23" name="lt">
            <a:extLst xmlns:a="http://schemas.openxmlformats.org/drawingml/2006/main">
              <a:ext uri="{FF2B5EF4-FFF2-40B4-BE49-F238E27FC236}">
                <a16:creationId xmlns:a16="http://schemas.microsoft.com/office/drawing/2014/main" id="{131B521E-DE8A-45D0-A54C-F67E7C24ECDC}"/>
              </a:ext>
            </a:extLst>
          </p:cNvPr>
          <p:cNvSpPr>
            <a:spLocks xmlns:a="http://schemas.openxmlformats.org/drawingml/2006/main" noGrp="1"/>
          </p:cNvSpPr>
          <p:nvPr/>
        </p:nvSpPr>
        <p:spPr>
          <a:xfrm xmlns:a="http://schemas.openxmlformats.org/drawingml/2006/main">
            <a:off x="6572250" y="30099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318"/>
                </a:solidFill>
              </a:defRPr>
            </a:pPr>
            <a:r>
              <a:rPr sz="1425" b="1">
                <a:solidFill>
                  <a:srgbClr val="111318"/>
                </a:solidFill>
              </a:rPr>
              <a:t>1.5 ms</a:t>
            </a:r>
          </a:p>
        </p:txBody>
      </p:sp>
      <p:sp>
        <p:nvSpPr>
          <p:cNvPr id="24" name="text">
            <a:extLst xmlns:a="http://schemas.openxmlformats.org/drawingml/2006/main">
              <a:ext uri="{FF2B5EF4-FFF2-40B4-BE49-F238E27FC236}">
                <a16:creationId xmlns:a16="http://schemas.microsoft.com/office/drawing/2014/main" id="{5B9EB0A2-C8D7-46B7-A7FE-C77765048A1A}"/>
              </a:ext>
            </a:extLst>
          </p:cNvPr>
          <p:cNvSpPr>
            <a:spLocks xmlns:a="http://schemas.openxmlformats.org/drawingml/2006/main" noGrp="1"/>
          </p:cNvSpPr>
          <p:nvPr/>
        </p:nvSpPr>
        <p:spPr>
          <a:xfrm xmlns:a="http://schemas.openxmlformats.org/drawingml/2006/main">
            <a:off x="7620000" y="276225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a:t>
            </a:r>
          </a:p>
        </p:txBody>
      </p:sp>
      <p:sp>
        <p:nvSpPr>
          <p:cNvPr id="25" name="rect">
            <a:extLst xmlns:a="http://schemas.openxmlformats.org/drawingml/2006/main">
              <a:ext uri="{FF2B5EF4-FFF2-40B4-BE49-F238E27FC236}">
                <a16:creationId xmlns:a16="http://schemas.microsoft.com/office/drawing/2014/main" id="{DA8BF7EF-72D9-4310-9789-3B16517DB347}"/>
              </a:ext>
            </a:extLst>
          </p:cNvPr>
          <p:cNvSpPr>
            <a:spLocks xmlns:a="http://schemas.openxmlformats.org/drawingml/2006/main" noGrp="1"/>
          </p:cNvSpPr>
          <p:nvPr/>
        </p:nvSpPr>
        <p:spPr>
          <a:xfrm xmlns:a="http://schemas.openxmlformats.org/drawingml/2006/main">
            <a:off x="7791450" y="2333625"/>
            <a:ext cx="1123950" cy="11620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a:extLst xmlns:a="http://schemas.openxmlformats.org/drawingml/2006/main">
              <a:ext uri="{FF2B5EF4-FFF2-40B4-BE49-F238E27FC236}">
                <a16:creationId xmlns:a16="http://schemas.microsoft.com/office/drawing/2014/main" id="{F66693E9-B4CF-4A9B-96B8-4F087425823F}"/>
              </a:ext>
            </a:extLst>
          </p:cNvPr>
          <p:cNvSpPr>
            <a:spLocks xmlns:a="http://schemas.openxmlformats.org/drawingml/2006/main" noGrp="1"/>
          </p:cNvSpPr>
          <p:nvPr/>
        </p:nvSpPr>
        <p:spPr>
          <a:xfrm xmlns:a="http://schemas.openxmlformats.org/drawingml/2006/main">
            <a:off x="7886700" y="25336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11318"/>
                </a:solidFill>
              </a:defRPr>
            </a:pPr>
            <a:r>
              <a:rPr sz="1050" b="1">
                <a:solidFill>
                  <a:srgbClr val="111318"/>
                </a:solidFill>
              </a:rPr>
              <a:t>Network</a:t>
            </a:r>
          </a:p>
        </p:txBody>
      </p:sp>
      <p:sp>
        <p:nvSpPr>
          <p:cNvPr id="27" name="lt">
            <a:extLst xmlns:a="http://schemas.openxmlformats.org/drawingml/2006/main">
              <a:ext uri="{FF2B5EF4-FFF2-40B4-BE49-F238E27FC236}">
                <a16:creationId xmlns:a16="http://schemas.microsoft.com/office/drawing/2014/main" id="{C27CCC4A-0756-442C-958B-8686C167C94F}"/>
              </a:ext>
            </a:extLst>
          </p:cNvPr>
          <p:cNvSpPr>
            <a:spLocks xmlns:a="http://schemas.openxmlformats.org/drawingml/2006/main" noGrp="1"/>
          </p:cNvSpPr>
          <p:nvPr/>
        </p:nvSpPr>
        <p:spPr>
          <a:xfrm xmlns:a="http://schemas.openxmlformats.org/drawingml/2006/main">
            <a:off x="7886700" y="30099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318"/>
                </a:solidFill>
              </a:defRPr>
            </a:pPr>
            <a:r>
              <a:rPr sz="1425" b="1">
                <a:solidFill>
                  <a:srgbClr val="111318"/>
                </a:solidFill>
              </a:rPr>
              <a:t>0.8 ms</a:t>
            </a:r>
          </a:p>
        </p:txBody>
      </p:sp>
      <p:sp>
        <p:nvSpPr>
          <p:cNvPr id="28" name="text">
            <a:extLst xmlns:a="http://schemas.openxmlformats.org/drawingml/2006/main">
              <a:ext uri="{FF2B5EF4-FFF2-40B4-BE49-F238E27FC236}">
                <a16:creationId xmlns:a16="http://schemas.microsoft.com/office/drawing/2014/main" id="{328F02B7-44EF-4EA9-9DE7-BC2E2F6FE12A}"/>
              </a:ext>
            </a:extLst>
          </p:cNvPr>
          <p:cNvSpPr>
            <a:spLocks xmlns:a="http://schemas.openxmlformats.org/drawingml/2006/main" noGrp="1"/>
          </p:cNvSpPr>
          <p:nvPr/>
        </p:nvSpPr>
        <p:spPr>
          <a:xfrm xmlns:a="http://schemas.openxmlformats.org/drawingml/2006/main">
            <a:off x="8934450" y="276225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a:t>
            </a:r>
          </a:p>
        </p:txBody>
      </p:sp>
      <p:sp>
        <p:nvSpPr>
          <p:cNvPr id="29" name="rect">
            <a:extLst xmlns:a="http://schemas.openxmlformats.org/drawingml/2006/main">
              <a:ext uri="{FF2B5EF4-FFF2-40B4-BE49-F238E27FC236}">
                <a16:creationId xmlns:a16="http://schemas.microsoft.com/office/drawing/2014/main" id="{6997E9A6-6807-4AD2-9700-148E8D663961}"/>
              </a:ext>
            </a:extLst>
          </p:cNvPr>
          <p:cNvSpPr>
            <a:spLocks xmlns:a="http://schemas.openxmlformats.org/drawingml/2006/main" noGrp="1"/>
          </p:cNvSpPr>
          <p:nvPr/>
        </p:nvSpPr>
        <p:spPr>
          <a:xfrm xmlns:a="http://schemas.openxmlformats.org/drawingml/2006/main">
            <a:off x="9105900" y="2333625"/>
            <a:ext cx="1123950" cy="11620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a:extLst xmlns:a="http://schemas.openxmlformats.org/drawingml/2006/main">
              <a:ext uri="{FF2B5EF4-FFF2-40B4-BE49-F238E27FC236}">
                <a16:creationId xmlns:a16="http://schemas.microsoft.com/office/drawing/2014/main" id="{B80FFCA0-94C3-41C2-B586-F9F6572BF735}"/>
              </a:ext>
            </a:extLst>
          </p:cNvPr>
          <p:cNvSpPr>
            <a:spLocks xmlns:a="http://schemas.openxmlformats.org/drawingml/2006/main" noGrp="1"/>
          </p:cNvSpPr>
          <p:nvPr/>
        </p:nvSpPr>
        <p:spPr>
          <a:xfrm xmlns:a="http://schemas.openxmlformats.org/drawingml/2006/main">
            <a:off x="9201150" y="25336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11318"/>
                </a:solidFill>
              </a:defRPr>
            </a:pPr>
            <a:r>
              <a:rPr sz="1050" b="1">
                <a:solidFill>
                  <a:srgbClr val="111318"/>
                </a:solidFill>
              </a:rPr>
              <a:t>PLC</a:t>
            </a:r>
          </a:p>
        </p:txBody>
      </p:sp>
      <p:sp>
        <p:nvSpPr>
          <p:cNvPr id="31" name="lt">
            <a:extLst xmlns:a="http://schemas.openxmlformats.org/drawingml/2006/main">
              <a:ext uri="{FF2B5EF4-FFF2-40B4-BE49-F238E27FC236}">
                <a16:creationId xmlns:a16="http://schemas.microsoft.com/office/drawing/2014/main" id="{628D6416-8D1D-4764-8A36-86518BE6BB7B}"/>
              </a:ext>
            </a:extLst>
          </p:cNvPr>
          <p:cNvSpPr>
            <a:spLocks xmlns:a="http://schemas.openxmlformats.org/drawingml/2006/main" noGrp="1"/>
          </p:cNvSpPr>
          <p:nvPr/>
        </p:nvSpPr>
        <p:spPr>
          <a:xfrm xmlns:a="http://schemas.openxmlformats.org/drawingml/2006/main">
            <a:off x="9201150" y="30099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318"/>
                </a:solidFill>
              </a:defRPr>
            </a:pPr>
            <a:r>
              <a:rPr sz="1425" b="1">
                <a:solidFill>
                  <a:srgbClr val="111318"/>
                </a:solidFill>
              </a:rPr>
              <a:t>2.0 ms</a:t>
            </a:r>
          </a:p>
        </p:txBody>
      </p:sp>
      <p:sp>
        <p:nvSpPr>
          <p:cNvPr id="32" name="text">
            <a:extLst xmlns:a="http://schemas.openxmlformats.org/drawingml/2006/main">
              <a:ext uri="{FF2B5EF4-FFF2-40B4-BE49-F238E27FC236}">
                <a16:creationId xmlns:a16="http://schemas.microsoft.com/office/drawing/2014/main" id="{A9FABA67-D2A7-462B-9FB9-3C1F64626E93}"/>
              </a:ext>
            </a:extLst>
          </p:cNvPr>
          <p:cNvSpPr>
            <a:spLocks xmlns:a="http://schemas.openxmlformats.org/drawingml/2006/main" noGrp="1"/>
          </p:cNvSpPr>
          <p:nvPr/>
        </p:nvSpPr>
        <p:spPr>
          <a:xfrm xmlns:a="http://schemas.openxmlformats.org/drawingml/2006/main">
            <a:off x="10248900" y="276225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a:t>
            </a:r>
          </a:p>
        </p:txBody>
      </p:sp>
      <p:sp>
        <p:nvSpPr>
          <p:cNvPr id="33" name="rect">
            <a:extLst xmlns:a="http://schemas.openxmlformats.org/drawingml/2006/main">
              <a:ext uri="{FF2B5EF4-FFF2-40B4-BE49-F238E27FC236}">
                <a16:creationId xmlns:a16="http://schemas.microsoft.com/office/drawing/2014/main" id="{EC07301D-DC8B-4CAA-AB8E-D5FE271F6995}"/>
              </a:ext>
            </a:extLst>
          </p:cNvPr>
          <p:cNvSpPr>
            <a:spLocks xmlns:a="http://schemas.openxmlformats.org/drawingml/2006/main" noGrp="1"/>
          </p:cNvSpPr>
          <p:nvPr/>
        </p:nvSpPr>
        <p:spPr>
          <a:xfrm xmlns:a="http://schemas.openxmlformats.org/drawingml/2006/main">
            <a:off x="10420350" y="2333625"/>
            <a:ext cx="1123950" cy="11620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a:extLst xmlns:a="http://schemas.openxmlformats.org/drawingml/2006/main">
              <a:ext uri="{FF2B5EF4-FFF2-40B4-BE49-F238E27FC236}">
                <a16:creationId xmlns:a16="http://schemas.microsoft.com/office/drawing/2014/main" id="{78C4BC2D-A2AB-4857-A93A-7C9BE539F582}"/>
              </a:ext>
            </a:extLst>
          </p:cNvPr>
          <p:cNvSpPr>
            <a:spLocks xmlns:a="http://schemas.openxmlformats.org/drawingml/2006/main" noGrp="1"/>
          </p:cNvSpPr>
          <p:nvPr/>
        </p:nvSpPr>
        <p:spPr>
          <a:xfrm xmlns:a="http://schemas.openxmlformats.org/drawingml/2006/main">
            <a:off x="10515600" y="25336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11318"/>
                </a:solidFill>
              </a:defRPr>
            </a:pPr>
            <a:r>
              <a:rPr sz="1050" b="1">
                <a:solidFill>
                  <a:srgbClr val="111318"/>
                </a:solidFill>
              </a:rPr>
              <a:t>Valve + air</a:t>
            </a:r>
          </a:p>
        </p:txBody>
      </p:sp>
      <p:sp>
        <p:nvSpPr>
          <p:cNvPr id="35" name="lt">
            <a:extLst xmlns:a="http://schemas.openxmlformats.org/drawingml/2006/main">
              <a:ext uri="{FF2B5EF4-FFF2-40B4-BE49-F238E27FC236}">
                <a16:creationId xmlns:a16="http://schemas.microsoft.com/office/drawing/2014/main" id="{3057ED66-EE5C-4AC1-BC84-ACE91856C5A8}"/>
              </a:ext>
            </a:extLst>
          </p:cNvPr>
          <p:cNvSpPr>
            <a:spLocks xmlns:a="http://schemas.openxmlformats.org/drawingml/2006/main" noGrp="1"/>
          </p:cNvSpPr>
          <p:nvPr/>
        </p:nvSpPr>
        <p:spPr>
          <a:xfrm xmlns:a="http://schemas.openxmlformats.org/drawingml/2006/main">
            <a:off x="10515600" y="30099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318"/>
                </a:solidFill>
              </a:defRPr>
            </a:pPr>
            <a:r>
              <a:rPr sz="1425" b="1">
                <a:solidFill>
                  <a:srgbClr val="111318"/>
                </a:solidFill>
              </a:rPr>
              <a:t>4.5 ms</a:t>
            </a:r>
          </a:p>
        </p:txBody>
      </p:sp>
      <p:sp>
        <p:nvSpPr>
          <p:cNvPr id="36" name="metric">
            <a:extLst xmlns:a="http://schemas.openxmlformats.org/drawingml/2006/main">
              <a:ext uri="{FF2B5EF4-FFF2-40B4-BE49-F238E27FC236}">
                <a16:creationId xmlns:a16="http://schemas.microsoft.com/office/drawing/2014/main" id="{AF722E2D-7C47-4C2B-B7DC-A0994613CEDD}"/>
              </a:ext>
            </a:extLst>
          </p:cNvPr>
          <p:cNvSpPr>
            <a:spLocks xmlns:a="http://schemas.openxmlformats.org/drawingml/2006/main" noGrp="1"/>
          </p:cNvSpPr>
          <p:nvPr/>
        </p:nvSpPr>
        <p:spPr>
          <a:xfrm xmlns:a="http://schemas.openxmlformats.org/drawingml/2006/main">
            <a:off x="685800" y="4095750"/>
            <a:ext cx="240030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metric-accent">
            <a:extLst xmlns:a="http://schemas.openxmlformats.org/drawingml/2006/main">
              <a:ext uri="{FF2B5EF4-FFF2-40B4-BE49-F238E27FC236}">
                <a16:creationId xmlns:a16="http://schemas.microsoft.com/office/drawing/2014/main" id="{FE61156C-D6AF-44B1-9BC0-1FDB6C7643AC}"/>
              </a:ext>
            </a:extLst>
          </p:cNvPr>
          <p:cNvSpPr>
            <a:spLocks xmlns:a="http://schemas.openxmlformats.org/drawingml/2006/main" noGrp="1"/>
          </p:cNvSpPr>
          <p:nvPr/>
        </p:nvSpPr>
        <p:spPr>
          <a:xfrm xmlns:a="http://schemas.openxmlformats.org/drawingml/2006/main">
            <a:off x="685800" y="4095750"/>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metric-label">
            <a:extLst xmlns:a="http://schemas.openxmlformats.org/drawingml/2006/main">
              <a:ext uri="{FF2B5EF4-FFF2-40B4-BE49-F238E27FC236}">
                <a16:creationId xmlns:a16="http://schemas.microsoft.com/office/drawing/2014/main" id="{B8312C11-F23B-458A-BA49-735638B6823B}"/>
              </a:ext>
            </a:extLst>
          </p:cNvPr>
          <p:cNvSpPr>
            <a:spLocks xmlns:a="http://schemas.openxmlformats.org/drawingml/2006/main" noGrp="1"/>
          </p:cNvSpPr>
          <p:nvPr/>
        </p:nvSpPr>
        <p:spPr>
          <a:xfrm xmlns:a="http://schemas.openxmlformats.org/drawingml/2006/main">
            <a:off x="895350" y="42672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P50 DESIGN MODEL</a:t>
            </a:r>
          </a:p>
        </p:txBody>
      </p:sp>
      <p:sp>
        <p:nvSpPr>
          <p:cNvPr id="39" name="metric-value">
            <a:extLst xmlns:a="http://schemas.openxmlformats.org/drawingml/2006/main">
              <a:ext uri="{FF2B5EF4-FFF2-40B4-BE49-F238E27FC236}">
                <a16:creationId xmlns:a16="http://schemas.microsoft.com/office/drawing/2014/main" id="{76C62F41-F409-4A78-BA66-14D2DF5D1E8C}"/>
              </a:ext>
            </a:extLst>
          </p:cNvPr>
          <p:cNvSpPr>
            <a:spLocks xmlns:a="http://schemas.openxmlformats.org/drawingml/2006/main" noGrp="1"/>
          </p:cNvSpPr>
          <p:nvPr/>
        </p:nvSpPr>
        <p:spPr>
          <a:xfrm xmlns:a="http://schemas.openxmlformats.org/drawingml/2006/main">
            <a:off x="895350" y="45053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32.9 ms</a:t>
            </a:r>
          </a:p>
        </p:txBody>
      </p:sp>
      <p:sp>
        <p:nvSpPr>
          <p:cNvPr id="40" name="metric-sub">
            <a:extLst xmlns:a="http://schemas.openxmlformats.org/drawingml/2006/main">
              <a:ext uri="{FF2B5EF4-FFF2-40B4-BE49-F238E27FC236}">
                <a16:creationId xmlns:a16="http://schemas.microsoft.com/office/drawing/2014/main" id="{FC529C04-0708-4C86-81CB-F5FEF77ECF88}"/>
              </a:ext>
            </a:extLst>
          </p:cNvPr>
          <p:cNvSpPr>
            <a:spLocks xmlns:a="http://schemas.openxmlformats.org/drawingml/2006/main" noGrp="1"/>
          </p:cNvSpPr>
          <p:nvPr/>
        </p:nvSpPr>
        <p:spPr>
          <a:xfrm xmlns:a="http://schemas.openxmlformats.org/drawingml/2006/main">
            <a:off x="895350" y="4962525"/>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not a hardware measurement</a:t>
            </a:r>
          </a:p>
        </p:txBody>
      </p:sp>
      <p:sp>
        <p:nvSpPr>
          <p:cNvPr id="41" name="metric">
            <a:extLst xmlns:a="http://schemas.openxmlformats.org/drawingml/2006/main">
              <a:ext uri="{FF2B5EF4-FFF2-40B4-BE49-F238E27FC236}">
                <a16:creationId xmlns:a16="http://schemas.microsoft.com/office/drawing/2014/main" id="{25490935-AA9D-4F3C-A7F9-7D22A31484E5}"/>
              </a:ext>
            </a:extLst>
          </p:cNvPr>
          <p:cNvSpPr>
            <a:spLocks xmlns:a="http://schemas.openxmlformats.org/drawingml/2006/main" noGrp="1"/>
          </p:cNvSpPr>
          <p:nvPr/>
        </p:nvSpPr>
        <p:spPr>
          <a:xfrm xmlns:a="http://schemas.openxmlformats.org/drawingml/2006/main">
            <a:off x="3257550" y="4095750"/>
            <a:ext cx="240030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metric-accent">
            <a:extLst xmlns:a="http://schemas.openxmlformats.org/drawingml/2006/main">
              <a:ext uri="{FF2B5EF4-FFF2-40B4-BE49-F238E27FC236}">
                <a16:creationId xmlns:a16="http://schemas.microsoft.com/office/drawing/2014/main" id="{79EB50C9-9616-4C35-A15F-FEDFCC2A3392}"/>
              </a:ext>
            </a:extLst>
          </p:cNvPr>
          <p:cNvSpPr>
            <a:spLocks xmlns:a="http://schemas.openxmlformats.org/drawingml/2006/main" noGrp="1"/>
          </p:cNvSpPr>
          <p:nvPr/>
        </p:nvSpPr>
        <p:spPr>
          <a:xfrm xmlns:a="http://schemas.openxmlformats.org/drawingml/2006/main">
            <a:off x="3257550" y="4095750"/>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metric-label">
            <a:extLst xmlns:a="http://schemas.openxmlformats.org/drawingml/2006/main">
              <a:ext uri="{FF2B5EF4-FFF2-40B4-BE49-F238E27FC236}">
                <a16:creationId xmlns:a16="http://schemas.microsoft.com/office/drawing/2014/main" id="{CFF94292-CF72-4583-A8BE-091E93A5C0D2}"/>
              </a:ext>
            </a:extLst>
          </p:cNvPr>
          <p:cNvSpPr>
            <a:spLocks xmlns:a="http://schemas.openxmlformats.org/drawingml/2006/main" noGrp="1"/>
          </p:cNvSpPr>
          <p:nvPr/>
        </p:nvSpPr>
        <p:spPr>
          <a:xfrm xmlns:a="http://schemas.openxmlformats.org/drawingml/2006/main">
            <a:off x="3467100" y="42672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P99.9 MODEL</a:t>
            </a:r>
          </a:p>
        </p:txBody>
      </p:sp>
      <p:sp>
        <p:nvSpPr>
          <p:cNvPr id="44" name="metric-value">
            <a:extLst xmlns:a="http://schemas.openxmlformats.org/drawingml/2006/main">
              <a:ext uri="{FF2B5EF4-FFF2-40B4-BE49-F238E27FC236}">
                <a16:creationId xmlns:a16="http://schemas.microsoft.com/office/drawing/2014/main" id="{A758DF52-9224-4857-AE03-9B9297E107ED}"/>
              </a:ext>
            </a:extLst>
          </p:cNvPr>
          <p:cNvSpPr>
            <a:spLocks xmlns:a="http://schemas.openxmlformats.org/drawingml/2006/main" noGrp="1"/>
          </p:cNvSpPr>
          <p:nvPr/>
        </p:nvSpPr>
        <p:spPr>
          <a:xfrm xmlns:a="http://schemas.openxmlformats.org/drawingml/2006/main">
            <a:off x="3467100" y="45053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35.9 ms</a:t>
            </a:r>
          </a:p>
        </p:txBody>
      </p:sp>
      <p:sp>
        <p:nvSpPr>
          <p:cNvPr id="45" name="metric-sub">
            <a:extLst xmlns:a="http://schemas.openxmlformats.org/drawingml/2006/main">
              <a:ext uri="{FF2B5EF4-FFF2-40B4-BE49-F238E27FC236}">
                <a16:creationId xmlns:a16="http://schemas.microsoft.com/office/drawing/2014/main" id="{E3DDEA0F-2963-43EF-A663-463EBFF7C6D9}"/>
              </a:ext>
            </a:extLst>
          </p:cNvPr>
          <p:cNvSpPr>
            <a:spLocks xmlns:a="http://schemas.openxmlformats.org/drawingml/2006/main" noGrp="1"/>
          </p:cNvSpPr>
          <p:nvPr/>
        </p:nvSpPr>
        <p:spPr>
          <a:xfrm xmlns:a="http://schemas.openxmlformats.org/drawingml/2006/main">
            <a:off x="3467100" y="4962525"/>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Monte Carlo output</a:t>
            </a:r>
          </a:p>
        </p:txBody>
      </p:sp>
      <p:sp>
        <p:nvSpPr>
          <p:cNvPr id="46" name="metric">
            <a:extLst xmlns:a="http://schemas.openxmlformats.org/drawingml/2006/main">
              <a:ext uri="{FF2B5EF4-FFF2-40B4-BE49-F238E27FC236}">
                <a16:creationId xmlns:a16="http://schemas.microsoft.com/office/drawing/2014/main" id="{515A314F-654F-4DC8-84B3-94D9DFA41F1D}"/>
              </a:ext>
            </a:extLst>
          </p:cNvPr>
          <p:cNvSpPr>
            <a:spLocks xmlns:a="http://schemas.openxmlformats.org/drawingml/2006/main" noGrp="1"/>
          </p:cNvSpPr>
          <p:nvPr/>
        </p:nvSpPr>
        <p:spPr>
          <a:xfrm xmlns:a="http://schemas.openxmlformats.org/drawingml/2006/main">
            <a:off x="5829300" y="4095750"/>
            <a:ext cx="240030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metric-accent">
            <a:extLst xmlns:a="http://schemas.openxmlformats.org/drawingml/2006/main">
              <a:ext uri="{FF2B5EF4-FFF2-40B4-BE49-F238E27FC236}">
                <a16:creationId xmlns:a16="http://schemas.microsoft.com/office/drawing/2014/main" id="{86BDB1D1-0617-46C3-9E40-598B845B1CC6}"/>
              </a:ext>
            </a:extLst>
          </p:cNvPr>
          <p:cNvSpPr>
            <a:spLocks xmlns:a="http://schemas.openxmlformats.org/drawingml/2006/main" noGrp="1"/>
          </p:cNvSpPr>
          <p:nvPr/>
        </p:nvSpPr>
        <p:spPr>
          <a:xfrm xmlns:a="http://schemas.openxmlformats.org/drawingml/2006/main">
            <a:off x="5829300" y="4095750"/>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metric-label">
            <a:extLst xmlns:a="http://schemas.openxmlformats.org/drawingml/2006/main">
              <a:ext uri="{FF2B5EF4-FFF2-40B4-BE49-F238E27FC236}">
                <a16:creationId xmlns:a16="http://schemas.microsoft.com/office/drawing/2014/main" id="{5EA323D6-7FAF-4924-96F4-933B4782020F}"/>
              </a:ext>
            </a:extLst>
          </p:cNvPr>
          <p:cNvSpPr>
            <a:spLocks xmlns:a="http://schemas.openxmlformats.org/drawingml/2006/main" noGrp="1"/>
          </p:cNvSpPr>
          <p:nvPr/>
        </p:nvSpPr>
        <p:spPr>
          <a:xfrm xmlns:a="http://schemas.openxmlformats.org/drawingml/2006/main">
            <a:off x="6038850" y="42672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DESIGN W/ GUARD</a:t>
            </a:r>
          </a:p>
        </p:txBody>
      </p:sp>
      <p:sp>
        <p:nvSpPr>
          <p:cNvPr id="49" name="metric-value">
            <a:extLst xmlns:a="http://schemas.openxmlformats.org/drawingml/2006/main">
              <a:ext uri="{FF2B5EF4-FFF2-40B4-BE49-F238E27FC236}">
                <a16:creationId xmlns:a16="http://schemas.microsoft.com/office/drawing/2014/main" id="{7C5A9B57-2F35-4CA9-AAA1-E338D5B3DBBE}"/>
              </a:ext>
            </a:extLst>
          </p:cNvPr>
          <p:cNvSpPr>
            <a:spLocks xmlns:a="http://schemas.openxmlformats.org/drawingml/2006/main" noGrp="1"/>
          </p:cNvSpPr>
          <p:nvPr/>
        </p:nvSpPr>
        <p:spPr>
          <a:xfrm xmlns:a="http://schemas.openxmlformats.org/drawingml/2006/main">
            <a:off x="6038850" y="45053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38.9 ms</a:t>
            </a:r>
          </a:p>
        </p:txBody>
      </p:sp>
      <p:sp>
        <p:nvSpPr>
          <p:cNvPr id="50" name="metric-sub">
            <a:extLst xmlns:a="http://schemas.openxmlformats.org/drawingml/2006/main">
              <a:ext uri="{FF2B5EF4-FFF2-40B4-BE49-F238E27FC236}">
                <a16:creationId xmlns:a16="http://schemas.microsoft.com/office/drawing/2014/main" id="{2E9D525F-5556-4D40-BFF3-C973E4507410}"/>
              </a:ext>
            </a:extLst>
          </p:cNvPr>
          <p:cNvSpPr>
            <a:spLocks xmlns:a="http://schemas.openxmlformats.org/drawingml/2006/main" noGrp="1"/>
          </p:cNvSpPr>
          <p:nvPr/>
        </p:nvSpPr>
        <p:spPr>
          <a:xfrm xmlns:a="http://schemas.openxmlformats.org/drawingml/2006/main">
            <a:off x="6038850" y="4962525"/>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P99.9 + 3.0 ms</a:t>
            </a:r>
          </a:p>
        </p:txBody>
      </p:sp>
      <p:sp>
        <p:nvSpPr>
          <p:cNvPr id="51" name="metric">
            <a:extLst xmlns:a="http://schemas.openxmlformats.org/drawingml/2006/main">
              <a:ext uri="{FF2B5EF4-FFF2-40B4-BE49-F238E27FC236}">
                <a16:creationId xmlns:a16="http://schemas.microsoft.com/office/drawing/2014/main" id="{B31C6EEC-142B-4F6D-9D0E-528C715C0055}"/>
              </a:ext>
            </a:extLst>
          </p:cNvPr>
          <p:cNvSpPr>
            <a:spLocks xmlns:a="http://schemas.openxmlformats.org/drawingml/2006/main" noGrp="1"/>
          </p:cNvSpPr>
          <p:nvPr/>
        </p:nvSpPr>
        <p:spPr>
          <a:xfrm xmlns:a="http://schemas.openxmlformats.org/drawingml/2006/main">
            <a:off x="8401050" y="4095750"/>
            <a:ext cx="240030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metric-accent">
            <a:extLst xmlns:a="http://schemas.openxmlformats.org/drawingml/2006/main">
              <a:ext uri="{FF2B5EF4-FFF2-40B4-BE49-F238E27FC236}">
                <a16:creationId xmlns:a16="http://schemas.microsoft.com/office/drawing/2014/main" id="{5D30885C-5C45-448C-A6D1-976839CB702C}"/>
              </a:ext>
            </a:extLst>
          </p:cNvPr>
          <p:cNvSpPr>
            <a:spLocks xmlns:a="http://schemas.openxmlformats.org/drawingml/2006/main" noGrp="1"/>
          </p:cNvSpPr>
          <p:nvPr/>
        </p:nvSpPr>
        <p:spPr>
          <a:xfrm xmlns:a="http://schemas.openxmlformats.org/drawingml/2006/main">
            <a:off x="8401050" y="4095750"/>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53" name="metric-label">
            <a:extLst xmlns:a="http://schemas.openxmlformats.org/drawingml/2006/main">
              <a:ext uri="{FF2B5EF4-FFF2-40B4-BE49-F238E27FC236}">
                <a16:creationId xmlns:a16="http://schemas.microsoft.com/office/drawing/2014/main" id="{7F4AE10D-2E51-4D28-946B-434DB32F8FFD}"/>
              </a:ext>
            </a:extLst>
          </p:cNvPr>
          <p:cNvSpPr>
            <a:spLocks xmlns:a="http://schemas.openxmlformats.org/drawingml/2006/main" noGrp="1"/>
          </p:cNvSpPr>
          <p:nvPr/>
        </p:nvSpPr>
        <p:spPr>
          <a:xfrm xmlns:a="http://schemas.openxmlformats.org/drawingml/2006/main">
            <a:off x="8610600" y="42672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500 mm BUFFER</a:t>
            </a:r>
          </a:p>
        </p:txBody>
      </p:sp>
      <p:sp>
        <p:nvSpPr>
          <p:cNvPr id="54" name="metric-value">
            <a:extLst xmlns:a="http://schemas.openxmlformats.org/drawingml/2006/main">
              <a:ext uri="{FF2B5EF4-FFF2-40B4-BE49-F238E27FC236}">
                <a16:creationId xmlns:a16="http://schemas.microsoft.com/office/drawing/2014/main" id="{79F02C1B-447C-4AB9-864B-366C597CFA02}"/>
              </a:ext>
            </a:extLst>
          </p:cNvPr>
          <p:cNvSpPr>
            <a:spLocks xmlns:a="http://schemas.openxmlformats.org/drawingml/2006/main" noGrp="1"/>
          </p:cNvSpPr>
          <p:nvPr/>
        </p:nvSpPr>
        <p:spPr>
          <a:xfrm xmlns:a="http://schemas.openxmlformats.org/drawingml/2006/main">
            <a:off x="8610600" y="45053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7.1×</a:t>
            </a:r>
          </a:p>
        </p:txBody>
      </p:sp>
      <p:sp>
        <p:nvSpPr>
          <p:cNvPr id="55" name="metric-sub">
            <a:extLst xmlns:a="http://schemas.openxmlformats.org/drawingml/2006/main">
              <a:ext uri="{FF2B5EF4-FFF2-40B4-BE49-F238E27FC236}">
                <a16:creationId xmlns:a16="http://schemas.microsoft.com/office/drawing/2014/main" id="{86756017-696A-4BC4-9522-A678C8BCF9A2}"/>
              </a:ext>
            </a:extLst>
          </p:cNvPr>
          <p:cNvSpPr>
            <a:spLocks xmlns:a="http://schemas.openxmlformats.org/drawingml/2006/main" noGrp="1"/>
          </p:cNvSpPr>
          <p:nvPr/>
        </p:nvSpPr>
        <p:spPr>
          <a:xfrm xmlns:a="http://schemas.openxmlformats.org/drawingml/2006/main">
            <a:off x="8610600" y="4962525"/>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at 1.8 m/s; design result</a:t>
            </a:r>
          </a:p>
        </p:txBody>
      </p:sp>
      <p:sp>
        <p:nvSpPr>
          <p:cNvPr id="56" name="text">
            <a:extLst xmlns:a="http://schemas.openxmlformats.org/drawingml/2006/main">
              <a:ext uri="{FF2B5EF4-FFF2-40B4-BE49-F238E27FC236}">
                <a16:creationId xmlns:a16="http://schemas.microsoft.com/office/drawing/2014/main" id="{67963882-CBE5-470E-967C-546B647D49E1}"/>
              </a:ext>
            </a:extLst>
          </p:cNvPr>
          <p:cNvSpPr>
            <a:spLocks xmlns:a="http://schemas.openxmlformats.org/drawingml/2006/main" noGrp="1"/>
          </p:cNvSpPr>
          <p:nvPr/>
        </p:nvSpPr>
        <p:spPr>
          <a:xfrm xmlns:a="http://schemas.openxmlformats.org/drawingml/2006/main">
            <a:off x="685800" y="557212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3D3D"/>
                </a:solidFill>
              </a:defRPr>
            </a:pPr>
            <a:r>
              <a:rPr sz="1350" b="1">
                <a:solidFill>
                  <a:srgbClr val="C43D3D"/>
                </a:solidFill>
              </a:rPr>
              <a:t>PLC protocol telemetry ≠ deterministic safety interlock. HIL evidence is mandatory before deployment.</a:t>
            </a:r>
          </a:p>
        </p:txBody>
      </p:sp>
      <p:sp>
        <p:nvSpPr>
          <p:cNvPr id="57" name="Straight Connector 56">
            <a:extLst xmlns:a="http://schemas.openxmlformats.org/drawingml/2006/main">
              <a:ext uri="{FF2B5EF4-FFF2-40B4-BE49-F238E27FC236}">
                <a16:creationId xmlns:a16="http://schemas.microsoft.com/office/drawing/2014/main" id="{E4534083-9B97-4A51-A0DC-D281BF923843}"/>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source">
            <a:extLst xmlns:a="http://schemas.openxmlformats.org/drawingml/2006/main">
              <a:ext uri="{FF2B5EF4-FFF2-40B4-BE49-F238E27FC236}">
                <a16:creationId xmlns:a16="http://schemas.microsoft.com/office/drawing/2014/main" id="{E26BA953-A70F-498F-B9E4-68D25BC8BAC5}"/>
              </a:ext>
            </a:extLst>
          </p:cNvPr>
          <p:cNvSpPr>
            <a:spLocks xmlns:a="http://schemas.openxmlformats.org/drawingml/2006/main" noGrp="1"/>
          </p:cNvSpPr>
          <p:nvPr/>
        </p:nvSpPr>
        <p:spPr>
          <a:xfrm xmlns:a="http://schemas.openxmlformats.org/drawingml/2006/main">
            <a:off x="685800" y="64960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5F6670"/>
                </a:solidFill>
              </a:defRPr>
            </a:pPr>
            <a:r>
              <a:rPr sz="825" b="0">
                <a:solidFill>
                  <a:srgbClr val="5F6670"/>
                </a:solidFill>
              </a:rPr>
              <a:t>Latency engine status in source: MONTE_CARLO_SIMULATED; the P99.9 number is not a measured production SLA.</a:t>
            </a:r>
          </a:p>
        </p:txBody>
      </p:sp>
      <p:sp>
        <p:nvSpPr>
          <p:cNvPr id="59" name="page">
            <a:extLst xmlns:a="http://schemas.openxmlformats.org/drawingml/2006/main">
              <a:ext uri="{FF2B5EF4-FFF2-40B4-BE49-F238E27FC236}">
                <a16:creationId xmlns:a16="http://schemas.microsoft.com/office/drawing/2014/main" id="{1B0D4A4C-0464-42E4-9B50-6AF6E12FCC69}"/>
              </a:ext>
            </a:extLst>
          </p:cNvPr>
          <p:cNvSpPr>
            <a:spLocks xmlns:a="http://schemas.openxmlformats.org/drawingml/2006/main" noGrp="1"/>
          </p:cNvSpPr>
          <p:nvPr/>
        </p:nvSpPr>
        <p:spPr>
          <a:xfrm xmlns:a="http://schemas.openxmlformats.org/drawingml/2006/main">
            <a:off x="10382250" y="6496050"/>
            <a:ext cx="11239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5F6670"/>
                </a:solidFill>
              </a:defRPr>
            </a:pPr>
            <a:r>
              <a:rPr sz="825" b="1">
                <a:solidFill>
                  <a:srgbClr val="5F6670"/>
                </a:solidFill>
              </a:rPr>
              <a:t>TEAM 71  /  6</a:t>
            </a:r>
          </a:p>
        </p:txBody>
      </p:sp>
    </p:spTree>
    <p:extLst>
      <p:ext uri="{BB962C8B-B14F-4D97-AF65-F5344CB8AC3E}">
        <p14:creationId xmlns:p14="http://schemas.microsoft.com/office/powerpoint/2010/main" val="2140910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eyebrow">
            <a:extLst xmlns:a="http://schemas.openxmlformats.org/drawingml/2006/main">
              <a:ext uri="{FF2B5EF4-FFF2-40B4-BE49-F238E27FC236}">
                <a16:creationId xmlns:a16="http://schemas.microsoft.com/office/drawing/2014/main" id="{196C3E46-0EE1-4F12-A93E-4020C1663F89}"/>
              </a:ext>
            </a:extLst>
          </p:cNvPr>
          <p:cNvSpPr>
            <a:spLocks xmlns:a="http://schemas.openxmlformats.org/drawingml/2006/main" noGrp="1"/>
          </p:cNvSpPr>
          <p:nvPr/>
        </p:nvSpPr>
        <p:spPr>
          <a:xfrm xmlns:a="http://schemas.openxmlformats.org/drawingml/2006/main">
            <a:off x="685800" y="3619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F6670"/>
                </a:solidFill>
              </a:defRPr>
            </a:pPr>
            <a:r>
              <a:rPr sz="975" b="1">
                <a:solidFill>
                  <a:srgbClr val="5F6670"/>
                </a:solidFill>
              </a:rPr>
              <a:t>07  |  4:20–5:10</a:t>
            </a:r>
          </a:p>
        </p:txBody>
      </p:sp>
      <p:sp>
        <p:nvSpPr>
          <p:cNvPr id="2" name="title">
            <a:extLst xmlns:a="http://schemas.openxmlformats.org/drawingml/2006/main">
              <a:ext uri="{FF2B5EF4-FFF2-40B4-BE49-F238E27FC236}">
                <a16:creationId xmlns:a16="http://schemas.microsoft.com/office/drawing/2014/main" id="{5C74D5CA-99B8-4325-AF16-D5E142156557}"/>
              </a:ext>
            </a:extLst>
          </p:cNvPr>
          <p:cNvSpPr>
            <a:spLocks xmlns:a="http://schemas.openxmlformats.org/drawingml/2006/main" noGrp="1"/>
          </p:cNvSpPr>
          <p:nvPr/>
        </p:nvSpPr>
        <p:spPr>
          <a:xfrm xmlns:a="http://schemas.openxmlformats.org/drawingml/2006/main">
            <a:off x="685800" y="6953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11318"/>
                </a:solidFill>
              </a:defRPr>
            </a:pPr>
            <a:r>
              <a:rPr sz="2775" b="1">
                <a:solidFill>
                  <a:srgbClr val="111318"/>
                </a:solidFill>
              </a:rPr>
              <a:t>Defects become controlled process experiments</a:t>
            </a:r>
          </a:p>
        </p:txBody>
      </p:sp>
      <p:sp>
        <p:nvSpPr>
          <p:cNvPr id="3" name="cn-title">
            <a:extLst xmlns:a="http://schemas.openxmlformats.org/drawingml/2006/main">
              <a:ext uri="{FF2B5EF4-FFF2-40B4-BE49-F238E27FC236}">
                <a16:creationId xmlns:a16="http://schemas.microsoft.com/office/drawing/2014/main" id="{CD98477F-2E0A-468A-9B40-56B8B0A5A342}"/>
              </a:ext>
            </a:extLst>
          </p:cNvPr>
          <p:cNvSpPr>
            <a:spLocks xmlns:a="http://schemas.openxmlformats.org/drawingml/2006/main" noGrp="1"/>
          </p:cNvSpPr>
          <p:nvPr/>
        </p:nvSpPr>
        <p:spPr>
          <a:xfrm xmlns:a="http://schemas.openxmlformats.org/drawingml/2006/main">
            <a:off x="685800" y="1200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F6670"/>
                </a:solidFill>
              </a:defRPr>
            </a:pPr>
            <a:r>
              <a:rPr sz="1500" b="0">
                <a:solidFill>
                  <a:srgbClr val="5F6670"/>
                </a:solidFill>
              </a:rPr>
              <a:t>将缺陷转化为受控工艺实验</a:t>
            </a:r>
          </a:p>
        </p:txBody>
      </p:sp>
      <p:sp>
        <p:nvSpPr>
          <p:cNvPr id="4" name="Straight Connector 3">
            <a:extLst xmlns:a="http://schemas.openxmlformats.org/drawingml/2006/main">
              <a:ext uri="{FF2B5EF4-FFF2-40B4-BE49-F238E27FC236}">
                <a16:creationId xmlns:a16="http://schemas.microsoft.com/office/drawing/2014/main" id="{AACBF4EC-0469-4FA9-AB43-AEE9127A8FA6}"/>
              </a:ext>
            </a:extLst>
          </p:cNvPr>
          <p:cNvSpPr>
            <a:spLocks xmlns:a="http://schemas.openxmlformats.org/drawingml/2006/main" noGrp="1"/>
          </p:cNvSpPr>
          <p:nvPr/>
        </p:nvSpPr>
        <p:spPr>
          <a:xfrm xmlns:a="http://schemas.openxmlformats.org/drawingml/2006/main">
            <a:off x="685800" y="156210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node">
            <a:extLst xmlns:a="http://schemas.openxmlformats.org/drawingml/2006/main">
              <a:ext uri="{FF2B5EF4-FFF2-40B4-BE49-F238E27FC236}">
                <a16:creationId xmlns:a16="http://schemas.microsoft.com/office/drawing/2014/main" id="{1C749454-D2E2-4775-BC52-E90791F6A8B7}"/>
              </a:ext>
            </a:extLst>
          </p:cNvPr>
          <p:cNvSpPr>
            <a:spLocks xmlns:a="http://schemas.openxmlformats.org/drawingml/2006/main" noGrp="1"/>
          </p:cNvSpPr>
          <p:nvPr/>
        </p:nvSpPr>
        <p:spPr>
          <a:xfrm xmlns:a="http://schemas.openxmlformats.org/drawingml/2006/main">
            <a:off x="685800" y="2257425"/>
            <a:ext cx="1809750" cy="1190625"/>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node-head">
            <a:extLst xmlns:a="http://schemas.openxmlformats.org/drawingml/2006/main">
              <a:ext uri="{FF2B5EF4-FFF2-40B4-BE49-F238E27FC236}">
                <a16:creationId xmlns:a16="http://schemas.microsoft.com/office/drawing/2014/main" id="{BD91B499-62DB-4815-B816-08B70EE80C18}"/>
              </a:ext>
            </a:extLst>
          </p:cNvPr>
          <p:cNvSpPr>
            <a:spLocks xmlns:a="http://schemas.openxmlformats.org/drawingml/2006/main" noGrp="1"/>
          </p:cNvSpPr>
          <p:nvPr/>
        </p:nvSpPr>
        <p:spPr>
          <a:xfrm xmlns:a="http://schemas.openxmlformats.org/drawingml/2006/main">
            <a:off x="819150" y="238125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1,200 m roll map</a:t>
            </a:r>
          </a:p>
        </p:txBody>
      </p:sp>
      <p:sp>
        <p:nvSpPr>
          <p:cNvPr id="7" name="node-body">
            <a:extLst xmlns:a="http://schemas.openxmlformats.org/drawingml/2006/main">
              <a:ext uri="{FF2B5EF4-FFF2-40B4-BE49-F238E27FC236}">
                <a16:creationId xmlns:a16="http://schemas.microsoft.com/office/drawing/2014/main" id="{B891DC13-8ADA-4F47-9791-19CA7BFBA1D4}"/>
              </a:ext>
            </a:extLst>
          </p:cNvPr>
          <p:cNvSpPr>
            <a:spLocks xmlns:a="http://schemas.openxmlformats.org/drawingml/2006/main" noGrp="1"/>
          </p:cNvSpPr>
          <p:nvPr/>
        </p:nvSpPr>
        <p:spPr>
          <a:xfrm xmlns:a="http://schemas.openxmlformats.org/drawingml/2006/main">
            <a:off x="819150" y="2628900"/>
            <a:ext cx="1543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X_m · Y_mm</a:t>
            </a:r>
          </a:p>
          <a:p xmlns:a="http://schemas.openxmlformats.org/drawingml/2006/main">
            <a:pPr algn="l">
              <a:buNone/>
              <a:defRPr sz="975" b="0">
                <a:solidFill>
                  <a:srgbClr val="5F6670"/>
                </a:solidFill>
              </a:defRPr>
            </a:pPr>
            <a:r>
              <a:rPr sz="975" b="0">
                <a:solidFill>
                  <a:srgbClr val="5F6670"/>
                </a:solidFill>
              </a:rPr>
              <a:t>4 slitting lanes</a:t>
            </a:r>
          </a:p>
          <a:p xmlns:a="http://schemas.openxmlformats.org/drawingml/2006/main">
            <a:pPr algn="l">
              <a:buNone/>
              <a:defRPr sz="975" b="0">
                <a:solidFill>
                  <a:srgbClr val="5F6670"/>
                </a:solidFill>
              </a:defRPr>
            </a:pPr>
            <a:r>
              <a:rPr sz="975" b="0">
                <a:solidFill>
                  <a:srgbClr val="5F6670"/>
                </a:solidFill>
              </a:rPr>
              <a:t>quality events</a:t>
            </a:r>
          </a:p>
        </p:txBody>
      </p:sp>
      <p:sp>
        <p:nvSpPr>
          <p:cNvPr id="8" name="node">
            <a:extLst xmlns:a="http://schemas.openxmlformats.org/drawingml/2006/main">
              <a:ext uri="{FF2B5EF4-FFF2-40B4-BE49-F238E27FC236}">
                <a16:creationId xmlns:a16="http://schemas.microsoft.com/office/drawing/2014/main" id="{0E688F58-7467-4D76-84AA-944FDAB461A8}"/>
              </a:ext>
            </a:extLst>
          </p:cNvPr>
          <p:cNvSpPr>
            <a:spLocks xmlns:a="http://schemas.openxmlformats.org/drawingml/2006/main" noGrp="1"/>
          </p:cNvSpPr>
          <p:nvPr/>
        </p:nvSpPr>
        <p:spPr>
          <a:xfrm xmlns:a="http://schemas.openxmlformats.org/drawingml/2006/main">
            <a:off x="3590925" y="2257425"/>
            <a:ext cx="1809750"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node-head">
            <a:extLst xmlns:a="http://schemas.openxmlformats.org/drawingml/2006/main">
              <a:ext uri="{FF2B5EF4-FFF2-40B4-BE49-F238E27FC236}">
                <a16:creationId xmlns:a16="http://schemas.microsoft.com/office/drawing/2014/main" id="{9BC8F36F-A5EA-4837-AF78-B925B4B8F786}"/>
              </a:ext>
            </a:extLst>
          </p:cNvPr>
          <p:cNvSpPr>
            <a:spLocks xmlns:a="http://schemas.openxmlformats.org/drawingml/2006/main" noGrp="1"/>
          </p:cNvSpPr>
          <p:nvPr/>
        </p:nvSpPr>
        <p:spPr>
          <a:xfrm xmlns:a="http://schemas.openxmlformats.org/drawingml/2006/main">
            <a:off x="3724275" y="238125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Root-cause rank</a:t>
            </a:r>
          </a:p>
        </p:txBody>
      </p:sp>
      <p:sp>
        <p:nvSpPr>
          <p:cNvPr id="10" name="node-body">
            <a:extLst xmlns:a="http://schemas.openxmlformats.org/drawingml/2006/main">
              <a:ext uri="{FF2B5EF4-FFF2-40B4-BE49-F238E27FC236}">
                <a16:creationId xmlns:a16="http://schemas.microsoft.com/office/drawing/2014/main" id="{7E62ACF9-BF3A-459D-9653-85635B0D69F8}"/>
              </a:ext>
            </a:extLst>
          </p:cNvPr>
          <p:cNvSpPr>
            <a:spLocks xmlns:a="http://schemas.openxmlformats.org/drawingml/2006/main" noGrp="1"/>
          </p:cNvSpPr>
          <p:nvPr/>
        </p:nvSpPr>
        <p:spPr>
          <a:xfrm xmlns:a="http://schemas.openxmlformats.org/drawingml/2006/main">
            <a:off x="3724275" y="2628900"/>
            <a:ext cx="1543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Slot-die · Dryer Z1</a:t>
            </a:r>
          </a:p>
          <a:p xmlns:a="http://schemas.openxmlformats.org/drawingml/2006/main">
            <a:pPr algn="l">
              <a:buNone/>
              <a:defRPr sz="975" b="0">
                <a:solidFill>
                  <a:srgbClr val="5F6670"/>
                </a:solidFill>
              </a:defRPr>
            </a:pPr>
            <a:r>
              <a:rPr sz="975" b="0">
                <a:solidFill>
                  <a:srgbClr val="5F6670"/>
                </a:solidFill>
              </a:rPr>
              <a:t>Vacuum mixer</a:t>
            </a:r>
          </a:p>
        </p:txBody>
      </p:sp>
      <p:sp>
        <p:nvSpPr>
          <p:cNvPr id="11" name="node">
            <a:extLst xmlns:a="http://schemas.openxmlformats.org/drawingml/2006/main">
              <a:ext uri="{FF2B5EF4-FFF2-40B4-BE49-F238E27FC236}">
                <a16:creationId xmlns:a16="http://schemas.microsoft.com/office/drawing/2014/main" id="{90A7589B-6283-43B6-8F8A-DCFA6955B8E6}"/>
              </a:ext>
            </a:extLst>
          </p:cNvPr>
          <p:cNvSpPr>
            <a:spLocks xmlns:a="http://schemas.openxmlformats.org/drawingml/2006/main" noGrp="1"/>
          </p:cNvSpPr>
          <p:nvPr/>
        </p:nvSpPr>
        <p:spPr>
          <a:xfrm xmlns:a="http://schemas.openxmlformats.org/drawingml/2006/main">
            <a:off x="6496050" y="2257425"/>
            <a:ext cx="1809750"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node-head">
            <a:extLst xmlns:a="http://schemas.openxmlformats.org/drawingml/2006/main">
              <a:ext uri="{FF2B5EF4-FFF2-40B4-BE49-F238E27FC236}">
                <a16:creationId xmlns:a16="http://schemas.microsoft.com/office/drawing/2014/main" id="{7F8DCFBB-BC34-428E-978C-5700CF2541F1}"/>
              </a:ext>
            </a:extLst>
          </p:cNvPr>
          <p:cNvSpPr>
            <a:spLocks xmlns:a="http://schemas.openxmlformats.org/drawingml/2006/main" noGrp="1"/>
          </p:cNvSpPr>
          <p:nvPr/>
        </p:nvSpPr>
        <p:spPr>
          <a:xfrm xmlns:a="http://schemas.openxmlformats.org/drawingml/2006/main">
            <a:off x="6629400" y="238125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Constrained change</a:t>
            </a:r>
          </a:p>
        </p:txBody>
      </p:sp>
      <p:sp>
        <p:nvSpPr>
          <p:cNvPr id="13" name="node-body">
            <a:extLst xmlns:a="http://schemas.openxmlformats.org/drawingml/2006/main">
              <a:ext uri="{FF2B5EF4-FFF2-40B4-BE49-F238E27FC236}">
                <a16:creationId xmlns:a16="http://schemas.microsoft.com/office/drawing/2014/main" id="{490319D6-10C5-4804-851F-3203268BB156}"/>
              </a:ext>
            </a:extLst>
          </p:cNvPr>
          <p:cNvSpPr>
            <a:spLocks xmlns:a="http://schemas.openxmlformats.org/drawingml/2006/main" noGrp="1"/>
          </p:cNvSpPr>
          <p:nvPr/>
        </p:nvSpPr>
        <p:spPr>
          <a:xfrm xmlns:a="http://schemas.openxmlformats.org/drawingml/2006/main">
            <a:off x="6629400" y="2628900"/>
            <a:ext cx="1543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ΔT1 / Δv / ΔQ</a:t>
            </a:r>
          </a:p>
          <a:p xmlns:a="http://schemas.openxmlformats.org/drawingml/2006/main">
            <a:pPr algn="l">
              <a:buNone/>
              <a:defRPr sz="975" b="0">
                <a:solidFill>
                  <a:srgbClr val="5F6670"/>
                </a:solidFill>
              </a:defRPr>
            </a:pPr>
            <a:r>
              <a:rPr sz="975" b="0">
                <a:solidFill>
                  <a:srgbClr val="5F6670"/>
                </a:solidFill>
              </a:rPr>
              <a:t>approval + recipe limits</a:t>
            </a:r>
          </a:p>
        </p:txBody>
      </p:sp>
      <p:sp>
        <p:nvSpPr>
          <p:cNvPr id="14" name="node">
            <a:extLst xmlns:a="http://schemas.openxmlformats.org/drawingml/2006/main">
              <a:ext uri="{FF2B5EF4-FFF2-40B4-BE49-F238E27FC236}">
                <a16:creationId xmlns:a16="http://schemas.microsoft.com/office/drawing/2014/main" id="{A0D4B09E-943A-41CD-B275-4609146B4D07}"/>
              </a:ext>
            </a:extLst>
          </p:cNvPr>
          <p:cNvSpPr>
            <a:spLocks xmlns:a="http://schemas.openxmlformats.org/drawingml/2006/main" noGrp="1"/>
          </p:cNvSpPr>
          <p:nvPr/>
        </p:nvSpPr>
        <p:spPr>
          <a:xfrm xmlns:a="http://schemas.openxmlformats.org/drawingml/2006/main">
            <a:off x="9401175" y="2257425"/>
            <a:ext cx="1809750" cy="1190625"/>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node-head">
            <a:extLst xmlns:a="http://schemas.openxmlformats.org/drawingml/2006/main">
              <a:ext uri="{FF2B5EF4-FFF2-40B4-BE49-F238E27FC236}">
                <a16:creationId xmlns:a16="http://schemas.microsoft.com/office/drawing/2014/main" id="{6B4025A7-0DFF-47F8-9571-64D456D1524D}"/>
              </a:ext>
            </a:extLst>
          </p:cNvPr>
          <p:cNvSpPr>
            <a:spLocks xmlns:a="http://schemas.openxmlformats.org/drawingml/2006/main" noGrp="1"/>
          </p:cNvSpPr>
          <p:nvPr/>
        </p:nvSpPr>
        <p:spPr>
          <a:xfrm xmlns:a="http://schemas.openxmlformats.org/drawingml/2006/main">
            <a:off x="9534525" y="238125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11318"/>
                </a:solidFill>
              </a:defRPr>
            </a:pPr>
            <a:r>
              <a:rPr sz="1200" b="1">
                <a:solidFill>
                  <a:srgbClr val="111318"/>
                </a:solidFill>
              </a:rPr>
              <a:t>Verify effect</a:t>
            </a:r>
          </a:p>
        </p:txBody>
      </p:sp>
      <p:sp>
        <p:nvSpPr>
          <p:cNvPr id="16" name="node-body">
            <a:extLst xmlns:a="http://schemas.openxmlformats.org/drawingml/2006/main">
              <a:ext uri="{FF2B5EF4-FFF2-40B4-BE49-F238E27FC236}">
                <a16:creationId xmlns:a16="http://schemas.microsoft.com/office/drawing/2014/main" id="{ECC68594-09B3-4957-88BE-AED59DD2F6E0}"/>
              </a:ext>
            </a:extLst>
          </p:cNvPr>
          <p:cNvSpPr>
            <a:spLocks xmlns:a="http://schemas.openxmlformats.org/drawingml/2006/main" noGrp="1"/>
          </p:cNvSpPr>
          <p:nvPr/>
        </p:nvSpPr>
        <p:spPr>
          <a:xfrm xmlns:a="http://schemas.openxmlformats.org/drawingml/2006/main">
            <a:off x="9534525" y="2628900"/>
            <a:ext cx="1543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holdout segment</a:t>
            </a:r>
          </a:p>
          <a:p xmlns:a="http://schemas.openxmlformats.org/drawingml/2006/main">
            <a:pPr algn="l">
              <a:buNone/>
              <a:defRPr sz="975" b="0">
                <a:solidFill>
                  <a:srgbClr val="5F6670"/>
                </a:solidFill>
              </a:defRPr>
            </a:pPr>
            <a:r>
              <a:rPr sz="975" b="0">
                <a:solidFill>
                  <a:srgbClr val="5F6670"/>
                </a:solidFill>
              </a:rPr>
              <a:t>roll-level evidence</a:t>
            </a:r>
          </a:p>
        </p:txBody>
      </p:sp>
      <p:cxnSp>
        <p:nvCxnSpPr>
          <p:cNvPr id="73" name="Straight Arrow Connector 53"/>
          <p:cNvCxnSpPr>
            <a:stCxn xmlns:a="http://schemas.openxmlformats.org/drawingml/2006/main" id="5" idx="3"/>
            <a:endCxn xmlns:a="http://schemas.openxmlformats.org/drawingml/2006/main" id="8" idx="1"/>
          </p:cNvCxnSpPr>
          <p:nvPr/>
        </p:nvCxnSpPr>
        <p:spPr>
          <a:xfrm xmlns:a="http://schemas.openxmlformats.org/drawingml/2006/main">
            <a:off x="2495550" y="2852738"/>
            <a:ext cx="1095375"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cxnSp>
        <p:nvCxnSpPr>
          <p:cNvPr id="74" name="Straight Arrow Connector 54"/>
          <p:cNvCxnSpPr>
            <a:stCxn xmlns:a="http://schemas.openxmlformats.org/drawingml/2006/main" id="8" idx="3"/>
            <a:endCxn xmlns:a="http://schemas.openxmlformats.org/drawingml/2006/main" id="11" idx="1"/>
          </p:cNvCxnSpPr>
          <p:nvPr/>
        </p:nvCxnSpPr>
        <p:spPr>
          <a:xfrm xmlns:a="http://schemas.openxmlformats.org/drawingml/2006/main">
            <a:off x="5400675" y="2852738"/>
            <a:ext cx="1095375"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cxnSp>
        <p:nvCxnSpPr>
          <p:cNvPr id="75" name="Straight Arrow Connector 55"/>
          <p:cNvCxnSpPr>
            <a:stCxn xmlns:a="http://schemas.openxmlformats.org/drawingml/2006/main" id="11" idx="3"/>
            <a:endCxn xmlns:a="http://schemas.openxmlformats.org/drawingml/2006/main" id="14" idx="1"/>
          </p:cNvCxnSpPr>
          <p:nvPr/>
        </p:nvCxnSpPr>
        <p:spPr>
          <a:xfrm xmlns:a="http://schemas.openxmlformats.org/drawingml/2006/main">
            <a:off x="8305800" y="2852738"/>
            <a:ext cx="1095375" cy="0"/>
          </a:xfrm>
          <a:prstGeom xmlns:a="http://schemas.openxmlformats.org/drawingml/2006/main" prst="straightConnector1">
            <a:avLst/>
          </a:prstGeom>
          <a:ln xmlns:a="http://schemas.openxmlformats.org/drawingml/2006/main" w="19050">
            <a:solidFill>
              <a:srgbClr val="3D8DFF"/>
            </a:solidFill>
            <a:prstDash val="solid"/>
            <a:headEnd type="triangle" w="sm" len="sm"/>
          </a:ln>
        </p:spPr>
      </p:cxnSp>
      <p:sp>
        <p:nvSpPr>
          <p:cNvPr id="20" name="metric">
            <a:extLst xmlns:a="http://schemas.openxmlformats.org/drawingml/2006/main">
              <a:ext uri="{FF2B5EF4-FFF2-40B4-BE49-F238E27FC236}">
                <a16:creationId xmlns:a16="http://schemas.microsoft.com/office/drawing/2014/main" id="{FA01317C-1A6F-4BEE-84BF-35EBAFCB249D}"/>
              </a:ext>
            </a:extLst>
          </p:cNvPr>
          <p:cNvSpPr>
            <a:spLocks xmlns:a="http://schemas.openxmlformats.org/drawingml/2006/main" noGrp="1"/>
          </p:cNvSpPr>
          <p:nvPr/>
        </p:nvSpPr>
        <p:spPr>
          <a:xfrm xmlns:a="http://schemas.openxmlformats.org/drawingml/2006/main">
            <a:off x="685800" y="4305300"/>
            <a:ext cx="295275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metric-accent">
            <a:extLst xmlns:a="http://schemas.openxmlformats.org/drawingml/2006/main">
              <a:ext uri="{FF2B5EF4-FFF2-40B4-BE49-F238E27FC236}">
                <a16:creationId xmlns:a16="http://schemas.microsoft.com/office/drawing/2014/main" id="{72F24D82-2F03-42DF-8CEB-72874B06CFFE}"/>
              </a:ext>
            </a:extLst>
          </p:cNvPr>
          <p:cNvSpPr>
            <a:spLocks xmlns:a="http://schemas.openxmlformats.org/drawingml/2006/main" noGrp="1"/>
          </p:cNvSpPr>
          <p:nvPr/>
        </p:nvSpPr>
        <p:spPr>
          <a:xfrm xmlns:a="http://schemas.openxmlformats.org/drawingml/2006/main">
            <a:off x="685800" y="4305300"/>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metric-label">
            <a:extLst xmlns:a="http://schemas.openxmlformats.org/drawingml/2006/main">
              <a:ext uri="{FF2B5EF4-FFF2-40B4-BE49-F238E27FC236}">
                <a16:creationId xmlns:a16="http://schemas.microsoft.com/office/drawing/2014/main" id="{1253316E-7105-46BD-B338-D286899E4C53}"/>
              </a:ext>
            </a:extLst>
          </p:cNvPr>
          <p:cNvSpPr>
            <a:spLocks xmlns:a="http://schemas.openxmlformats.org/drawingml/2006/main" noGrp="1"/>
          </p:cNvSpPr>
          <p:nvPr/>
        </p:nvSpPr>
        <p:spPr>
          <a:xfrm xmlns:a="http://schemas.openxmlformats.org/drawingml/2006/main">
            <a:off x="895350" y="44767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PROTOTYPE CERTIFICATE</a:t>
            </a:r>
          </a:p>
        </p:txBody>
      </p:sp>
      <p:sp>
        <p:nvSpPr>
          <p:cNvPr id="23" name="metric-value">
            <a:extLst xmlns:a="http://schemas.openxmlformats.org/drawingml/2006/main">
              <a:ext uri="{FF2B5EF4-FFF2-40B4-BE49-F238E27FC236}">
                <a16:creationId xmlns:a16="http://schemas.microsoft.com/office/drawing/2014/main" id="{4148A8D4-6A6F-43C8-B375-E5952EB1BF52}"/>
              </a:ext>
            </a:extLst>
          </p:cNvPr>
          <p:cNvSpPr>
            <a:spLocks xmlns:a="http://schemas.openxmlformats.org/drawingml/2006/main" noGrp="1"/>
          </p:cNvSpPr>
          <p:nvPr/>
        </p:nvSpPr>
        <p:spPr>
          <a:xfrm xmlns:a="http://schemas.openxmlformats.org/drawingml/2006/main">
            <a:off x="895350" y="4714875"/>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HMAC-SHA256</a:t>
            </a:r>
          </a:p>
        </p:txBody>
      </p:sp>
      <p:sp>
        <p:nvSpPr>
          <p:cNvPr id="24" name="metric-sub">
            <a:extLst xmlns:a="http://schemas.openxmlformats.org/drawingml/2006/main">
              <a:ext uri="{FF2B5EF4-FFF2-40B4-BE49-F238E27FC236}">
                <a16:creationId xmlns:a16="http://schemas.microsoft.com/office/drawing/2014/main" id="{4725BD77-BD4C-4B38-8AF1-765F5A09EE6D}"/>
              </a:ext>
            </a:extLst>
          </p:cNvPr>
          <p:cNvSpPr>
            <a:spLocks xmlns:a="http://schemas.openxmlformats.org/drawingml/2006/main" noGrp="1"/>
          </p:cNvSpPr>
          <p:nvPr/>
        </p:nvSpPr>
        <p:spPr>
          <a:xfrm xmlns:a="http://schemas.openxmlformats.org/drawingml/2006/main">
            <a:off x="895350" y="5172075"/>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tamper-evident MAC; not non-repudiation</a:t>
            </a:r>
          </a:p>
        </p:txBody>
      </p:sp>
      <p:sp>
        <p:nvSpPr>
          <p:cNvPr id="25" name="metric">
            <a:extLst xmlns:a="http://schemas.openxmlformats.org/drawingml/2006/main">
              <a:ext uri="{FF2B5EF4-FFF2-40B4-BE49-F238E27FC236}">
                <a16:creationId xmlns:a16="http://schemas.microsoft.com/office/drawing/2014/main" id="{C4DABB0B-01D5-4284-81ED-E4720A42F60F}"/>
              </a:ext>
            </a:extLst>
          </p:cNvPr>
          <p:cNvSpPr>
            <a:spLocks xmlns:a="http://schemas.openxmlformats.org/drawingml/2006/main" noGrp="1"/>
          </p:cNvSpPr>
          <p:nvPr/>
        </p:nvSpPr>
        <p:spPr>
          <a:xfrm xmlns:a="http://schemas.openxmlformats.org/drawingml/2006/main">
            <a:off x="3905250" y="4305300"/>
            <a:ext cx="295275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metric-accent">
            <a:extLst xmlns:a="http://schemas.openxmlformats.org/drawingml/2006/main">
              <a:ext uri="{FF2B5EF4-FFF2-40B4-BE49-F238E27FC236}">
                <a16:creationId xmlns:a16="http://schemas.microsoft.com/office/drawing/2014/main" id="{ADFCF4B2-228F-462A-8670-CE0790686624}"/>
              </a:ext>
            </a:extLst>
          </p:cNvPr>
          <p:cNvSpPr>
            <a:spLocks xmlns:a="http://schemas.openxmlformats.org/drawingml/2006/main" noGrp="1"/>
          </p:cNvSpPr>
          <p:nvPr/>
        </p:nvSpPr>
        <p:spPr>
          <a:xfrm xmlns:a="http://schemas.openxmlformats.org/drawingml/2006/main">
            <a:off x="3905250" y="4305300"/>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metric-label">
            <a:extLst xmlns:a="http://schemas.openxmlformats.org/drawingml/2006/main">
              <a:ext uri="{FF2B5EF4-FFF2-40B4-BE49-F238E27FC236}">
                <a16:creationId xmlns:a16="http://schemas.microsoft.com/office/drawing/2014/main" id="{5E3F03BD-F95E-4B55-BAB4-8BCCC399AB52}"/>
              </a:ext>
            </a:extLst>
          </p:cNvPr>
          <p:cNvSpPr>
            <a:spLocks xmlns:a="http://schemas.openxmlformats.org/drawingml/2006/main" noGrp="1"/>
          </p:cNvSpPr>
          <p:nvPr/>
        </p:nvSpPr>
        <p:spPr>
          <a:xfrm xmlns:a="http://schemas.openxmlformats.org/drawingml/2006/main">
            <a:off x="4114800" y="44767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EXAMPLE INTERVENTION</a:t>
            </a:r>
          </a:p>
        </p:txBody>
      </p:sp>
      <p:sp>
        <p:nvSpPr>
          <p:cNvPr id="28" name="metric-value">
            <a:extLst xmlns:a="http://schemas.openxmlformats.org/drawingml/2006/main">
              <a:ext uri="{FF2B5EF4-FFF2-40B4-BE49-F238E27FC236}">
                <a16:creationId xmlns:a16="http://schemas.microsoft.com/office/drawing/2014/main" id="{127D3550-4C66-4370-8B0F-672A5FFE1B34}"/>
              </a:ext>
            </a:extLst>
          </p:cNvPr>
          <p:cNvSpPr>
            <a:spLocks xmlns:a="http://schemas.openxmlformats.org/drawingml/2006/main" noGrp="1"/>
          </p:cNvSpPr>
          <p:nvPr/>
        </p:nvSpPr>
        <p:spPr>
          <a:xfrm xmlns:a="http://schemas.openxmlformats.org/drawingml/2006/main">
            <a:off x="4114800" y="4714875"/>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ΔT1 = −4 °C</a:t>
            </a:r>
          </a:p>
        </p:txBody>
      </p:sp>
      <p:sp>
        <p:nvSpPr>
          <p:cNvPr id="29" name="metric-sub">
            <a:extLst xmlns:a="http://schemas.openxmlformats.org/drawingml/2006/main">
              <a:ext uri="{FF2B5EF4-FFF2-40B4-BE49-F238E27FC236}">
                <a16:creationId xmlns:a16="http://schemas.microsoft.com/office/drawing/2014/main" id="{6CB6E62F-8060-489A-94AF-5577CF92B809}"/>
              </a:ext>
            </a:extLst>
          </p:cNvPr>
          <p:cNvSpPr>
            <a:spLocks xmlns:a="http://schemas.openxmlformats.org/drawingml/2006/main" noGrp="1"/>
          </p:cNvSpPr>
          <p:nvPr/>
        </p:nvSpPr>
        <p:spPr>
          <a:xfrm xmlns:a="http://schemas.openxmlformats.org/drawingml/2006/main">
            <a:off x="4114800" y="5172075"/>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hypothesis to be confirmed by trial</a:t>
            </a:r>
          </a:p>
        </p:txBody>
      </p:sp>
      <p:sp>
        <p:nvSpPr>
          <p:cNvPr id="30" name="metric">
            <a:extLst xmlns:a="http://schemas.openxmlformats.org/drawingml/2006/main">
              <a:ext uri="{FF2B5EF4-FFF2-40B4-BE49-F238E27FC236}">
                <a16:creationId xmlns:a16="http://schemas.microsoft.com/office/drawing/2014/main" id="{4313110E-E3B7-4E04-AF86-038E45C7C282}"/>
              </a:ext>
            </a:extLst>
          </p:cNvPr>
          <p:cNvSpPr>
            <a:spLocks xmlns:a="http://schemas.openxmlformats.org/drawingml/2006/main" noGrp="1"/>
          </p:cNvSpPr>
          <p:nvPr/>
        </p:nvSpPr>
        <p:spPr>
          <a:xfrm xmlns:a="http://schemas.openxmlformats.org/drawingml/2006/main">
            <a:off x="7124700" y="4305300"/>
            <a:ext cx="2952750" cy="119062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metric-accent">
            <a:extLst xmlns:a="http://schemas.openxmlformats.org/drawingml/2006/main">
              <a:ext uri="{FF2B5EF4-FFF2-40B4-BE49-F238E27FC236}">
                <a16:creationId xmlns:a16="http://schemas.microsoft.com/office/drawing/2014/main" id="{FAE305B2-AE35-467A-A533-2FA81E91D851}"/>
              </a:ext>
            </a:extLst>
          </p:cNvPr>
          <p:cNvSpPr>
            <a:spLocks xmlns:a="http://schemas.openxmlformats.org/drawingml/2006/main" noGrp="1"/>
          </p:cNvSpPr>
          <p:nvPr/>
        </p:nvSpPr>
        <p:spPr>
          <a:xfrm xmlns:a="http://schemas.openxmlformats.org/drawingml/2006/main">
            <a:off x="7124700" y="4305300"/>
            <a:ext cx="76200" cy="11906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metric-label">
            <a:extLst xmlns:a="http://schemas.openxmlformats.org/drawingml/2006/main">
              <a:ext uri="{FF2B5EF4-FFF2-40B4-BE49-F238E27FC236}">
                <a16:creationId xmlns:a16="http://schemas.microsoft.com/office/drawing/2014/main" id="{F71ABB3B-6216-4DC5-9946-50C1E09FB9EC}"/>
              </a:ext>
            </a:extLst>
          </p:cNvPr>
          <p:cNvSpPr>
            <a:spLocks xmlns:a="http://schemas.openxmlformats.org/drawingml/2006/main" noGrp="1"/>
          </p:cNvSpPr>
          <p:nvPr/>
        </p:nvSpPr>
        <p:spPr>
          <a:xfrm xmlns:a="http://schemas.openxmlformats.org/drawingml/2006/main">
            <a:off x="7334250" y="44767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F6670"/>
                </a:solidFill>
              </a:defRPr>
            </a:pPr>
            <a:r>
              <a:rPr sz="1050" b="1">
                <a:solidFill>
                  <a:srgbClr val="5F6670"/>
                </a:solidFill>
              </a:rPr>
              <a:t>REPORTED KPI</a:t>
            </a:r>
          </a:p>
        </p:txBody>
      </p:sp>
      <p:sp>
        <p:nvSpPr>
          <p:cNvPr id="33" name="metric-value">
            <a:extLst xmlns:a="http://schemas.openxmlformats.org/drawingml/2006/main">
              <a:ext uri="{FF2B5EF4-FFF2-40B4-BE49-F238E27FC236}">
                <a16:creationId xmlns:a16="http://schemas.microsoft.com/office/drawing/2014/main" id="{64863AC9-C2CB-4499-A353-7CFEB1BAACED}"/>
              </a:ext>
            </a:extLst>
          </p:cNvPr>
          <p:cNvSpPr>
            <a:spLocks xmlns:a="http://schemas.openxmlformats.org/drawingml/2006/main" noGrp="1"/>
          </p:cNvSpPr>
          <p:nvPr/>
        </p:nvSpPr>
        <p:spPr>
          <a:xfrm xmlns:a="http://schemas.openxmlformats.org/drawingml/2006/main">
            <a:off x="7334250" y="4714875"/>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318"/>
                </a:solidFill>
              </a:defRPr>
            </a:pPr>
            <a:r>
              <a:rPr sz="2325" b="1">
                <a:solidFill>
                  <a:srgbClr val="111318"/>
                </a:solidFill>
              </a:rPr>
              <a:t>−84.2% scrap</a:t>
            </a:r>
          </a:p>
        </p:txBody>
      </p:sp>
      <p:sp>
        <p:nvSpPr>
          <p:cNvPr id="34" name="metric-sub">
            <a:extLst xmlns:a="http://schemas.openxmlformats.org/drawingml/2006/main">
              <a:ext uri="{FF2B5EF4-FFF2-40B4-BE49-F238E27FC236}">
                <a16:creationId xmlns:a16="http://schemas.microsoft.com/office/drawing/2014/main" id="{FCA980C0-37E9-466D-BE73-F73D82BB1925}"/>
              </a:ext>
            </a:extLst>
          </p:cNvPr>
          <p:cNvSpPr>
            <a:spLocks xmlns:a="http://schemas.openxmlformats.org/drawingml/2006/main" noGrp="1"/>
          </p:cNvSpPr>
          <p:nvPr/>
        </p:nvSpPr>
        <p:spPr>
          <a:xfrm xmlns:a="http://schemas.openxmlformats.org/drawingml/2006/main">
            <a:off x="7334250" y="5172075"/>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hold claim until raw pilot evidence is supplied</a:t>
            </a:r>
          </a:p>
        </p:txBody>
      </p:sp>
      <p:sp>
        <p:nvSpPr>
          <p:cNvPr id="35" name="Straight Connector 34">
            <a:extLst xmlns:a="http://schemas.openxmlformats.org/drawingml/2006/main">
              <a:ext uri="{FF2B5EF4-FFF2-40B4-BE49-F238E27FC236}">
                <a16:creationId xmlns:a16="http://schemas.microsoft.com/office/drawing/2014/main" id="{7355BB27-9820-4E59-8B89-E308B6A0CA9E}"/>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ource">
            <a:extLst xmlns:a="http://schemas.openxmlformats.org/drawingml/2006/main">
              <a:ext uri="{FF2B5EF4-FFF2-40B4-BE49-F238E27FC236}">
                <a16:creationId xmlns:a16="http://schemas.microsoft.com/office/drawing/2014/main" id="{7F13D687-BF77-4ECE-BCA8-3739B6582E74}"/>
              </a:ext>
            </a:extLst>
          </p:cNvPr>
          <p:cNvSpPr>
            <a:spLocks xmlns:a="http://schemas.openxmlformats.org/drawingml/2006/main" noGrp="1"/>
          </p:cNvSpPr>
          <p:nvPr/>
        </p:nvSpPr>
        <p:spPr>
          <a:xfrm xmlns:a="http://schemas.openxmlformats.org/drawingml/2006/main">
            <a:off x="685800" y="64960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5F6670"/>
                </a:solidFill>
              </a:defRPr>
            </a:pPr>
            <a:r>
              <a:rPr sz="825" b="0">
                <a:solidFill>
                  <a:srgbClr val="5F6670"/>
                </a:solidFill>
              </a:rPr>
              <a:t>Closed-loop claims require controlled intervention, approval guardrails, and before/after raw logs.</a:t>
            </a:r>
          </a:p>
        </p:txBody>
      </p:sp>
      <p:sp>
        <p:nvSpPr>
          <p:cNvPr id="37" name="page">
            <a:extLst xmlns:a="http://schemas.openxmlformats.org/drawingml/2006/main">
              <a:ext uri="{FF2B5EF4-FFF2-40B4-BE49-F238E27FC236}">
                <a16:creationId xmlns:a16="http://schemas.microsoft.com/office/drawing/2014/main" id="{60981E31-3BD0-4779-AD41-7AF65F05F693}"/>
              </a:ext>
            </a:extLst>
          </p:cNvPr>
          <p:cNvSpPr>
            <a:spLocks xmlns:a="http://schemas.openxmlformats.org/drawingml/2006/main" noGrp="1"/>
          </p:cNvSpPr>
          <p:nvPr/>
        </p:nvSpPr>
        <p:spPr>
          <a:xfrm xmlns:a="http://schemas.openxmlformats.org/drawingml/2006/main">
            <a:off x="10382250" y="6496050"/>
            <a:ext cx="11239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5F6670"/>
                </a:solidFill>
              </a:defRPr>
            </a:pPr>
            <a:r>
              <a:rPr sz="825" b="1">
                <a:solidFill>
                  <a:srgbClr val="5F6670"/>
                </a:solidFill>
              </a:rPr>
              <a:t>TEAM 71  /  7</a:t>
            </a:r>
          </a:p>
        </p:txBody>
      </p:sp>
    </p:spTree>
    <p:extLst>
      <p:ext uri="{BB962C8B-B14F-4D97-AF65-F5344CB8AC3E}">
        <p14:creationId xmlns:p14="http://schemas.microsoft.com/office/powerpoint/2010/main" val="12114593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eyebrow">
            <a:extLst xmlns:a="http://schemas.openxmlformats.org/drawingml/2006/main">
              <a:ext uri="{FF2B5EF4-FFF2-40B4-BE49-F238E27FC236}">
                <a16:creationId xmlns:a16="http://schemas.microsoft.com/office/drawing/2014/main" id="{2AF956DF-136D-465A-AB5E-43153C5AB81A}"/>
              </a:ext>
            </a:extLst>
          </p:cNvPr>
          <p:cNvSpPr>
            <a:spLocks xmlns:a="http://schemas.openxmlformats.org/drawingml/2006/main" noGrp="1"/>
          </p:cNvSpPr>
          <p:nvPr/>
        </p:nvSpPr>
        <p:spPr>
          <a:xfrm xmlns:a="http://schemas.openxmlformats.org/drawingml/2006/main">
            <a:off x="685800" y="3619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F6670"/>
                </a:solidFill>
              </a:defRPr>
            </a:pPr>
            <a:r>
              <a:rPr sz="975" b="1">
                <a:solidFill>
                  <a:srgbClr val="5F6670"/>
                </a:solidFill>
              </a:rPr>
              <a:t>08  |  5:10–6:00</a:t>
            </a:r>
          </a:p>
        </p:txBody>
      </p:sp>
      <p:sp>
        <p:nvSpPr>
          <p:cNvPr id="2" name="title">
            <a:extLst xmlns:a="http://schemas.openxmlformats.org/drawingml/2006/main">
              <a:ext uri="{FF2B5EF4-FFF2-40B4-BE49-F238E27FC236}">
                <a16:creationId xmlns:a16="http://schemas.microsoft.com/office/drawing/2014/main" id="{1A1A8992-49CC-4374-9514-7D8B09206DAB}"/>
              </a:ext>
            </a:extLst>
          </p:cNvPr>
          <p:cNvSpPr>
            <a:spLocks xmlns:a="http://schemas.openxmlformats.org/drawingml/2006/main" noGrp="1"/>
          </p:cNvSpPr>
          <p:nvPr/>
        </p:nvSpPr>
        <p:spPr>
          <a:xfrm xmlns:a="http://schemas.openxmlformats.org/drawingml/2006/main">
            <a:off x="685800" y="6953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11318"/>
                </a:solidFill>
              </a:defRPr>
            </a:pPr>
            <a:r>
              <a:rPr sz="2775" b="1">
                <a:solidFill>
                  <a:srgbClr val="111318"/>
                </a:solidFill>
              </a:rPr>
              <a:t>Pilot readiness must be earned by evidence</a:t>
            </a:r>
          </a:p>
        </p:txBody>
      </p:sp>
      <p:sp>
        <p:nvSpPr>
          <p:cNvPr id="3" name="cn-title">
            <a:extLst xmlns:a="http://schemas.openxmlformats.org/drawingml/2006/main">
              <a:ext uri="{FF2B5EF4-FFF2-40B4-BE49-F238E27FC236}">
                <a16:creationId xmlns:a16="http://schemas.microsoft.com/office/drawing/2014/main" id="{BB3958AF-BC0D-4377-B03C-6FFD68E479AE}"/>
              </a:ext>
            </a:extLst>
          </p:cNvPr>
          <p:cNvSpPr>
            <a:spLocks xmlns:a="http://schemas.openxmlformats.org/drawingml/2006/main" noGrp="1"/>
          </p:cNvSpPr>
          <p:nvPr/>
        </p:nvSpPr>
        <p:spPr>
          <a:xfrm xmlns:a="http://schemas.openxmlformats.org/drawingml/2006/main">
            <a:off x="685800" y="1200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F6670"/>
                </a:solidFill>
              </a:defRPr>
            </a:pPr>
            <a:r>
              <a:rPr sz="1500" b="0">
                <a:solidFill>
                  <a:srgbClr val="5F6670"/>
                </a:solidFill>
              </a:rPr>
              <a:t>试点就绪性靠证据获得，而非包装宣称</a:t>
            </a:r>
          </a:p>
        </p:txBody>
      </p:sp>
      <p:sp>
        <p:nvSpPr>
          <p:cNvPr id="4" name="Straight Connector 3">
            <a:extLst xmlns:a="http://schemas.openxmlformats.org/drawingml/2006/main">
              <a:ext uri="{FF2B5EF4-FFF2-40B4-BE49-F238E27FC236}">
                <a16:creationId xmlns:a16="http://schemas.microsoft.com/office/drawing/2014/main" id="{2ABC35C8-AD4F-4517-9840-858EC9F6105A}"/>
              </a:ext>
            </a:extLst>
          </p:cNvPr>
          <p:cNvSpPr>
            <a:spLocks xmlns:a="http://schemas.openxmlformats.org/drawingml/2006/main" noGrp="1"/>
          </p:cNvSpPr>
          <p:nvPr/>
        </p:nvSpPr>
        <p:spPr>
          <a:xfrm xmlns:a="http://schemas.openxmlformats.org/drawingml/2006/main">
            <a:off x="685800" y="156210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
            <a:extLst xmlns:a="http://schemas.openxmlformats.org/drawingml/2006/main">
              <a:ext uri="{FF2B5EF4-FFF2-40B4-BE49-F238E27FC236}">
                <a16:creationId xmlns:a16="http://schemas.microsoft.com/office/drawing/2014/main" id="{98040E2C-0A4B-42B0-AAF8-FDC3B6A42431}"/>
              </a:ext>
            </a:extLst>
          </p:cNvPr>
          <p:cNvSpPr>
            <a:spLocks xmlns:a="http://schemas.openxmlformats.org/drawingml/2006/main" noGrp="1"/>
          </p:cNvSpPr>
          <p:nvPr/>
        </p:nvSpPr>
        <p:spPr>
          <a:xfrm xmlns:a="http://schemas.openxmlformats.org/drawingml/2006/main">
            <a:off x="685800" y="1981200"/>
            <a:ext cx="10820400" cy="6000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3361B387-4DCC-4B8F-9DDC-EB2A950D75D7}"/>
              </a:ext>
            </a:extLst>
          </p:cNvPr>
          <p:cNvSpPr>
            <a:spLocks xmlns:a="http://schemas.openxmlformats.org/drawingml/2006/main" noGrp="1"/>
          </p:cNvSpPr>
          <p:nvPr/>
        </p:nvSpPr>
        <p:spPr>
          <a:xfrm xmlns:a="http://schemas.openxmlformats.org/drawingml/2006/main">
            <a:off x="857250" y="2095500"/>
            <a:ext cx="1762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318"/>
                </a:solidFill>
              </a:defRPr>
            </a:pPr>
            <a:r>
              <a:rPr sz="1125" b="1">
                <a:solidFill>
                  <a:srgbClr val="111318"/>
                </a:solidFill>
              </a:rPr>
              <a:t>PROVEN NOW</a:t>
            </a:r>
          </a:p>
        </p:txBody>
      </p:sp>
      <p:sp>
        <p:nvSpPr>
          <p:cNvPr id="7" name="text">
            <a:extLst xmlns:a="http://schemas.openxmlformats.org/drawingml/2006/main">
              <a:ext uri="{FF2B5EF4-FFF2-40B4-BE49-F238E27FC236}">
                <a16:creationId xmlns:a16="http://schemas.microsoft.com/office/drawing/2014/main" id="{B3CCC530-49ED-4AE0-B2B5-FE91CB6761AE}"/>
              </a:ext>
            </a:extLst>
          </p:cNvPr>
          <p:cNvSpPr>
            <a:spLocks xmlns:a="http://schemas.openxmlformats.org/drawingml/2006/main" noGrp="1"/>
          </p:cNvSpPr>
          <p:nvPr/>
        </p:nvSpPr>
        <p:spPr>
          <a:xfrm xmlns:a="http://schemas.openxmlformats.org/drawingml/2006/main">
            <a:off x="3009900" y="2085975"/>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11318"/>
                </a:solidFill>
              </a:defRPr>
            </a:pPr>
            <a:r>
              <a:rPr sz="1350" b="1">
                <a:solidFill>
                  <a:srgbClr val="111318"/>
                </a:solidFill>
              </a:rPr>
              <a:t>42 authored unit-test methods</a:t>
            </a:r>
          </a:p>
        </p:txBody>
      </p:sp>
      <p:sp>
        <p:nvSpPr>
          <p:cNvPr id="8" name="text">
            <a:extLst xmlns:a="http://schemas.openxmlformats.org/drawingml/2006/main">
              <a:ext uri="{FF2B5EF4-FFF2-40B4-BE49-F238E27FC236}">
                <a16:creationId xmlns:a16="http://schemas.microsoft.com/office/drawing/2014/main" id="{D8F34DF9-5FE4-49D0-92F9-8C1B590812A5}"/>
              </a:ext>
            </a:extLst>
          </p:cNvPr>
          <p:cNvSpPr>
            <a:spLocks xmlns:a="http://schemas.openxmlformats.org/drawingml/2006/main" noGrp="1"/>
          </p:cNvSpPr>
          <p:nvPr/>
        </p:nvSpPr>
        <p:spPr>
          <a:xfrm xmlns:a="http://schemas.openxmlformats.org/drawingml/2006/main">
            <a:off x="3009900" y="23241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full suite blocked in current runtime by missing dependencies</a:t>
            </a:r>
          </a:p>
        </p:txBody>
      </p:sp>
      <p:sp>
        <p:nvSpPr>
          <p:cNvPr id="9" name="rect">
            <a:extLst xmlns:a="http://schemas.openxmlformats.org/drawingml/2006/main">
              <a:ext uri="{FF2B5EF4-FFF2-40B4-BE49-F238E27FC236}">
                <a16:creationId xmlns:a16="http://schemas.microsoft.com/office/drawing/2014/main" id="{FB0FC6D5-C4EA-49CF-BBF4-E48F6412FD0E}"/>
              </a:ext>
            </a:extLst>
          </p:cNvPr>
          <p:cNvSpPr>
            <a:spLocks xmlns:a="http://schemas.openxmlformats.org/drawingml/2006/main" noGrp="1"/>
          </p:cNvSpPr>
          <p:nvPr/>
        </p:nvSpPr>
        <p:spPr>
          <a:xfrm xmlns:a="http://schemas.openxmlformats.org/drawingml/2006/main">
            <a:off x="685800" y="2800350"/>
            <a:ext cx="10820400" cy="6000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806A6495-5447-4354-8BEB-5E7B0D524A93}"/>
              </a:ext>
            </a:extLst>
          </p:cNvPr>
          <p:cNvSpPr>
            <a:spLocks xmlns:a="http://schemas.openxmlformats.org/drawingml/2006/main" noGrp="1"/>
          </p:cNvSpPr>
          <p:nvPr/>
        </p:nvSpPr>
        <p:spPr>
          <a:xfrm xmlns:a="http://schemas.openxmlformats.org/drawingml/2006/main">
            <a:off x="857250" y="2914650"/>
            <a:ext cx="1762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318"/>
                </a:solidFill>
              </a:defRPr>
            </a:pPr>
            <a:r>
              <a:rPr sz="1125" b="1">
                <a:solidFill>
                  <a:srgbClr val="111318"/>
                </a:solidFill>
              </a:rPr>
              <a:t>DESIGN-PROVEN</a:t>
            </a:r>
          </a:p>
        </p:txBody>
      </p:sp>
      <p:sp>
        <p:nvSpPr>
          <p:cNvPr id="11" name="text">
            <a:extLst xmlns:a="http://schemas.openxmlformats.org/drawingml/2006/main">
              <a:ext uri="{FF2B5EF4-FFF2-40B4-BE49-F238E27FC236}">
                <a16:creationId xmlns:a16="http://schemas.microsoft.com/office/drawing/2014/main" id="{0F2B4009-BDBC-476D-BF0E-46A8CC37DA02}"/>
              </a:ext>
            </a:extLst>
          </p:cNvPr>
          <p:cNvSpPr>
            <a:spLocks xmlns:a="http://schemas.openxmlformats.org/drawingml/2006/main" noGrp="1"/>
          </p:cNvSpPr>
          <p:nvPr/>
        </p:nvSpPr>
        <p:spPr>
          <a:xfrm xmlns:a="http://schemas.openxmlformats.org/drawingml/2006/main">
            <a:off x="3009900" y="2905125"/>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11318"/>
                </a:solidFill>
              </a:defRPr>
            </a:pPr>
            <a:r>
              <a:rPr sz="1350" b="1">
                <a:solidFill>
                  <a:srgbClr val="111318"/>
                </a:solidFill>
              </a:rPr>
              <a:t>1.8 m/s optical budget</a:t>
            </a:r>
          </a:p>
        </p:txBody>
      </p:sp>
      <p:sp>
        <p:nvSpPr>
          <p:cNvPr id="12" name="text">
            <a:extLst xmlns:a="http://schemas.openxmlformats.org/drawingml/2006/main">
              <a:ext uri="{FF2B5EF4-FFF2-40B4-BE49-F238E27FC236}">
                <a16:creationId xmlns:a16="http://schemas.microsoft.com/office/drawing/2014/main" id="{0A6C2821-A731-473E-81C7-487DE2BDC6EE}"/>
              </a:ext>
            </a:extLst>
          </p:cNvPr>
          <p:cNvSpPr>
            <a:spLocks xmlns:a="http://schemas.openxmlformats.org/drawingml/2006/main" noGrp="1"/>
          </p:cNvSpPr>
          <p:nvPr/>
        </p:nvSpPr>
        <p:spPr>
          <a:xfrm xmlns:a="http://schemas.openxmlformats.org/drawingml/2006/main">
            <a:off x="3009900" y="314325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42.6 kHz · M=0.17 · ≤0.40 px</a:t>
            </a:r>
          </a:p>
        </p:txBody>
      </p:sp>
      <p:sp>
        <p:nvSpPr>
          <p:cNvPr id="13" name="rect">
            <a:extLst xmlns:a="http://schemas.openxmlformats.org/drawingml/2006/main">
              <a:ext uri="{FF2B5EF4-FFF2-40B4-BE49-F238E27FC236}">
                <a16:creationId xmlns:a16="http://schemas.microsoft.com/office/drawing/2014/main" id="{2C2E5100-780F-42B9-8B59-E58BFDBB1705}"/>
              </a:ext>
            </a:extLst>
          </p:cNvPr>
          <p:cNvSpPr>
            <a:spLocks xmlns:a="http://schemas.openxmlformats.org/drawingml/2006/main" noGrp="1"/>
          </p:cNvSpPr>
          <p:nvPr/>
        </p:nvSpPr>
        <p:spPr>
          <a:xfrm xmlns:a="http://schemas.openxmlformats.org/drawingml/2006/main">
            <a:off x="685800" y="3619500"/>
            <a:ext cx="10820400" cy="600075"/>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2FCD2385-0DDC-42DF-B4ED-E6D661219DEF}"/>
              </a:ext>
            </a:extLst>
          </p:cNvPr>
          <p:cNvSpPr>
            <a:spLocks xmlns:a="http://schemas.openxmlformats.org/drawingml/2006/main" noGrp="1"/>
          </p:cNvSpPr>
          <p:nvPr/>
        </p:nvSpPr>
        <p:spPr>
          <a:xfrm xmlns:a="http://schemas.openxmlformats.org/drawingml/2006/main">
            <a:off x="857250" y="3733800"/>
            <a:ext cx="1762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318"/>
                </a:solidFill>
              </a:defRPr>
            </a:pPr>
            <a:r>
              <a:rPr sz="1125" b="1">
                <a:solidFill>
                  <a:srgbClr val="111318"/>
                </a:solidFill>
              </a:rPr>
              <a:t>PILOT GATES</a:t>
            </a:r>
          </a:p>
        </p:txBody>
      </p:sp>
      <p:sp>
        <p:nvSpPr>
          <p:cNvPr id="15" name="text">
            <a:extLst xmlns:a="http://schemas.openxmlformats.org/drawingml/2006/main">
              <a:ext uri="{FF2B5EF4-FFF2-40B4-BE49-F238E27FC236}">
                <a16:creationId xmlns:a16="http://schemas.microsoft.com/office/drawing/2014/main" id="{CAD6286E-BDEE-4133-A037-23FB7D346EC2}"/>
              </a:ext>
            </a:extLst>
          </p:cNvPr>
          <p:cNvSpPr>
            <a:spLocks xmlns:a="http://schemas.openxmlformats.org/drawingml/2006/main" noGrp="1"/>
          </p:cNvSpPr>
          <p:nvPr/>
        </p:nvSpPr>
        <p:spPr>
          <a:xfrm xmlns:a="http://schemas.openxmlformats.org/drawingml/2006/main">
            <a:off x="3009900" y="3724275"/>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11318"/>
                </a:solidFill>
              </a:defRPr>
            </a:pPr>
            <a:r>
              <a:rPr sz="1350" b="1">
                <a:solidFill>
                  <a:srgbClr val="111318"/>
                </a:solidFill>
              </a:rPr>
              <a:t>hardware streams + HIL + raw-roll labels</a:t>
            </a:r>
          </a:p>
        </p:txBody>
      </p:sp>
      <p:sp>
        <p:nvSpPr>
          <p:cNvPr id="16" name="text">
            <a:extLst xmlns:a="http://schemas.openxmlformats.org/drawingml/2006/main">
              <a:ext uri="{FF2B5EF4-FFF2-40B4-BE49-F238E27FC236}">
                <a16:creationId xmlns:a16="http://schemas.microsoft.com/office/drawing/2014/main" id="{2D309A05-E6AD-472D-88DC-6D5F7ECFE96F}"/>
              </a:ext>
            </a:extLst>
          </p:cNvPr>
          <p:cNvSpPr>
            <a:spLocks xmlns:a="http://schemas.openxmlformats.org/drawingml/2006/main" noGrp="1"/>
          </p:cNvSpPr>
          <p:nvPr/>
        </p:nvSpPr>
        <p:spPr>
          <a:xfrm xmlns:a="http://schemas.openxmlformats.org/drawingml/2006/main">
            <a:off x="3009900" y="396240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cross-lot POD · P99.9 trace · MSA/Gage R&amp;R</a:t>
            </a:r>
          </a:p>
        </p:txBody>
      </p:sp>
      <p:sp>
        <p:nvSpPr>
          <p:cNvPr id="17" name="rect">
            <a:extLst xmlns:a="http://schemas.openxmlformats.org/drawingml/2006/main">
              <a:ext uri="{FF2B5EF4-FFF2-40B4-BE49-F238E27FC236}">
                <a16:creationId xmlns:a16="http://schemas.microsoft.com/office/drawing/2014/main" id="{2BE927B2-EACD-4E51-947C-507A3E87059A}"/>
              </a:ext>
            </a:extLst>
          </p:cNvPr>
          <p:cNvSpPr>
            <a:spLocks xmlns:a="http://schemas.openxmlformats.org/drawingml/2006/main" noGrp="1"/>
          </p:cNvSpPr>
          <p:nvPr/>
        </p:nvSpPr>
        <p:spPr>
          <a:xfrm xmlns:a="http://schemas.openxmlformats.org/drawingml/2006/main">
            <a:off x="685800" y="4438650"/>
            <a:ext cx="10820400" cy="600075"/>
          </a:xfrm>
          <a:prstGeom xmlns:a="http://schemas.openxmlformats.org/drawingml/2006/main" prst="rect">
            <a:avLst/>
          </a:prstGeom>
          <a:solidFill xmlns:a="http://schemas.openxmlformats.org/drawingml/2006/main">
            <a:srgbClr val="FFF4F1"/>
          </a:solidFill>
          <a:ln xmlns:a="http://schemas.openxmlformats.org/drawingml/2006/main" w="9525">
            <a:solidFill>
              <a:srgbClr val="C43D3D"/>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EF1967CB-D265-4A04-8093-D046C463DECE}"/>
              </a:ext>
            </a:extLst>
          </p:cNvPr>
          <p:cNvSpPr>
            <a:spLocks xmlns:a="http://schemas.openxmlformats.org/drawingml/2006/main" noGrp="1"/>
          </p:cNvSpPr>
          <p:nvPr/>
        </p:nvSpPr>
        <p:spPr>
          <a:xfrm xmlns:a="http://schemas.openxmlformats.org/drawingml/2006/main">
            <a:off x="857250" y="4552950"/>
            <a:ext cx="1762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C43D3D"/>
                </a:solidFill>
              </a:defRPr>
            </a:pPr>
            <a:r>
              <a:rPr sz="1125" b="1">
                <a:solidFill>
                  <a:srgbClr val="C43D3D"/>
                </a:solidFill>
              </a:rPr>
              <a:t>DO NOT CLAIM YET</a:t>
            </a:r>
          </a:p>
        </p:txBody>
      </p:sp>
      <p:sp>
        <p:nvSpPr>
          <p:cNvPr id="19" name="text">
            <a:extLst xmlns:a="http://schemas.openxmlformats.org/drawingml/2006/main">
              <a:ext uri="{FF2B5EF4-FFF2-40B4-BE49-F238E27FC236}">
                <a16:creationId xmlns:a16="http://schemas.microsoft.com/office/drawing/2014/main" id="{B07191CD-8361-4FF3-9F66-AE74A6BFD0DA}"/>
              </a:ext>
            </a:extLst>
          </p:cNvPr>
          <p:cNvSpPr>
            <a:spLocks xmlns:a="http://schemas.openxmlformats.org/drawingml/2006/main" noGrp="1"/>
          </p:cNvSpPr>
          <p:nvPr/>
        </p:nvSpPr>
        <p:spPr>
          <a:xfrm xmlns:a="http://schemas.openxmlformats.org/drawingml/2006/main">
            <a:off x="3009900" y="4543425"/>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11318"/>
                </a:solidFill>
              </a:defRPr>
            </a:pPr>
            <a:r>
              <a:rPr sz="1350" b="1">
                <a:solidFill>
                  <a:srgbClr val="111318"/>
                </a:solidFill>
              </a:rPr>
              <a:t>6,000 m · 0.02 ppm · −84.2%</a:t>
            </a:r>
          </a:p>
        </p:txBody>
      </p:sp>
      <p:sp>
        <p:nvSpPr>
          <p:cNvPr id="20" name="text">
            <a:extLst xmlns:a="http://schemas.openxmlformats.org/drawingml/2006/main">
              <a:ext uri="{FF2B5EF4-FFF2-40B4-BE49-F238E27FC236}">
                <a16:creationId xmlns:a16="http://schemas.microsoft.com/office/drawing/2014/main" id="{F0C076E3-43E0-4C2E-8D5D-51C1ED259EE5}"/>
              </a:ext>
            </a:extLst>
          </p:cNvPr>
          <p:cNvSpPr>
            <a:spLocks xmlns:a="http://schemas.openxmlformats.org/drawingml/2006/main" noGrp="1"/>
          </p:cNvSpPr>
          <p:nvPr/>
        </p:nvSpPr>
        <p:spPr>
          <a:xfrm xmlns:a="http://schemas.openxmlformats.org/drawingml/2006/main">
            <a:off x="3009900" y="4781550"/>
            <a:ext cx="7810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F6670"/>
                </a:solidFill>
              </a:defRPr>
            </a:pPr>
            <a:r>
              <a:rPr sz="975" b="0">
                <a:solidFill>
                  <a:srgbClr val="5F6670"/>
                </a:solidFill>
              </a:rPr>
              <a:t>requires raw evidence, CI, independent witness</a:t>
            </a:r>
          </a:p>
        </p:txBody>
      </p:sp>
      <p:sp>
        <p:nvSpPr>
          <p:cNvPr id="21" name="text">
            <a:extLst xmlns:a="http://schemas.openxmlformats.org/drawingml/2006/main">
              <a:ext uri="{FF2B5EF4-FFF2-40B4-BE49-F238E27FC236}">
                <a16:creationId xmlns:a16="http://schemas.microsoft.com/office/drawing/2014/main" id="{2FF7FBBF-A3C3-444D-B3B7-009AE8D9134A}"/>
              </a:ext>
            </a:extLst>
          </p:cNvPr>
          <p:cNvSpPr>
            <a:spLocks xmlns:a="http://schemas.openxmlformats.org/drawingml/2006/main" noGrp="1"/>
          </p:cNvSpPr>
          <p:nvPr/>
        </p:nvSpPr>
        <p:spPr>
          <a:xfrm xmlns:a="http://schemas.openxmlformats.org/drawingml/2006/main">
            <a:off x="685800" y="5543550"/>
            <a:ext cx="981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11318"/>
                </a:solidFill>
              </a:defRPr>
            </a:pPr>
            <a:r>
              <a:rPr sz="1650" b="1">
                <a:solidFill>
                  <a:srgbClr val="111318"/>
                </a:solidFill>
              </a:rPr>
              <a:t>Our ask: approve a supervised pilot to convert a defensible architecture into production evidence.</a:t>
            </a:r>
          </a:p>
        </p:txBody>
      </p:sp>
      <p:sp>
        <p:nvSpPr>
          <p:cNvPr id="22" name="Straight Connector 21">
            <a:extLst xmlns:a="http://schemas.openxmlformats.org/drawingml/2006/main">
              <a:ext uri="{FF2B5EF4-FFF2-40B4-BE49-F238E27FC236}">
                <a16:creationId xmlns:a16="http://schemas.microsoft.com/office/drawing/2014/main" id="{A64CAB60-72DC-43B5-9AA8-CADF44D4C3C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ource">
            <a:extLst xmlns:a="http://schemas.openxmlformats.org/drawingml/2006/main">
              <a:ext uri="{FF2B5EF4-FFF2-40B4-BE49-F238E27FC236}">
                <a16:creationId xmlns:a16="http://schemas.microsoft.com/office/drawing/2014/main" id="{14B1FBE6-7D53-46EF-A2CD-F8F1D2025117}"/>
              </a:ext>
            </a:extLst>
          </p:cNvPr>
          <p:cNvSpPr>
            <a:spLocks xmlns:a="http://schemas.openxmlformats.org/drawingml/2006/main" noGrp="1"/>
          </p:cNvSpPr>
          <p:nvPr/>
        </p:nvSpPr>
        <p:spPr>
          <a:xfrm xmlns:a="http://schemas.openxmlformats.org/drawingml/2006/main">
            <a:off x="685800" y="64960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5F6670"/>
                </a:solidFill>
              </a:defRPr>
            </a:pPr>
            <a:r>
              <a:rPr sz="825" b="0">
                <a:solidFill>
                  <a:srgbClr val="5F6670"/>
                </a:solidFill>
              </a:rPr>
              <a:t>Close: evidence discipline is the competitive advantage.</a:t>
            </a:r>
          </a:p>
        </p:txBody>
      </p:sp>
      <p:sp>
        <p:nvSpPr>
          <p:cNvPr id="24" name="page">
            <a:extLst xmlns:a="http://schemas.openxmlformats.org/drawingml/2006/main">
              <a:ext uri="{FF2B5EF4-FFF2-40B4-BE49-F238E27FC236}">
                <a16:creationId xmlns:a16="http://schemas.microsoft.com/office/drawing/2014/main" id="{BE57CE11-5A30-4278-8E34-C4A469C5E4F6}"/>
              </a:ext>
            </a:extLst>
          </p:cNvPr>
          <p:cNvSpPr>
            <a:spLocks xmlns:a="http://schemas.openxmlformats.org/drawingml/2006/main" noGrp="1"/>
          </p:cNvSpPr>
          <p:nvPr/>
        </p:nvSpPr>
        <p:spPr>
          <a:xfrm xmlns:a="http://schemas.openxmlformats.org/drawingml/2006/main">
            <a:off x="10382250" y="6496050"/>
            <a:ext cx="11239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5F6670"/>
                </a:solidFill>
              </a:defRPr>
            </a:pPr>
            <a:r>
              <a:rPr sz="825" b="1">
                <a:solidFill>
                  <a:srgbClr val="5F6670"/>
                </a:solidFill>
              </a:rPr>
              <a:t>TEAM 71  /  8</a:t>
            </a:r>
          </a:p>
        </p:txBody>
      </p:sp>
    </p:spTree>
    <p:extLst>
      <p:ext uri="{BB962C8B-B14F-4D97-AF65-F5344CB8AC3E}">
        <p14:creationId xmlns:p14="http://schemas.microsoft.com/office/powerpoint/2010/main" val="1480685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2026-08-17T09:22:04.8290000Z</dcterms:created>
  <dcterms:modified xsi:type="dcterms:W3CDTF">2026-08-17T09:22:04.8290000Z</dcterms:modified>
</coreProperties>
</file>