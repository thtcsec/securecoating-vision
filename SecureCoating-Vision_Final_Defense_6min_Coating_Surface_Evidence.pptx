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ab3c4da43b48bc" /><Relationship Type="http://schemas.openxmlformats.org/officeDocument/2006/relationships/extended-properties" Target="/docProps/app.xml" Id="R0103ad59dc064074" /><Relationship Type="http://schemas.openxmlformats.org/officeDocument/2006/relationships/officeDocument" Target="/ppt/presentation.xml" Id="R0b5e0f6965b046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b8d17829794a3d"/>
  </p:sldMasterIdLst>
  <p:notesMasterIdLst>
    <p:notesMasterId xmlns:r="http://schemas.openxmlformats.org/officeDocument/2006/relationships" r:id="Ra48f6d110c9044d0"/>
  </p:notesMasterIdLst>
  <p:sldIdLst>
    <p:sldId xmlns:r="http://schemas.openxmlformats.org/officeDocument/2006/relationships" id="256" r:id="R1547a8f84e4b4a67"/>
    <p:sldId xmlns:r="http://schemas.openxmlformats.org/officeDocument/2006/relationships" id="257" r:id="Rd68a17c929b2496c"/>
    <p:sldId xmlns:r="http://schemas.openxmlformats.org/officeDocument/2006/relationships" id="258" r:id="Rb223359aefc843c2"/>
    <p:sldId xmlns:r="http://schemas.openxmlformats.org/officeDocument/2006/relationships" id="259" r:id="Re1a58da737d1435b"/>
    <p:sldId xmlns:r="http://schemas.openxmlformats.org/officeDocument/2006/relationships" id="260" r:id="R7788a090e06644be"/>
    <p:sldId xmlns:r="http://schemas.openxmlformats.org/officeDocument/2006/relationships" id="261" r:id="R6deb5c482f7c4b51"/>
    <p:sldId xmlns:r="http://schemas.openxmlformats.org/officeDocument/2006/relationships" id="262" r:id="R50e574288a864c2e"/>
    <p:sldId xmlns:r="http://schemas.openxmlformats.org/officeDocument/2006/relationships" id="263" r:id="R57ba738653394f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eb538c32564b82" /><Relationship Type="http://schemas.openxmlformats.org/officeDocument/2006/relationships/slideMaster" Target="/ppt/slideMasters/slideMaster1.xml" Id="Rf0b8d17829794a3d" /><Relationship Type="http://schemas.openxmlformats.org/officeDocument/2006/relationships/notesMaster" Target="/ppt/notesMasters/notesMaster1.xml" Id="Ra48f6d110c9044d0" /><Relationship Type="http://schemas.openxmlformats.org/officeDocument/2006/relationships/presProps" Target="/ppt/presProps.xml" Id="R2646d59cc780411f" /><Relationship Type="http://schemas.openxmlformats.org/officeDocument/2006/relationships/viewProps" Target="/ppt/viewProps.xml" Id="R879871315055445c" /><Relationship Type="http://schemas.openxmlformats.org/officeDocument/2006/relationships/tableStyles" Target="/ppt/tableStyles.xml" Id="Rfd2f636e3e8f41a2" /><Relationship Type="http://schemas.openxmlformats.org/officeDocument/2006/relationships/slide" Target="/ppt/slides/slide1.xml" Id="R1547a8f84e4b4a67" /><Relationship Type="http://schemas.openxmlformats.org/officeDocument/2006/relationships/slide" Target="/ppt/slides/slide2.xml" Id="Rd68a17c929b2496c" /><Relationship Type="http://schemas.openxmlformats.org/officeDocument/2006/relationships/slide" Target="/ppt/slides/slide3.xml" Id="Rb223359aefc843c2" /><Relationship Type="http://schemas.openxmlformats.org/officeDocument/2006/relationships/slide" Target="/ppt/slides/slide4.xml" Id="Re1a58da737d1435b" /><Relationship Type="http://schemas.openxmlformats.org/officeDocument/2006/relationships/slide" Target="/ppt/slides/slide5.xml" Id="R7788a090e06644be" /><Relationship Type="http://schemas.openxmlformats.org/officeDocument/2006/relationships/slide" Target="/ppt/slides/slide6.xml" Id="R6deb5c482f7c4b51" /><Relationship Type="http://schemas.openxmlformats.org/officeDocument/2006/relationships/slide" Target="/ppt/slides/slide7.xml" Id="R50e574288a864c2e" /><Relationship Type="http://schemas.openxmlformats.org/officeDocument/2006/relationships/slide" Target="/ppt/slides/slide8.xml" Id="R57ba73865339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35363d7aac44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9c596f31384ed5" /><Relationship Type="http://schemas.openxmlformats.org/officeDocument/2006/relationships/notesMaster" Target="/ppt/notesMasters/notesMaster1.xml" Id="R2fefc69a6b2240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165adc2ed648c3" /><Relationship Type="http://schemas.openxmlformats.org/officeDocument/2006/relationships/notesMaster" Target="/ppt/notesMasters/notesMaster1.xml" Id="Rb6d83e108dce43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35265931504e84" /><Relationship Type="http://schemas.openxmlformats.org/officeDocument/2006/relationships/notesMaster" Target="/ppt/notesMasters/notesMaster1.xml" Id="Rd5f121e0de0241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f7e8bf68e748cc" /><Relationship Type="http://schemas.openxmlformats.org/officeDocument/2006/relationships/notesMaster" Target="/ppt/notesMasters/notesMaster1.xml" Id="Rd1003b15b6134d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cc832a3a424fcb" /><Relationship Type="http://schemas.openxmlformats.org/officeDocument/2006/relationships/notesMaster" Target="/ppt/notesMasters/notesMaster1.xml" Id="Rb321321f5b4341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e85151c2ad451c" /><Relationship Type="http://schemas.openxmlformats.org/officeDocument/2006/relationships/notesMaster" Target="/ppt/notesMasters/notesMaster1.xml" Id="Rfc28a3244e404f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a01078a9f54385" /><Relationship Type="http://schemas.openxmlformats.org/officeDocument/2006/relationships/notesMaster" Target="/ppt/notesMasters/notesMaster1.xml" Id="R5d43591bb2b14d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ea6db8b8f44a8c" /><Relationship Type="http://schemas.openxmlformats.org/officeDocument/2006/relationships/notesMaster" Target="/ppt/notesMasters/notesMaster1.xml" Id="R585ff0922bc849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Good morning, distinguished judges. I am Trịnh Hoàng Tú from Team 71.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SecureCoating-Vision is designed as an inline decision system: it converts physical sensing into a timestamped, spatially traceable quality action. Our contribution is not another vision demo. It is the engineering bridge from photons on a moving electrode to a guarded factory decision.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In six minutes, I will show the physical budget, the multi-modal timing anchor, the measurement guard bands, and the deployment gate we use before claiming production readiness.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identity and team details supplied by Team 71.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real held-out CoatingVision electrode-coating surface (image_1548), chosen because the optical frame visibly exposes a network of surface micro-cracks. Left: raw bright-field material image. Top-middle: deterministic CLAHE contrast enhancement, used only for visual inspection. Top-right: published dataset segmentation annotation in red. Bottom-right: the raw YOLO26n detector result — a surface-crack candidate at 0.78 confidence, rendered cyan.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The processing story is deliberately explicit: material surface → contrast view → published label → real model output. The red label is not model output, and the cyan box is not a claim of dimensional metrology. No thermal or profiler data were supplied, so this run stays in RGB-only degraded/HOLD mode.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Input image and segmentation annotation: Sampath et al., CoatingVision dataset, Figshare DOI 10.6084/m9.figshare.29260121.v1, CC BY 4.0.</a:t>
            </a:r>
          </a:p>
          <a:p xmlns:a="http://schemas.openxmlformats.org/drawingml/2006/main">
            <a:r>
              <a:t>Deterministic visual processing: scripts/generate_coatingvision_evidence_views.py --image-id 1548.</a:t>
            </a:r>
          </a:p>
          <a:p xmlns:a="http://schemas.openxmlformats.org/drawingml/2006/main">
            <a:r>
              <a:t>Detector output: reports/coatingvision_gallery/image_1548/coatingvision_model_output.json; checkpoint metrics: reports/coatingvision_real_test_metrics.json.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separates evidence from aspiration. The current real-data proof is an RGB YOLO26n detector. In the fixed CoatingVision split, it was trained on 406 images, validated on 87 images and evaluated on 88 held-out test images. Thermal/3D fusion, calibrated metrology and PLC release remain gated on physical integration.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reports/coatingvision_real_test_metrics.json; configs/coatingvision_real_detect.yaml; src/inference/multi_stage_pipeline.py.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Multi-modal fusion fails if it uses processing time as a coordinate. Our FrameContext records the roll ID, encoder count, material position and monotonic capture time when the photons arrive. Every later operation inherits that anchor.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We fuse RGB, traveling-wave thermal response, and 3D laser height into five channels: R, G, B, thermal phase or differential, and height. Importantly, the current repository validates this logic with simulated secondary streams. The production claim is therefore the architecture and anchoring method; hardware calibration and temporal phase validation are pilot gates.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src/industrial/web_synchronizer.py; src/inference/sensor_fusion.py (mock/simulated secondary feeds).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visible formula is the decision contract: pixel area A_px is converted by calibrated scale s; expanded uncertainty uses coverage k=2; a quality quantity q can pass only inside the guard-banded limit L−U. This is activated only with a calibrated measurement system. RGB-only evidence mode deliberately returns HOLD, not a dimensional grade.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src/inference/electrode_metrology.py; src/inference/postprocess.py; src/inference/multi_stage_pipeline.py.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fast neural network is not a fast rejection system. We decompose the chain from tile formation to air-jet propagation. The expected P50 is 32.9 milliseconds, P99.9 is 35.9 milliseconds, and with a three-millisecond guard the design latency is 38.9 milliseconds. At 1.8 metres per second and 500 millimetres camera-to-ejector spacing, that gives a 7.1-times design buffer.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However, these percentiles are Monte Carlo modeled in the current code. Modbus TCP and OPC UA are telemetry/control interfaces, not proof of a deterministic safety layer. The pilot exit criterion is a hardware-in-the-loop trace with encoder, PLC scan, valve response and P99.9 measurement.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src/industrial/latency_budget.py (Monte Carlo status); calculated 500 / (1.8 × 0.0389).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digital twin is a map of the material, not a dashboard screenshot. Each event is located by machine direction, transverse position and slitting lane. The diagnostic engine then ranks process hypotheses.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We make an important causal distinction: a correlation is not a root cause. For example, reducing Dryer Zone 1 by four degrees is a controlled hypothesis, not an autonomous action. It must be constrained by the recipe, approved by process engineering, and verified on a holdout segment. The reported 84.2 percent scrap reduction must not be spoken as a result until raw pilot logs, baseline definition and independent roll evidence are available.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src/industrial/web_synchronizer.py; src/traceability/root_cause_engine.py; src/traceability/roll_certificate.py; reported figure appears only in generated dossier.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Upgrade sequence: first collect synchronized, calibrated RGB/thermal/height frames with raw-roll labels; then establish measurement-system capability and cross-lot POD; finally execute a hardware-in-the-loop rejection timing trace. The model is not presented as production ready. The deployment decision must be made after those gates pass.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reports/coatingvision_real_test_metrics.json; scripts/prepare_coatingvision_detection_dataset.py; scripts/evaluate_coatingvision_real.py.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f4a4f0c0f45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fc785d1fe84aff" /><Relationship Type="http://schemas.openxmlformats.org/officeDocument/2006/relationships/slideLayout" Target="/ppt/slideLayouts/slideLayout1.xml" Id="R828b7a18b1474b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8b7a18b1474b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83dd8299b4836" /><Relationship Type="http://schemas.openxmlformats.org/officeDocument/2006/relationships/image" Target="/ppt/media/image.png" Id="Rc7cb8cece64d46a6" /><Relationship Type="http://schemas.openxmlformats.org/officeDocument/2006/relationships/notesSlide" Target="/ppt/notesSlides/notesSlide1.xml" Id="R7f1c75326a2446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f3039e29e4105" /><Relationship Type="http://schemas.openxmlformats.org/officeDocument/2006/relationships/image" Target="/ppt/media/image2.png" Id="R339dcc3e40cc4c54" /><Relationship Type="http://schemas.openxmlformats.org/officeDocument/2006/relationships/image" Target="/ppt/media/image3.png" Id="R755702dce4f74a4b" /><Relationship Type="http://schemas.openxmlformats.org/officeDocument/2006/relationships/image" Target="/ppt/media/image4.png" Id="R9bd767d8db10476e" /><Relationship Type="http://schemas.openxmlformats.org/officeDocument/2006/relationships/image" Target="/ppt/media/image5.png" Id="Ra64cfb8c67d44f3f" /><Relationship Type="http://schemas.openxmlformats.org/officeDocument/2006/relationships/notesSlide" Target="/ppt/notesSlides/notesSlide2.xml" Id="Rdb18f3df577f42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24a6a1eb64603" /><Relationship Type="http://schemas.openxmlformats.org/officeDocument/2006/relationships/notesSlide" Target="/ppt/notesSlides/notesSlide3.xml" Id="Rc43fe138d5b644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5478e479f4d92" /><Relationship Type="http://schemas.openxmlformats.org/officeDocument/2006/relationships/notesSlide" Target="/ppt/notesSlides/notesSlide4.xml" Id="Ref6e5cdf8dff40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18667d18346dd" /><Relationship Type="http://schemas.openxmlformats.org/officeDocument/2006/relationships/notesSlide" Target="/ppt/notesSlides/notesSlide5.xml" Id="Rb7aee0ae5f564b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711bffdb9497b" /><Relationship Type="http://schemas.openxmlformats.org/officeDocument/2006/relationships/notesSlide" Target="/ppt/notesSlides/notesSlide6.xml" Id="R4a9bd3d9c67c4f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f649c3eee4332" /><Relationship Type="http://schemas.openxmlformats.org/officeDocument/2006/relationships/notesSlide" Target="/ppt/notesSlides/notesSlide7.xml" Id="R8c08f29a35ab40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7607bbd234d3b" /><Relationship Type="http://schemas.openxmlformats.org/officeDocument/2006/relationships/notesSlide" Target="/ppt/notesSlides/notesSlide8.xml" Id="R027653c4eb1c4a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254DD49-50FC-44AF-9406-302A9035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1624" y="457199"/>
            <a:ext cx="3346704" cy="257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GLOBAL AI + MATERIALS INNOVATION COMPETITION 2026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6E13659-F963-465E-B049-C0AEF1B0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19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11318"/>
                </a:solidFill>
              </a:defRPr>
            </a:pPr>
            <a:r>
              <a:rPr sz="4650" b="1">
                <a:solidFill>
                  <a:srgbClr val="111318"/>
                </a:solidFill>
              </a:rPr>
              <a:t>SecureCoating-Vision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511CE02-2324-4876-8891-B630A8FC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85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11318"/>
                </a:solidFill>
              </a:defRPr>
            </a:pPr>
            <a:r>
              <a:rPr sz="1875" b="0">
                <a:solidFill>
                  <a:srgbClr val="111318"/>
                </a:solidFill>
              </a:rPr>
              <a:t>Multi-Sensor AI for Inline Battery-Electrode Inspection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11318"/>
                </a:solidFill>
              </a:defRPr>
            </a:pPr>
            <a:r>
              <a:rPr sz="1875" b="0">
                <a:solidFill>
                  <a:srgbClr val="111318"/>
                </a:solidFill>
              </a:rPr>
              <a:t>多传感器 AI 在线电极检测与闭环诊断平台</a:t>
            </a:r>
          </a:p>
        </p:txBody>
      </p:sp>
      <p:sp>
        <p:nvSpPr>
          <p:cNvPr id="4" name="rect">
            <a:extLst xmlns:a="http://schemas.openxmlformats.org/drawingml/2006/main">
              <a:ext uri="{FF2B5EF4-FFF2-40B4-BE49-F238E27FC236}">
                <a16:creationId xmlns:a16="http://schemas.microsoft.com/office/drawing/2014/main" id="{5C1C884F-7231-446A-A699-874AE7EA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4332EB-2612-4FAA-98C7-3E088002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</a:defRPr>
            </a:pPr>
            <a:r>
              <a:rPr sz="1350" b="0">
                <a:solidFill>
                  <a:srgbClr val="5F6670"/>
                </a:solidFill>
              </a:rPr>
              <a:t>Team 71  •  Trịnh Hoàng Tú, H</a:t>
            </a:r>
            <a:r>
              <a:rPr sz="1350" b="0">
                <a:solidFill>
                  <a:srgbClr val="5F6670"/>
                </a:solidFill>
              </a:rPr>
              <a:t>o Chi Minh City Foreign Language and Information Technology (HUFLIT)</a:t>
            </a:r>
            <a:endParaRPr sz="1350" b="0">
              <a:solidFill>
                <a:srgbClr val="5F6670"/>
              </a:solidFill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5F6670"/>
                </a:solidFill>
              </a:defRPr>
            </a:pPr>
            <a:r>
              <a:rPr sz="1350" b="0">
                <a:solidFill>
                  <a:srgbClr val="5F6670"/>
                </a:solidFill>
              </a:rPr>
              <a:t>Academic Advisor: Prof. Kris Singh — CEO SRII, Visiting Prof. Tsinghua University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A71AB4E-3E2C-44E1-8F89-B52DDE35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162050"/>
            <a:ext cx="276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TRACK 4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AI + MATERIALS TESTING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AND CHARACTERIZATION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人工智能 + 材料检测与表征</a:t>
            </a:r>
          </a:p>
        </p:txBody>
      </p:sp>
      <p:pic>
        <p:nvPicPr>
          <p:cNvPr id="20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cb8cece64d46a6"/>
          <a:stretch xmlns:a="http://schemas.openxmlformats.org/drawingml/2006/main"/>
        </p:blipFill>
        <p:spPr>
          <a:xfrm xmlns:a="http://schemas.openxmlformats.org/drawingml/2006/main">
            <a:off x="685800" y="277519"/>
            <a:ext cx="3493394" cy="760705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F853C3-8531-4D1E-80A2-14C4F60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Decision objective: prove a defensible inline inspection architecture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E518B324-811C-45D8-95A7-64389F0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42F41816-A4E0-4F2A-9573-C6C5AEB2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0:00–0:35  |  Opening thesis</a:t>
            </a:r>
          </a:p>
        </p:txBody>
      </p:sp>
      <p:sp>
        <p:nvSpPr>
          <p:cNvPr id="11" name="page">
            <a:extLst xmlns:a="http://schemas.openxmlformats.org/drawingml/2006/main">
              <a:ext uri="{FF2B5EF4-FFF2-40B4-BE49-F238E27FC236}">
                <a16:creationId xmlns:a16="http://schemas.microsoft.com/office/drawing/2014/main" id="{3B8FCD50-6214-4BF8-A497-2383C067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1</a:t>
            </a:r>
          </a:p>
        </p:txBody>
      </p:sp>
    </p:spTree>
    <p:extLst>
      <p:ext uri="{BB962C8B-B14F-4D97-AF65-F5344CB8AC3E}">
        <p14:creationId xmlns:p14="http://schemas.microsoft.com/office/powerpoint/2010/main" val="11429907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00391283-0BA5-401D-828E-2166DF11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02  |  0:35–1:15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20AE21-3392-40C2-A174-EA1AD751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Real coating surface: micro-cracks made visible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AB18C922-9C0E-4B82-AD7B-3347C72C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真实涂层表面 · 裂纹可见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687E6D3D-991E-40D3-AEBC-5B14C6A9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3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dcc3e40cc4c54"/>
          <a:srcRect xmlns:a="http://schemas.openxmlformats.org/drawingml/2006/main" l="0" t="3333" r="0" b="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43100"/>
            <a:ext cx="4762500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7F415B3-AC82-4DC5-B817-3A1CEC47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2714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REAL HELD-OUT COATING SURFACE — IMAGE 1548</a:t>
            </a:r>
          </a:p>
        </p:txBody>
      </p:sp>
      <p:sp>
        <p:nvSpPr>
          <p:cNvPr id="7" name="metric">
            <a:extLst xmlns:a="http://schemas.openxmlformats.org/drawingml/2006/main">
              <a:ext uri="{FF2B5EF4-FFF2-40B4-BE49-F238E27FC236}">
                <a16:creationId xmlns:a16="http://schemas.microsoft.com/office/drawing/2014/main" id="{AD469830-E901-494E-8907-A9F9EF6F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2247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0C3FD5A3-D345-45EB-8D7E-0D7AF770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3D3D"/>
          </a:solidFill>
          <a:ln xmlns:a="http://schemas.openxmlformats.org/drawingml/2006/main" w="9525">
            <a:solidFill>
              <a:srgbClr val="C43D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6038149D-23F8-4B1E-A4C3-6033E352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8122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SEPARATOR REFERENCE</a:t>
            </a:r>
          </a:p>
        </p:txBody>
      </p:sp>
      <p:sp>
        <p:nvSpPr>
          <p:cNvPr id="1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97A202F-E233-4F06-B3B7-3C397106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193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14 µm</a:t>
            </a:r>
          </a:p>
        </p:txBody>
      </p:sp>
      <p:sp>
        <p:nvSpPr>
          <p:cNvPr id="11" name="metric-sub">
            <a:extLst xmlns:a="http://schemas.openxmlformats.org/drawingml/2006/main">
              <a:ext uri="{FF2B5EF4-FFF2-40B4-BE49-F238E27FC236}">
                <a16:creationId xmlns:a16="http://schemas.microsoft.com/office/drawing/2014/main" id="{5C8CF618-58F6-4F4F-B2F0-EF45A217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Risk boundary for stack design</a:t>
            </a:r>
          </a:p>
        </p:txBody>
      </p:sp>
      <p:sp>
        <p:nvSpPr>
          <p:cNvPr id="12" name="metric">
            <a:extLst xmlns:a="http://schemas.openxmlformats.org/drawingml/2006/main">
              <a:ext uri="{FF2B5EF4-FFF2-40B4-BE49-F238E27FC236}">
                <a16:creationId xmlns:a16="http://schemas.microsoft.com/office/drawing/2014/main" id="{5D8FE487-AF9C-4F57-8D83-0A3BE792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9775"/>
            <a:ext cx="22479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160B82A3-28B7-4F96-9039-34E318D9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97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AA6E953-9010-4041-B73F-2303CB40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8122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INSPECTION GAP</a:t>
            </a:r>
          </a:p>
        </p:txBody>
      </p:sp>
      <p:sp>
        <p:nvSpPr>
          <p:cNvPr id="1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0DB459AE-4F85-4965-A679-45DE83A1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193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Subsurface</a:t>
            </a:r>
          </a:p>
        </p:txBody>
      </p:sp>
      <p:sp>
        <p:nvSpPr>
          <p:cNvPr id="16" name="metric-sub">
            <a:extLst xmlns:a="http://schemas.openxmlformats.org/drawingml/2006/main">
              <a:ext uri="{FF2B5EF4-FFF2-40B4-BE49-F238E27FC236}">
                <a16:creationId xmlns:a16="http://schemas.microsoft.com/office/drawing/2014/main" id="{E1A1EB02-08AD-4C94-8B55-9E683D00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765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Surface-only RGB cannot see void physics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9FE226B0-D1A4-421B-8BC7-023AAC9F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76625"/>
            <a:ext cx="4686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214DDC0-BB2B-480E-B2FD-1488AFDB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95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Factory consequence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6147890-234D-4747-9CED-B0D73FF3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100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A defect escape is not “one missed box.”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11318"/>
                </a:solidFill>
              </a:defRPr>
            </a:pPr>
            <a:r>
              <a:rPr sz="1425" b="0">
                <a:solidFill>
                  <a:srgbClr val="111318"/>
                </a:solidFill>
              </a:rPr>
              <a:t>It is an untraceable precursor to rework, yield loss, or an internal-short investigation.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153728D-BB2D-456B-887D-4DFE9BBC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172075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Coating crack network: red = dataset label · cyan = YOLO26n 0.78 · RGB-only → HOLD</a:t>
            </a:r>
          </a:p>
        </p:txBody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3A6118E1-79D1-4120-8B07-19DBEDE0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91EC0F93-B569-4FD0-AA0B-0D23B6CD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Real CoatingVision coating image + CLAHE + published label + YOLO output.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D7120092-9D82-43FB-AC3D-D2D6F8C7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2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702dce4f74a4b"/>
          <a:srcRect xmlns:a="http://schemas.openxmlformats.org/drawingml/2006/main" l="0" t="14689" r="0" b="1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2009775"/>
            <a:ext cx="2247900" cy="1190625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767d8db10476e"/>
          <a:srcRect xmlns:a="http://schemas.openxmlformats.org/drawingml/2006/main" l="0" t="14689" r="0" b="1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01050" y="2009775"/>
            <a:ext cx="2247900" cy="1190625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cfb8c67d44f3f"/>
          <a:srcRect xmlns:a="http://schemas.openxmlformats.org/drawingml/2006/main" l="0" t="12809" r="0" b="128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3476625"/>
            <a:ext cx="4686300" cy="1571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08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eyebrow">
            <a:extLst xmlns:a="http://schemas.openxmlformats.org/drawingml/2006/main">
              <a:ext uri="{FF2B5EF4-FFF2-40B4-BE49-F238E27FC236}">
                <a16:creationId xmlns:a16="http://schemas.microsoft.com/office/drawing/2014/main" id="{837B98A7-387C-4D47-8E87-AF04BF33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03  |  1:15–2:00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8A1CDE-100C-48E9-AFA3-9F544B6A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An evidence-gated inspection architecture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2E31405D-CD4F-4E51-8CBF-0327DA1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七工站闭环检测决策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0257CA6F-77D0-48C4-A459-98B3294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node">
            <a:extLst xmlns:a="http://schemas.openxmlformats.org/drawingml/2006/main">
              <a:ext uri="{FF2B5EF4-FFF2-40B4-BE49-F238E27FC236}">
                <a16:creationId xmlns:a16="http://schemas.microsoft.com/office/drawing/2014/main" id="{F594C7EE-DCB2-484C-BBE4-F98A7C01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node-head">
            <a:extLst xmlns:a="http://schemas.openxmlformats.org/drawingml/2006/main">
              <a:ext uri="{FF2B5EF4-FFF2-40B4-BE49-F238E27FC236}">
                <a16:creationId xmlns:a16="http://schemas.microsoft.com/office/drawing/2014/main" id="{2A5C2036-8C42-4BDB-8513-A237C68E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1</a:t>
            </a:r>
          </a:p>
        </p:txBody>
      </p:sp>
      <p:sp>
        <p:nvSpPr>
          <p:cNvPr id="7" name="node-body">
            <a:extLst xmlns:a="http://schemas.openxmlformats.org/drawingml/2006/main">
              <a:ext uri="{FF2B5EF4-FFF2-40B4-BE49-F238E27FC236}">
                <a16:creationId xmlns:a16="http://schemas.microsoft.com/office/drawing/2014/main" id="{A9BB1A32-2A4C-4BF4-8846-13844D75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Encoder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同步</a:t>
            </a:r>
          </a:p>
        </p:txBody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C36A6701-FBC5-449C-AC41-2D3E9158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node-head">
            <a:extLst xmlns:a="http://schemas.openxmlformats.org/drawingml/2006/main">
              <a:ext uri="{FF2B5EF4-FFF2-40B4-BE49-F238E27FC236}">
                <a16:creationId xmlns:a16="http://schemas.microsoft.com/office/drawing/2014/main" id="{F0D87EB0-F72F-48C8-B31C-C93ED12F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2</a:t>
            </a:r>
          </a:p>
        </p:txBody>
      </p:sp>
      <p:sp>
        <p:nvSpPr>
          <p:cNvPr id="10" name="node-body">
            <a:extLst xmlns:a="http://schemas.openxmlformats.org/drawingml/2006/main">
              <a:ext uri="{FF2B5EF4-FFF2-40B4-BE49-F238E27FC236}">
                <a16:creationId xmlns:a16="http://schemas.microsoft.com/office/drawing/2014/main" id="{291599E0-F803-4A02-B3F7-321D776B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RGB / Thermal / 3D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采集</a:t>
            </a:r>
          </a:p>
        </p:txBody>
      </p:sp>
      <p:cxnSp>
        <p:nvCxnSpPr>
          <p:cNvPr id="221" name="Straight Arrow Connector 65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94310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12" name="node">
            <a:extLst xmlns:a="http://schemas.openxmlformats.org/drawingml/2006/main">
              <a:ext uri="{FF2B5EF4-FFF2-40B4-BE49-F238E27FC236}">
                <a16:creationId xmlns:a16="http://schemas.microsoft.com/office/drawing/2014/main" id="{2E89EB11-D747-4117-97FB-D266B941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node-head">
            <a:extLst xmlns:a="http://schemas.openxmlformats.org/drawingml/2006/main">
              <a:ext uri="{FF2B5EF4-FFF2-40B4-BE49-F238E27FC236}">
                <a16:creationId xmlns:a16="http://schemas.microsoft.com/office/drawing/2014/main" id="{53616098-17E2-4A38-8FDF-81889C2F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3</a:t>
            </a:r>
          </a:p>
        </p:txBody>
      </p:sp>
      <p:sp>
        <p:nvSpPr>
          <p:cNvPr id="14" name="node-body">
            <a:extLst xmlns:a="http://schemas.openxmlformats.org/drawingml/2006/main">
              <a:ext uri="{FF2B5EF4-FFF2-40B4-BE49-F238E27FC236}">
                <a16:creationId xmlns:a16="http://schemas.microsoft.com/office/drawing/2014/main" id="{E84A2AD8-4A60-4875-85C5-53D77118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5-channel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对齐融合</a:t>
            </a:r>
          </a:p>
        </p:txBody>
      </p:sp>
      <p:cxnSp>
        <p:nvCxnSpPr>
          <p:cNvPr id="225" name="Straight Arrow Connector 69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40995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16" name="node">
            <a:extLst xmlns:a="http://schemas.openxmlformats.org/drawingml/2006/main">
              <a:ext uri="{FF2B5EF4-FFF2-40B4-BE49-F238E27FC236}">
                <a16:creationId xmlns:a16="http://schemas.microsoft.com/office/drawing/2014/main" id="{8C1902FA-2B3F-4609-8335-2C1E2357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node-head">
            <a:extLst xmlns:a="http://schemas.openxmlformats.org/drawingml/2006/main">
              <a:ext uri="{FF2B5EF4-FFF2-40B4-BE49-F238E27FC236}">
                <a16:creationId xmlns:a16="http://schemas.microsoft.com/office/drawing/2014/main" id="{43178BC8-DB36-460A-9E4B-63F17FB6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4</a:t>
            </a:r>
          </a:p>
        </p:txBody>
      </p:sp>
      <p:sp>
        <p:nvSpPr>
          <p:cNvPr id="18" name="node-body">
            <a:extLst xmlns:a="http://schemas.openxmlformats.org/drawingml/2006/main">
              <a:ext uri="{FF2B5EF4-FFF2-40B4-BE49-F238E27FC236}">
                <a16:creationId xmlns:a16="http://schemas.microsoft.com/office/drawing/2014/main" id="{CE37ECA9-3130-431A-A1E2-2A40A77C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YOLO26n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detection</a:t>
            </a:r>
          </a:p>
        </p:txBody>
      </p:sp>
      <p:cxnSp>
        <p:nvCxnSpPr>
          <p:cNvPr id="229" name="Straight Arrow Connector 73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87680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0" name="node">
            <a:extLst xmlns:a="http://schemas.openxmlformats.org/drawingml/2006/main">
              <a:ext uri="{FF2B5EF4-FFF2-40B4-BE49-F238E27FC236}">
                <a16:creationId xmlns:a16="http://schemas.microsoft.com/office/drawing/2014/main" id="{A42DCBF4-B375-49A4-AA0C-9374044D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node-head">
            <a:extLst xmlns:a="http://schemas.openxmlformats.org/drawingml/2006/main">
              <a:ext uri="{FF2B5EF4-FFF2-40B4-BE49-F238E27FC236}">
                <a16:creationId xmlns:a16="http://schemas.microsoft.com/office/drawing/2014/main" id="{B6D32A21-7A09-4302-B4FA-C28B174D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5</a:t>
            </a:r>
          </a:p>
        </p:txBody>
      </p:sp>
      <p:sp>
        <p:nvSpPr>
          <p:cNvPr id="22" name="node-body">
            <a:extLst xmlns:a="http://schemas.openxmlformats.org/drawingml/2006/main">
              <a:ext uri="{FF2B5EF4-FFF2-40B4-BE49-F238E27FC236}">
                <a16:creationId xmlns:a16="http://schemas.microsoft.com/office/drawing/2014/main" id="{40F7BE45-3FAA-4D22-A9F7-46E51F93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Physics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metrology</a:t>
            </a:r>
          </a:p>
        </p:txBody>
      </p:sp>
      <p:cxnSp>
        <p:nvCxnSpPr>
          <p:cNvPr id="233" name="Straight Arrow Connector 77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34365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4" name="node">
            <a:extLst xmlns:a="http://schemas.openxmlformats.org/drawingml/2006/main">
              <a:ext uri="{FF2B5EF4-FFF2-40B4-BE49-F238E27FC236}">
                <a16:creationId xmlns:a16="http://schemas.microsoft.com/office/drawing/2014/main" id="{FA9B9AC4-2649-4D13-BA40-08DBFD06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node-head">
            <a:extLst xmlns:a="http://schemas.openxmlformats.org/drawingml/2006/main">
              <a:ext uri="{FF2B5EF4-FFF2-40B4-BE49-F238E27FC236}">
                <a16:creationId xmlns:a16="http://schemas.microsoft.com/office/drawing/2014/main" id="{630C2C4D-190F-44D0-9CDD-401E2F2E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6</a:t>
            </a:r>
          </a:p>
        </p:txBody>
      </p:sp>
      <p:sp>
        <p:nvSpPr>
          <p:cNvPr id="26" name="node-body">
            <a:extLst xmlns:a="http://schemas.openxmlformats.org/drawingml/2006/main">
              <a:ext uri="{FF2B5EF4-FFF2-40B4-BE49-F238E27FC236}">
                <a16:creationId xmlns:a16="http://schemas.microsoft.com/office/drawing/2014/main" id="{7CCF425D-EA22-43A5-AFC2-998FE7A3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PLC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interlock</a:t>
            </a:r>
          </a:p>
        </p:txBody>
      </p:sp>
      <p:cxnSp>
        <p:nvCxnSpPr>
          <p:cNvPr id="237" name="Straight Arrow Connector 81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81050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8" name="node">
            <a:extLst xmlns:a="http://schemas.openxmlformats.org/drawingml/2006/main">
              <a:ext uri="{FF2B5EF4-FFF2-40B4-BE49-F238E27FC236}">
                <a16:creationId xmlns:a16="http://schemas.microsoft.com/office/drawing/2014/main" id="{C88117F1-EFB9-41C8-8F66-27C4EAA9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43125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node-head">
            <a:extLst xmlns:a="http://schemas.openxmlformats.org/drawingml/2006/main">
              <a:ext uri="{FF2B5EF4-FFF2-40B4-BE49-F238E27FC236}">
                <a16:creationId xmlns:a16="http://schemas.microsoft.com/office/drawing/2014/main" id="{5EA7E9F7-6E69-41FC-887E-D3C8E76D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669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7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5D676331-1E29-4D53-9C86-AF02B973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99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Root-cause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feedback</a:t>
            </a:r>
          </a:p>
        </p:txBody>
      </p:sp>
      <p:cxnSp>
        <p:nvCxnSpPr>
          <p:cNvPr id="241" name="Straight Arrow Connector 85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277350" y="26193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32" name="metric">
            <a:extLst xmlns:a="http://schemas.openxmlformats.org/drawingml/2006/main">
              <a:ext uri="{FF2B5EF4-FFF2-40B4-BE49-F238E27FC236}">
                <a16:creationId xmlns:a16="http://schemas.microsoft.com/office/drawing/2014/main" id="{0548D1A4-2AF1-45CE-8BBC-51AD58C5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1A405073-A2BB-41E8-917E-F714F3F3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EB82EA8-6244-45D1-90C8-E77EB3A0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WEB SPEED</a:t>
            </a:r>
          </a:p>
        </p:txBody>
      </p:sp>
      <p:sp>
        <p:nvSpPr>
          <p:cNvPr id="3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B43B7E8D-E067-46A8-973C-BC0A8326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1.8 m/s</a:t>
            </a:r>
          </a:p>
        </p:txBody>
      </p:sp>
      <p:sp>
        <p:nvSpPr>
          <p:cNvPr id="36" name="metric-sub">
            <a:extLst xmlns:a="http://schemas.openxmlformats.org/drawingml/2006/main">
              <a:ext uri="{FF2B5EF4-FFF2-40B4-BE49-F238E27FC236}">
                <a16:creationId xmlns:a16="http://schemas.microsoft.com/office/drawing/2014/main" id="{FC35E8FC-63C2-4B05-8E7E-32FF192F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design operating point</a:t>
            </a:r>
          </a:p>
        </p:txBody>
      </p:sp>
      <p:sp>
        <p:nvSpPr>
          <p:cNvPr id="37" name="metric">
            <a:extLst xmlns:a="http://schemas.openxmlformats.org/drawingml/2006/main">
              <a:ext uri="{FF2B5EF4-FFF2-40B4-BE49-F238E27FC236}">
                <a16:creationId xmlns:a16="http://schemas.microsoft.com/office/drawing/2014/main" id="{A4B5B898-E821-48D3-9FF0-7D4C0DAE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A37CB742-5FF4-472A-88DA-CDB64E0C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D723D98-F48D-4988-8832-FA89FC71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LINE RATE</a:t>
            </a:r>
          </a:p>
        </p:txBody>
      </p:sp>
      <p:sp>
        <p:nvSpPr>
          <p:cNvPr id="4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D981E17-8B34-454D-B975-72A2EC23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42.6 kHz</a:t>
            </a:r>
          </a:p>
        </p:txBody>
      </p:sp>
      <p:sp>
        <p:nvSpPr>
          <p:cNvPr id="41" name="metric-sub">
            <a:extLst xmlns:a="http://schemas.openxmlformats.org/drawingml/2006/main">
              <a:ext uri="{FF2B5EF4-FFF2-40B4-BE49-F238E27FC236}">
                <a16:creationId xmlns:a16="http://schemas.microsoft.com/office/drawing/2014/main" id="{B09911F3-1529-4938-BED6-0937AD11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1.8 m/s ÷ 42.24 µm/px</a:t>
            </a:r>
          </a:p>
        </p:txBody>
      </p:sp>
      <p:sp>
        <p:nvSpPr>
          <p:cNvPr id="42" name="metric">
            <a:extLst xmlns:a="http://schemas.openxmlformats.org/drawingml/2006/main">
              <a:ext uri="{FF2B5EF4-FFF2-40B4-BE49-F238E27FC236}">
                <a16:creationId xmlns:a16="http://schemas.microsoft.com/office/drawing/2014/main" id="{3075A22C-866B-45DB-92B9-9D7E53FC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1F3B1870-5CE1-40E4-A83B-920683A1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5A44C82-2926-4096-A944-AE98A91C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OPTICS</a:t>
            </a:r>
          </a:p>
        </p:txBody>
      </p:sp>
      <p:sp>
        <p:nvSpPr>
          <p:cNvPr id="45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3AB16A7A-D169-416A-BCAE-3B7D87D2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M = 0.17</a:t>
            </a:r>
          </a:p>
        </p:txBody>
      </p:sp>
      <p:sp>
        <p:nvSpPr>
          <p:cNvPr id="46" name="metric-sub">
            <a:extLst xmlns:a="http://schemas.openxmlformats.org/drawingml/2006/main">
              <a:ext uri="{FF2B5EF4-FFF2-40B4-BE49-F238E27FC236}">
                <a16:creationId xmlns:a16="http://schemas.microsoft.com/office/drawing/2014/main" id="{7AE45FC3-FD72-4ADF-90CD-F3EA1F71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2 × 8K line-scan</a:t>
            </a:r>
          </a:p>
        </p:txBody>
      </p:sp>
      <p:sp>
        <p:nvSpPr>
          <p:cNvPr id="47" name="metric">
            <a:extLst xmlns:a="http://schemas.openxmlformats.org/drawingml/2006/main">
              <a:ext uri="{FF2B5EF4-FFF2-40B4-BE49-F238E27FC236}">
                <a16:creationId xmlns:a16="http://schemas.microsoft.com/office/drawing/2014/main" id="{788CE6F0-2C11-4C24-9D6B-4A53E04B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23526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6D97476C-C608-428C-A150-2992E6FD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623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F1BB4E5-A7C7-4ECE-AD20-478DCF05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33825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MOTION BLUR</a:t>
            </a:r>
          </a:p>
        </p:txBody>
      </p:sp>
      <p:sp>
        <p:nvSpPr>
          <p:cNvPr id="5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59D7511-92AA-4D6C-96A3-58CE7256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71950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≤ 0.40 px</a:t>
            </a:r>
          </a:p>
        </p:txBody>
      </p:sp>
      <p:sp>
        <p:nvSpPr>
          <p:cNvPr id="51" name="metric-sub">
            <a:extLst xmlns:a="http://schemas.openxmlformats.org/drawingml/2006/main">
              <a:ext uri="{FF2B5EF4-FFF2-40B4-BE49-F238E27FC236}">
                <a16:creationId xmlns:a16="http://schemas.microsoft.com/office/drawing/2014/main" id="{CFC4003D-2DAF-4A14-8534-94906F95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2915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exposure design limit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019B7116-5202-43AE-8454-119B1A24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318"/>
                </a:solidFill>
              </a:defRPr>
            </a:pPr>
            <a:r>
              <a:rPr sz="1500" b="1">
                <a:solidFill>
                  <a:srgbClr val="111318"/>
                </a:solidFill>
              </a:rPr>
              <a:t>RGB detection is validated; thermal, 3D and closed-loop control remain pilot gates.</a:t>
            </a:r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1ED6C37F-B2BA-4891-B383-8C2BAFAE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ource">
            <a:extLst xmlns:a="http://schemas.openxmlformats.org/drawingml/2006/main">
              <a:ext uri="{FF2B5EF4-FFF2-40B4-BE49-F238E27FC236}">
                <a16:creationId xmlns:a16="http://schemas.microsoft.com/office/drawing/2014/main" id="{DBEB7AE7-B931-4C81-B68B-F81352FE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Design budget: 50 mm lens, 350 mm WD, 7.04 µm sensor pixels, 650 mm web.</a:t>
            </a:r>
          </a:p>
        </p:txBody>
      </p:sp>
      <p:sp>
        <p:nvSpPr>
          <p:cNvPr id="55" name="page">
            <a:extLst xmlns:a="http://schemas.openxmlformats.org/drawingml/2006/main">
              <a:ext uri="{FF2B5EF4-FFF2-40B4-BE49-F238E27FC236}">
                <a16:creationId xmlns:a16="http://schemas.microsoft.com/office/drawing/2014/main" id="{5C596144-D490-4E1F-9E80-FA83DE48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3</a:t>
            </a:r>
          </a:p>
        </p:txBody>
      </p:sp>
    </p:spTree>
    <p:extLst>
      <p:ext uri="{BB962C8B-B14F-4D97-AF65-F5344CB8AC3E}">
        <p14:creationId xmlns:p14="http://schemas.microsoft.com/office/powerpoint/2010/main" val="42867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83D68CEE-4284-4B9A-8BF5-A5977D31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04  |  2:00–2:45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481F25-3095-4204-8515-52E8BFC8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Fusion is anchored to material coordinates, not arrival time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4202A10A-A3D4-4699-8ECA-1D87B532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多模态融合：锚定材料坐标，而非到达时间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6294408C-8B48-43F8-B9D6-8CD4C0EE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node">
            <a:extLst xmlns:a="http://schemas.openxmlformats.org/drawingml/2006/main">
              <a:ext uri="{FF2B5EF4-FFF2-40B4-BE49-F238E27FC236}">
                <a16:creationId xmlns:a16="http://schemas.microsoft.com/office/drawing/2014/main" id="{6733B903-4407-4377-8B7E-4A84B829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node-head">
            <a:extLst xmlns:a="http://schemas.openxmlformats.org/drawingml/2006/main">
              <a:ext uri="{FF2B5EF4-FFF2-40B4-BE49-F238E27FC236}">
                <a16:creationId xmlns:a16="http://schemas.microsoft.com/office/drawing/2014/main" id="{2279C996-07B4-4D43-BAD8-B958FA68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FrameContext</a:t>
            </a:r>
          </a:p>
        </p:txBody>
      </p:sp>
      <p:sp>
        <p:nvSpPr>
          <p:cNvPr id="7" name="node-body">
            <a:extLst xmlns:a="http://schemas.openxmlformats.org/drawingml/2006/main">
              <a:ext uri="{FF2B5EF4-FFF2-40B4-BE49-F238E27FC236}">
                <a16:creationId xmlns:a16="http://schemas.microsoft.com/office/drawing/2014/main" id="{3497FF8A-04D4-4ED9-8ACF-FC4C3D50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roll ID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encoder pulse at capture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monotonic timestamp</a:t>
            </a:r>
          </a:p>
        </p:txBody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D4EFBCB3-89E6-4930-81BE-C283112D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1857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node-head">
            <a:extLst xmlns:a="http://schemas.openxmlformats.org/drawingml/2006/main">
              <a:ext uri="{FF2B5EF4-FFF2-40B4-BE49-F238E27FC236}">
                <a16:creationId xmlns:a16="http://schemas.microsoft.com/office/drawing/2014/main" id="{C8CC2990-1810-42A9-ADAE-B0C9E81A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1932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RGB</a:t>
            </a:r>
          </a:p>
        </p:txBody>
      </p:sp>
      <p:sp>
        <p:nvSpPr>
          <p:cNvPr id="10" name="node-body">
            <a:extLst xmlns:a="http://schemas.openxmlformats.org/drawingml/2006/main">
              <a:ext uri="{FF2B5EF4-FFF2-40B4-BE49-F238E27FC236}">
                <a16:creationId xmlns:a16="http://schemas.microsoft.com/office/drawing/2014/main" id="{413DEDFF-D27B-4A6E-9FA8-58629177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6697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surface texture</a:t>
            </a:r>
          </a:p>
        </p:txBody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D949189C-B31E-4D54-B499-1FF8523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9900"/>
            <a:ext cx="1857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de-head">
            <a:extLst xmlns:a="http://schemas.openxmlformats.org/drawingml/2006/main">
              <a:ext uri="{FF2B5EF4-FFF2-40B4-BE49-F238E27FC236}">
                <a16:creationId xmlns:a16="http://schemas.microsoft.com/office/drawing/2014/main" id="{7D5510EC-5DF7-4138-BD03-475F7E9B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3372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Traveling-wave thermal</a:t>
            </a:r>
          </a:p>
        </p:txBody>
      </p:sp>
      <p:sp>
        <p:nvSpPr>
          <p:cNvPr id="13" name="node-body">
            <a:extLst xmlns:a="http://schemas.openxmlformats.org/drawingml/2006/main">
              <a:ext uri="{FF2B5EF4-FFF2-40B4-BE49-F238E27FC236}">
                <a16:creationId xmlns:a16="http://schemas.microsoft.com/office/drawing/2014/main" id="{F678C42B-A43F-4B7E-8666-73E5B430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8137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phase / subsurface response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B4643E73-CD90-46B9-9C9F-3AF4E8E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24300"/>
            <a:ext cx="1857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ode-head">
            <a:extLst xmlns:a="http://schemas.openxmlformats.org/drawingml/2006/main">
              <a:ext uri="{FF2B5EF4-FFF2-40B4-BE49-F238E27FC236}">
                <a16:creationId xmlns:a16="http://schemas.microsoft.com/office/drawing/2014/main" id="{7284B682-EB31-4DB5-9656-796EEFBE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4812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Laser 3D</a:t>
            </a:r>
          </a:p>
        </p:txBody>
      </p:sp>
      <p:sp>
        <p:nvSpPr>
          <p:cNvPr id="16" name="node-body">
            <a:extLst xmlns:a="http://schemas.openxmlformats.org/drawingml/2006/main">
              <a:ext uri="{FF2B5EF4-FFF2-40B4-BE49-F238E27FC236}">
                <a16:creationId xmlns:a16="http://schemas.microsoft.com/office/drawing/2014/main" id="{66B44623-119C-4E48-B37D-EF72F8AB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95775"/>
            <a:ext cx="1590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height / topology</a:t>
            </a:r>
          </a:p>
        </p:txBody>
      </p:sp>
      <p:sp>
        <p:nvSpPr>
          <p:cNvPr id="17" name="node">
            <a:extLst xmlns:a="http://schemas.openxmlformats.org/drawingml/2006/main">
              <a:ext uri="{FF2B5EF4-FFF2-40B4-BE49-F238E27FC236}">
                <a16:creationId xmlns:a16="http://schemas.microsoft.com/office/drawing/2014/main" id="{D7FCB003-E8D5-4CBC-8F0E-7BEE7632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24150"/>
            <a:ext cx="18573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node-head">
            <a:extLst xmlns:a="http://schemas.openxmlformats.org/drawingml/2006/main">
              <a:ext uri="{FF2B5EF4-FFF2-40B4-BE49-F238E27FC236}">
                <a16:creationId xmlns:a16="http://schemas.microsoft.com/office/drawing/2014/main" id="{27B584B3-E87B-41BD-8D39-21AF1577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847975"/>
            <a:ext cx="1590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5-layer tensor</a:t>
            </a:r>
          </a:p>
        </p:txBody>
      </p:sp>
      <p:sp>
        <p:nvSpPr>
          <p:cNvPr id="19" name="node-body">
            <a:extLst xmlns:a="http://schemas.openxmlformats.org/drawingml/2006/main">
              <a:ext uri="{FF2B5EF4-FFF2-40B4-BE49-F238E27FC236}">
                <a16:creationId xmlns:a16="http://schemas.microsoft.com/office/drawing/2014/main" id="{10C1D336-3435-4117-8ECA-D3ED4271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095625"/>
            <a:ext cx="1590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[R, G, B, ΔT/phase, Z]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spatial warp + quality flags</a:t>
            </a:r>
          </a:p>
        </p:txBody>
      </p:sp>
      <p:sp>
        <p:nvSpPr>
          <p:cNvPr id="20" name="node">
            <a:extLst xmlns:a="http://schemas.openxmlformats.org/drawingml/2006/main">
              <a:ext uri="{FF2B5EF4-FFF2-40B4-BE49-F238E27FC236}">
                <a16:creationId xmlns:a16="http://schemas.microsoft.com/office/drawing/2014/main" id="{170380CB-BA0B-4E9B-ABCD-A737F15A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241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node-head">
            <a:extLst xmlns:a="http://schemas.openxmlformats.org/drawingml/2006/main">
              <a:ext uri="{FF2B5EF4-FFF2-40B4-BE49-F238E27FC236}">
                <a16:creationId xmlns:a16="http://schemas.microsoft.com/office/drawing/2014/main" id="{EA8F7A11-80FA-40F7-B72B-6E6355BB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479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Decision event</a:t>
            </a:r>
          </a:p>
        </p:txBody>
      </p:sp>
      <p:sp>
        <p:nvSpPr>
          <p:cNvPr id="22" name="node-body">
            <a:extLst xmlns:a="http://schemas.openxmlformats.org/drawingml/2006/main">
              <a:ext uri="{FF2B5EF4-FFF2-40B4-BE49-F238E27FC236}">
                <a16:creationId xmlns:a16="http://schemas.microsoft.com/office/drawing/2014/main" id="{825CD24E-77FB-4720-BF1D-23F7B475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95625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X_m · Y_mm · lane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confidence · disposition</a:t>
            </a:r>
          </a:p>
        </p:txBody>
      </p:sp>
      <p:cxnSp>
        <p:nvCxnSpPr>
          <p:cNvPr id="201" name="Straight Arrow Connector 55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686050" y="2447925"/>
            <a:ext cx="93345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202" name="Straight Arrow Connector 56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86050" y="2867025"/>
            <a:ext cx="93345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203" name="Straight Arrow Connector 57"/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686050" y="2867025"/>
            <a:ext cx="933450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204" name="Straight Arrow Connector 58"/>
          <p:cNvCxnSpPr>
            <a:stCxn xmlns:a="http://schemas.openxmlformats.org/drawingml/2006/main" id="8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476875" y="2447925"/>
            <a:ext cx="1143000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205" name="Straight Arrow Connector 59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476875" y="3324225"/>
            <a:ext cx="11430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206" name="Straight Arrow Connector 60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5476875" y="3324225"/>
            <a:ext cx="114300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207" name="Straight Arrow Connector 61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477250" y="3324225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A3424C7-6E7D-4C53-80A4-24BB8015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FrameContext preserves the web position at photon capture; downstream latency cannot shift the defect coordinate.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B6628FB7-EC2D-438D-A47C-3B19DE8B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ource">
            <a:extLst xmlns:a="http://schemas.openxmlformats.org/drawingml/2006/main">
              <a:ext uri="{FF2B5EF4-FFF2-40B4-BE49-F238E27FC236}">
                <a16:creationId xmlns:a16="http://schemas.microsoft.com/office/drawing/2014/main" id="{4776CD9E-C726-4FDE-A39C-70CFA621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Temporal anchoring is implemented in the prototype; real sensor streams remain a pilot integration gate.</a:t>
            </a:r>
          </a:p>
        </p:txBody>
      </p:sp>
      <p:sp>
        <p:nvSpPr>
          <p:cNvPr id="33" name="page">
            <a:extLst xmlns:a="http://schemas.openxmlformats.org/drawingml/2006/main">
              <a:ext uri="{FF2B5EF4-FFF2-40B4-BE49-F238E27FC236}">
                <a16:creationId xmlns:a16="http://schemas.microsoft.com/office/drawing/2014/main" id="{EF097105-40A6-4121-B1B6-FE922FBB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4</a:t>
            </a:r>
          </a:p>
        </p:txBody>
      </p:sp>
    </p:spTree>
    <p:extLst>
      <p:ext uri="{BB962C8B-B14F-4D97-AF65-F5344CB8AC3E}">
        <p14:creationId xmlns:p14="http://schemas.microsoft.com/office/powerpoint/2010/main" val="1413827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D2889611-AAF6-4A5E-8E05-1785A41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05  |  2:45–3:35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DD4616-151B-44A2-9BF4-DD136834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A detection becomes a measurement only after calibration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1684E8D0-2E59-4D3A-BFFC-6656F3B7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从分割掩膜到带防护带的测量记录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5D7619A4-A820-4625-A538-B568375D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028C5AA7-395B-489F-9F97-B236809A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F6FC32A-6736-4FEA-9435-BA77071D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1  Geometry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AE5A5C1-52B5-475F-A8E8-07B098CA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193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minAreaRect · web angle · area</a:t>
            </a:r>
          </a:p>
        </p:txBody>
      </p:sp>
      <p:sp>
        <p:nvSpPr>
          <p:cNvPr id="8" name="rect">
            <a:extLst xmlns:a="http://schemas.openxmlformats.org/drawingml/2006/main">
              <a:ext uri="{FF2B5EF4-FFF2-40B4-BE49-F238E27FC236}">
                <a16:creationId xmlns:a16="http://schemas.microsoft.com/office/drawing/2014/main" id="{5AC120C3-5478-4E3C-8A6C-CCADA018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0DD05C8-8D38-40E7-AAB4-4B67AA16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2  Topography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BD2964F-9AE6-4F98-AB6E-420D4D5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8289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plane leveling · Ra · volume</a:t>
            </a:r>
          </a:p>
        </p:txBody>
      </p:sp>
      <p:sp>
        <p:nvSpPr>
          <p:cNvPr id="11" name="rect">
            <a:extLst xmlns:a="http://schemas.openxmlformats.org/drawingml/2006/main">
              <a:ext uri="{FF2B5EF4-FFF2-40B4-BE49-F238E27FC236}">
                <a16:creationId xmlns:a16="http://schemas.microsoft.com/office/drawing/2014/main" id="{623121E2-7BB5-44FB-8C35-8F8A925E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3DA69A3-BF09-430B-BDD6-3F9EAE4C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385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3  Risk index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E1D86D2-D72B-409C-AB99-05857FBD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4385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separator-aware empirical score</a:t>
            </a:r>
          </a:p>
        </p:txBody>
      </p:sp>
      <p:sp>
        <p:nvSpPr>
          <p:cNvPr id="14" name="rect">
            <a:extLst xmlns:a="http://schemas.openxmlformats.org/drawingml/2006/main">
              <a:ext uri="{FF2B5EF4-FFF2-40B4-BE49-F238E27FC236}">
                <a16:creationId xmlns:a16="http://schemas.microsoft.com/office/drawing/2014/main" id="{68CED802-F7A5-40F9-BC58-5098C965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72E358C-2007-4EB0-82E7-1355131D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4  Guard band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D0F4F9D-F02B-475D-BD91-4B4DA8AC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0481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limit − expanded uncertainty U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8A00211D-8541-43E6-9D82-659C5002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7286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7F7E19A-C772-4DDE-9740-9E3F4B4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1562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5  Traceability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C557096-CC9A-44C7-AA1F-75906419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657725"/>
            <a:ext cx="5048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11318"/>
                </a:solidFill>
              </a:defRPr>
            </a:pPr>
            <a:r>
              <a:rPr sz="1200" b="0">
                <a:solidFill>
                  <a:srgbClr val="111318"/>
                </a:solidFill>
              </a:rPr>
              <a:t>plant SOP / customer spec mapping</a:t>
            </a:r>
          </a:p>
        </p:txBody>
      </p:sp>
      <p:sp>
        <p:nvSpPr>
          <p:cNvPr id="20" name="metric">
            <a:extLst xmlns:a="http://schemas.openxmlformats.org/drawingml/2006/main">
              <a:ext uri="{FF2B5EF4-FFF2-40B4-BE49-F238E27FC236}">
                <a16:creationId xmlns:a16="http://schemas.microsoft.com/office/drawing/2014/main" id="{42D22079-EEEF-42E8-A464-937E7ED7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43125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9AC2095-280B-44EC-B32D-03352840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1431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BAE0C4E-ECF1-477B-B5C2-617146E8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1457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UNCERTAINTY</a:t>
            </a:r>
          </a:p>
        </p:txBody>
      </p:sp>
      <p:sp>
        <p:nvSpPr>
          <p:cNvPr id="2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E96F0476-1429-47A5-90ED-50FC5FCB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5270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GUM k = 2</a:t>
            </a:r>
          </a:p>
        </p:txBody>
      </p:sp>
      <p:sp>
        <p:nvSpPr>
          <p:cNvPr id="24" name="metric-sub">
            <a:extLst xmlns:a="http://schemas.openxmlformats.org/drawingml/2006/main">
              <a:ext uri="{FF2B5EF4-FFF2-40B4-BE49-F238E27FC236}">
                <a16:creationId xmlns:a16="http://schemas.microsoft.com/office/drawing/2014/main" id="{F831E0F5-94C7-487D-BEBD-9FB87EBD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0099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expanded uncertainty; 95% coverage</a:t>
            </a:r>
          </a:p>
        </p:txBody>
      </p:sp>
      <p:sp>
        <p:nvSpPr>
          <p:cNvPr id="25" name="metric">
            <a:extLst xmlns:a="http://schemas.openxmlformats.org/drawingml/2006/main">
              <a:ext uri="{FF2B5EF4-FFF2-40B4-BE49-F238E27FC236}">
                <a16:creationId xmlns:a16="http://schemas.microsoft.com/office/drawing/2014/main" id="{B0DACE1A-A596-4FF0-A47B-7F3975BD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543300"/>
            <a:ext cx="2381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3083B468-47BF-408E-8FA4-B6401F1C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543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F19E590-AB80-4C68-9230-1BC504B2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1475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DECISION RULE</a:t>
            </a:r>
          </a:p>
        </p:txBody>
      </p:sp>
      <p:sp>
        <p:nvSpPr>
          <p:cNvPr id="2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BB4E4F0-215B-4E51-80F2-0490899B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52875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Limit − U</a:t>
            </a:r>
          </a:p>
        </p:txBody>
      </p:sp>
      <p:sp>
        <p:nvSpPr>
          <p:cNvPr id="29" name="metric-sub">
            <a:extLst xmlns:a="http://schemas.openxmlformats.org/drawingml/2006/main">
              <a:ext uri="{FF2B5EF4-FFF2-40B4-BE49-F238E27FC236}">
                <a16:creationId xmlns:a16="http://schemas.microsoft.com/office/drawing/2014/main" id="{440ABCC0-D4AC-426D-8308-88511DFA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41007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guard band before A/B/C grade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5A1570E6-7F61-4879-BA1E-3017685C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43D3D"/>
                </a:solidFill>
              </a:defRPr>
            </a:pPr>
            <a:r>
              <a:rPr sz="1125" b="1">
                <a:solidFill>
                  <a:srgbClr val="C43D3D"/>
                </a:solidFill>
              </a:rPr>
              <a:t>Standards correction: T/CIAPS 0006 and QC/T 743 are not valid coating-metrology compliance claims.</a:t>
            </a:r>
          </a:p>
        </p:txBody>
      </p:sp>
      <p:sp>
        <p:nvSpPr>
          <p:cNvPr id="31" name="Straight Connector 30">
            <a:extLst xmlns:a="http://schemas.openxmlformats.org/drawingml/2006/main">
              <a:ext uri="{FF2B5EF4-FFF2-40B4-BE49-F238E27FC236}">
                <a16:creationId xmlns:a16="http://schemas.microsoft.com/office/drawing/2014/main" id="{30F1D338-9142-4479-95D0-565AE15D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ource">
            <a:extLst xmlns:a="http://schemas.openxmlformats.org/drawingml/2006/main">
              <a:ext uri="{FF2B5EF4-FFF2-40B4-BE49-F238E27FC236}">
                <a16:creationId xmlns:a16="http://schemas.microsoft.com/office/drawing/2014/main" id="{DC5CD426-9A1B-4362-B504-DAB726E3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A = A_px · s²   |   U = 2√Σuᵢ²   |   accept only if q ≤ L − U</a:t>
            </a:r>
          </a:p>
        </p:txBody>
      </p:sp>
      <p:sp>
        <p:nvSpPr>
          <p:cNvPr id="33" name="page">
            <a:extLst xmlns:a="http://schemas.openxmlformats.org/drawingml/2006/main">
              <a:ext uri="{FF2B5EF4-FFF2-40B4-BE49-F238E27FC236}">
                <a16:creationId xmlns:a16="http://schemas.microsoft.com/office/drawing/2014/main" id="{2CFE79CA-6D88-4A52-855A-00EF37F1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5</a:t>
            </a:r>
          </a:p>
        </p:txBody>
      </p:sp>
    </p:spTree>
    <p:extLst>
      <p:ext uri="{BB962C8B-B14F-4D97-AF65-F5344CB8AC3E}">
        <p14:creationId xmlns:p14="http://schemas.microsoft.com/office/powerpoint/2010/main" val="1235806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eyebrow">
            <a:extLst xmlns:a="http://schemas.openxmlformats.org/drawingml/2006/main">
              <a:ext uri="{FF2B5EF4-FFF2-40B4-BE49-F238E27FC236}">
                <a16:creationId xmlns:a16="http://schemas.microsoft.com/office/drawing/2014/main" id="{EE7DB145-B9D2-476D-A209-34DC13A0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06  |  3:35–4:20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094AAA8-F5AB-4B91-AAED-8B43FA5A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Latency is a full physical chain — and currently a design model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238CA4B9-D443-4B0C-A098-0E720EFF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时延是完整物理链路——当前为设计模型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480248AC-D469-47BF-9557-7B95CAC2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0D3DD63F-2093-49C7-943D-75514BA5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657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901F8A-5D1E-46F9-92B7-2A8CDD96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Tile formation</a:t>
            </a:r>
          </a:p>
        </p:txBody>
      </p:sp>
      <p:sp>
        <p:nvSpPr>
          <p:cNvPr id="7" name="lt">
            <a:extLst xmlns:a="http://schemas.openxmlformats.org/drawingml/2006/main">
              <a:ext uri="{FF2B5EF4-FFF2-40B4-BE49-F238E27FC236}">
                <a16:creationId xmlns:a16="http://schemas.microsoft.com/office/drawing/2014/main" id="{02CC50AB-DC74-41E1-9CFB-18A7C09D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12.1 ms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5E915B-12DE-4ED5-BE26-091F9D6E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04982FB2-4BDB-415B-A523-1D4C5178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891DCD5-99E7-4068-9306-81022FC4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DMA</a:t>
            </a:r>
          </a:p>
        </p:txBody>
      </p:sp>
      <p:sp>
        <p:nvSpPr>
          <p:cNvPr id="11" name="lt">
            <a:extLst xmlns:a="http://schemas.openxmlformats.org/drawingml/2006/main">
              <a:ext uri="{FF2B5EF4-FFF2-40B4-BE49-F238E27FC236}">
                <a16:creationId xmlns:a16="http://schemas.microsoft.com/office/drawing/2014/main" id="{FF7065D5-ACA4-4F4B-877E-E60EE75B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1.2 ms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2E7737F-8D0A-477F-B93B-75B18028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C0DC4C03-BE3F-47B0-9EEF-2EEB945C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92C7C9F-23C5-4975-94FB-5133E506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Fusion</a:t>
            </a:r>
          </a:p>
        </p:txBody>
      </p:sp>
      <p:sp>
        <p:nvSpPr>
          <p:cNvPr id="15" name="lt">
            <a:extLst xmlns:a="http://schemas.openxmlformats.org/drawingml/2006/main">
              <a:ext uri="{FF2B5EF4-FFF2-40B4-BE49-F238E27FC236}">
                <a16:creationId xmlns:a16="http://schemas.microsoft.com/office/drawing/2014/main" id="{E7AFB9A1-E84F-46C5-A5FF-F4A97A8B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1.8 ms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078579-7B77-48DD-97C6-0E2900E0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6B0E2309-82B2-44A3-9D79-2D146C73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138DB36-46FB-4DA3-BEBD-9074E1D6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AI</a:t>
            </a:r>
          </a:p>
        </p:txBody>
      </p:sp>
      <p:sp>
        <p:nvSpPr>
          <p:cNvPr id="19" name="lt">
            <a:extLst xmlns:a="http://schemas.openxmlformats.org/drawingml/2006/main">
              <a:ext uri="{FF2B5EF4-FFF2-40B4-BE49-F238E27FC236}">
                <a16:creationId xmlns:a16="http://schemas.microsoft.com/office/drawing/2014/main" id="{FE72E0B4-A503-408F-B023-D307065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8.7 ms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2694E4B-2070-4BE4-B874-FC4C2E5F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21" name="rect">
            <a:extLst xmlns:a="http://schemas.openxmlformats.org/drawingml/2006/main">
              <a:ext uri="{FF2B5EF4-FFF2-40B4-BE49-F238E27FC236}">
                <a16:creationId xmlns:a16="http://schemas.microsoft.com/office/drawing/2014/main" id="{8BC921D3-C5F2-4180-B5C2-356705D6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9B50579-0F1D-47F3-9E09-40B73099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Metrology</a:t>
            </a:r>
          </a:p>
        </p:txBody>
      </p:sp>
      <p:sp>
        <p:nvSpPr>
          <p:cNvPr id="23" name="lt">
            <a:extLst xmlns:a="http://schemas.openxmlformats.org/drawingml/2006/main">
              <a:ext uri="{FF2B5EF4-FFF2-40B4-BE49-F238E27FC236}">
                <a16:creationId xmlns:a16="http://schemas.microsoft.com/office/drawing/2014/main" id="{131B521E-DE8A-45D0-A54C-F67E7C24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1.5 ms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B9EB0A2-C8D7-46B7-A7FE-C7776504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25" name="rect">
            <a:extLst xmlns:a="http://schemas.openxmlformats.org/drawingml/2006/main">
              <a:ext uri="{FF2B5EF4-FFF2-40B4-BE49-F238E27FC236}">
                <a16:creationId xmlns:a16="http://schemas.microsoft.com/office/drawing/2014/main" id="{DA8BF7EF-72D9-4310-9789-3B16517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66693E9-B4CF-4A9B-96B8-4F087425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Network</a:t>
            </a:r>
          </a:p>
        </p:txBody>
      </p:sp>
      <p:sp>
        <p:nvSpPr>
          <p:cNvPr id="27" name="lt">
            <a:extLst xmlns:a="http://schemas.openxmlformats.org/drawingml/2006/main">
              <a:ext uri="{FF2B5EF4-FFF2-40B4-BE49-F238E27FC236}">
                <a16:creationId xmlns:a16="http://schemas.microsoft.com/office/drawing/2014/main" id="{C27CCC4A-0756-442C-958B-8686C167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0.8 ms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328F02B7-44EF-4EA9-9DE7-BC2E2F6F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29" name="rect">
            <a:extLst xmlns:a="http://schemas.openxmlformats.org/drawingml/2006/main">
              <a:ext uri="{FF2B5EF4-FFF2-40B4-BE49-F238E27FC236}">
                <a16:creationId xmlns:a16="http://schemas.microsoft.com/office/drawing/2014/main" id="{6997E9A6-6807-4AD2-9700-148E8D66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80FFCA0-94C3-41C2-B586-F9F6572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PLC</a:t>
            </a:r>
          </a:p>
        </p:txBody>
      </p:sp>
      <p:sp>
        <p:nvSpPr>
          <p:cNvPr id="31" name="lt">
            <a:extLst xmlns:a="http://schemas.openxmlformats.org/drawingml/2006/main">
              <a:ext uri="{FF2B5EF4-FFF2-40B4-BE49-F238E27FC236}">
                <a16:creationId xmlns:a16="http://schemas.microsoft.com/office/drawing/2014/main" id="{628D6416-8D1D-4764-8A36-86518BE6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2.0 ms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9FABA67-D2A7-462B-9FB9-3C1F6462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62250"/>
            <a:ext cx="13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0"/>
                </a:solidFill>
              </a:defRPr>
            </a:pPr>
            <a:r>
              <a:rPr sz="1275" b="1">
                <a:solidFill>
                  <a:srgbClr val="5F6670"/>
                </a:solidFill>
              </a:rPr>
              <a:t>+</a:t>
            </a:r>
          </a:p>
        </p:txBody>
      </p:sp>
      <p:sp>
        <p:nvSpPr>
          <p:cNvPr id="33" name="rect">
            <a:extLst xmlns:a="http://schemas.openxmlformats.org/drawingml/2006/main">
              <a:ext uri="{FF2B5EF4-FFF2-40B4-BE49-F238E27FC236}">
                <a16:creationId xmlns:a16="http://schemas.microsoft.com/office/drawing/2014/main" id="{EC07301D-DC8B-4CAA-AB8E-D5FE271F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33625"/>
            <a:ext cx="11239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78C4BC2D-A2AB-4857-A93A-7C9BE539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5336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11318"/>
                </a:solidFill>
              </a:defRPr>
            </a:pPr>
            <a:r>
              <a:rPr sz="1050" b="1">
                <a:solidFill>
                  <a:srgbClr val="111318"/>
                </a:solidFill>
              </a:rPr>
              <a:t>Valve + air</a:t>
            </a:r>
          </a:p>
        </p:txBody>
      </p:sp>
      <p:sp>
        <p:nvSpPr>
          <p:cNvPr id="35" name="lt">
            <a:extLst xmlns:a="http://schemas.openxmlformats.org/drawingml/2006/main">
              <a:ext uri="{FF2B5EF4-FFF2-40B4-BE49-F238E27FC236}">
                <a16:creationId xmlns:a16="http://schemas.microsoft.com/office/drawing/2014/main" id="{3057ED66-EE5C-4AC1-BC84-ACE91856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099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318"/>
                </a:solidFill>
              </a:defRPr>
            </a:pPr>
            <a:r>
              <a:rPr sz="1425" b="1">
                <a:solidFill>
                  <a:srgbClr val="111318"/>
                </a:solidFill>
              </a:rPr>
              <a:t>4.5 ms</a:t>
            </a:r>
          </a:p>
        </p:txBody>
      </p:sp>
      <p:sp>
        <p:nvSpPr>
          <p:cNvPr id="36" name="metric">
            <a:extLst xmlns:a="http://schemas.openxmlformats.org/drawingml/2006/main">
              <a:ext uri="{FF2B5EF4-FFF2-40B4-BE49-F238E27FC236}">
                <a16:creationId xmlns:a16="http://schemas.microsoft.com/office/drawing/2014/main" id="{AF722E2D-7C47-4C2B-B7DC-A0994613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FE61156C-D6AF-44B1-9BC0-1FDB6C76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B8312C11-F23B-458A-BA49-735638B6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P50 DESIGN MODEL</a:t>
            </a:r>
          </a:p>
        </p:txBody>
      </p:sp>
      <p:sp>
        <p:nvSpPr>
          <p:cNvPr id="3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6C62F41-F409-4A78-BA66-14D2DF5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32.9 ms</a:t>
            </a:r>
          </a:p>
        </p:txBody>
      </p:sp>
      <p:sp>
        <p:nvSpPr>
          <p:cNvPr id="40" name="metric-sub">
            <a:extLst xmlns:a="http://schemas.openxmlformats.org/drawingml/2006/main">
              <a:ext uri="{FF2B5EF4-FFF2-40B4-BE49-F238E27FC236}">
                <a16:creationId xmlns:a16="http://schemas.microsoft.com/office/drawing/2014/main" id="{FC529C04-0708-4C86-81CB-F5FEF77E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not a hardware measurement</a:t>
            </a:r>
          </a:p>
        </p:txBody>
      </p:sp>
      <p:sp>
        <p:nvSpPr>
          <p:cNvPr id="41" name="metric">
            <a:extLst xmlns:a="http://schemas.openxmlformats.org/drawingml/2006/main">
              <a:ext uri="{FF2B5EF4-FFF2-40B4-BE49-F238E27FC236}">
                <a16:creationId xmlns:a16="http://schemas.microsoft.com/office/drawing/2014/main" id="{25490935-AA9D-4F3C-A7F9-7D22A314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9EB50C9-9616-4C35-A15F-FEDFCC2A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FF94292-CF72-4583-A8BE-091E93A5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P99.9 MODEL</a:t>
            </a:r>
          </a:p>
        </p:txBody>
      </p:sp>
      <p:sp>
        <p:nvSpPr>
          <p:cNvPr id="4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A758DF52-9224-4857-AE03-9B9297E1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35.9 ms</a:t>
            </a:r>
          </a:p>
        </p:txBody>
      </p:sp>
      <p:sp>
        <p:nvSpPr>
          <p:cNvPr id="45" name="metric-sub">
            <a:extLst xmlns:a="http://schemas.openxmlformats.org/drawingml/2006/main">
              <a:ext uri="{FF2B5EF4-FFF2-40B4-BE49-F238E27FC236}">
                <a16:creationId xmlns:a16="http://schemas.microsoft.com/office/drawing/2014/main" id="{E3DDEA0F-2963-43EF-A663-463EBFF7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Monte Carlo output</a:t>
            </a:r>
          </a:p>
        </p:txBody>
      </p:sp>
      <p:sp>
        <p:nvSpPr>
          <p:cNvPr id="46" name="metric">
            <a:extLst xmlns:a="http://schemas.openxmlformats.org/drawingml/2006/main">
              <a:ext uri="{FF2B5EF4-FFF2-40B4-BE49-F238E27FC236}">
                <a16:creationId xmlns:a16="http://schemas.microsoft.com/office/drawing/2014/main" id="{515A314F-654F-4DC8-84B3-94D9DFA4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86BDB1D1-0617-46C3-9E40-598B845B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EA323D6-7FAF-4924-96F4-933B4782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DESIGN W/ GUARD</a:t>
            </a:r>
          </a:p>
        </p:txBody>
      </p:sp>
      <p:sp>
        <p:nvSpPr>
          <p:cNvPr id="4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C5A9B57-2F35-4CA9-AAA1-E338D5B3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38.9 ms</a:t>
            </a:r>
          </a:p>
        </p:txBody>
      </p:sp>
      <p:sp>
        <p:nvSpPr>
          <p:cNvPr id="50" name="metric-sub">
            <a:extLst xmlns:a="http://schemas.openxmlformats.org/drawingml/2006/main">
              <a:ext uri="{FF2B5EF4-FFF2-40B4-BE49-F238E27FC236}">
                <a16:creationId xmlns:a16="http://schemas.microsoft.com/office/drawing/2014/main" id="{2E9D525F-5556-4D40-BFF3-C973E450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P99.9 + 3.0 ms</a:t>
            </a:r>
          </a:p>
        </p:txBody>
      </p:sp>
      <p:sp>
        <p:nvSpPr>
          <p:cNvPr id="51" name="metric">
            <a:extLst xmlns:a="http://schemas.openxmlformats.org/drawingml/2006/main">
              <a:ext uri="{FF2B5EF4-FFF2-40B4-BE49-F238E27FC236}">
                <a16:creationId xmlns:a16="http://schemas.microsoft.com/office/drawing/2014/main" id="{B31C6EEC-142B-4F6D-9D0E-528C715C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24003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5D30885C-5C45-448C-A6D1-976839CB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7F4AE10D-2E51-4D28-946B-434DB32F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672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500 mm BUFFER</a:t>
            </a:r>
          </a:p>
        </p:txBody>
      </p:sp>
      <p:sp>
        <p:nvSpPr>
          <p:cNvPr id="54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79F02C1B-447C-4AB9-864B-366C597C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5053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7.1×</a:t>
            </a:r>
          </a:p>
        </p:txBody>
      </p:sp>
      <p:sp>
        <p:nvSpPr>
          <p:cNvPr id="55" name="metric-sub">
            <a:extLst xmlns:a="http://schemas.openxmlformats.org/drawingml/2006/main">
              <a:ext uri="{FF2B5EF4-FFF2-40B4-BE49-F238E27FC236}">
                <a16:creationId xmlns:a16="http://schemas.microsoft.com/office/drawing/2014/main" id="{86756017-696A-4BC4-9522-A678C8BC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625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at 1.8 m/s; design result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67963882-CBE5-470E-967C-546B647D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3D3D"/>
                </a:solidFill>
              </a:defRPr>
            </a:pPr>
            <a:r>
              <a:rPr sz="1350" b="1">
                <a:solidFill>
                  <a:srgbClr val="C43D3D"/>
                </a:solidFill>
              </a:rPr>
              <a:t>PLC protocol telemetry ≠ deterministic safety interlock. HIL evidence is mandatory before deployment.</a:t>
            </a:r>
          </a:p>
        </p:txBody>
      </p:sp>
      <p:sp>
        <p:nvSpPr>
          <p:cNvPr id="57" name="Straight Connector 56">
            <a:extLst xmlns:a="http://schemas.openxmlformats.org/drawingml/2006/main">
              <a:ext uri="{FF2B5EF4-FFF2-40B4-BE49-F238E27FC236}">
                <a16:creationId xmlns:a16="http://schemas.microsoft.com/office/drawing/2014/main" id="{E4534083-9B97-4A51-A0DC-D281BF92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source">
            <a:extLst xmlns:a="http://schemas.openxmlformats.org/drawingml/2006/main">
              <a:ext uri="{FF2B5EF4-FFF2-40B4-BE49-F238E27FC236}">
                <a16:creationId xmlns:a16="http://schemas.microsoft.com/office/drawing/2014/main" id="{E26BA953-A70F-498F-B9E4-68D25BC8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Latency engine status in source: MONTE_CARLO_SIMULATED; the P99.9 number is not a measured production SLA.</a:t>
            </a:r>
          </a:p>
        </p:txBody>
      </p:sp>
      <p:sp>
        <p:nvSpPr>
          <p:cNvPr id="59" name="page">
            <a:extLst xmlns:a="http://schemas.openxmlformats.org/drawingml/2006/main">
              <a:ext uri="{FF2B5EF4-FFF2-40B4-BE49-F238E27FC236}">
                <a16:creationId xmlns:a16="http://schemas.microsoft.com/office/drawing/2014/main" id="{1B0D4A4C-0464-42E4-9B50-6AF6E12F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6</a:t>
            </a:r>
          </a:p>
        </p:txBody>
      </p:sp>
    </p:spTree>
    <p:extLst>
      <p:ext uri="{BB962C8B-B14F-4D97-AF65-F5344CB8AC3E}">
        <p14:creationId xmlns:p14="http://schemas.microsoft.com/office/powerpoint/2010/main" val="2140910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196C3E46-0EE1-4F12-A93E-4020C166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07  |  4:20–5:10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74D5CA-99B8-4325-AF16-D5E14215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Defects become controlled process experiments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CD98477F-2E0A-468A-9B40-56B8B0A5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将缺陷转化为受控工艺实验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AACBF4EC-0469-4FA9-AB43-AEE9127A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node">
            <a:extLst xmlns:a="http://schemas.openxmlformats.org/drawingml/2006/main">
              <a:ext uri="{FF2B5EF4-FFF2-40B4-BE49-F238E27FC236}">
                <a16:creationId xmlns:a16="http://schemas.microsoft.com/office/drawing/2014/main" id="{1C749454-D2E2-4775-BC52-E90791F6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node-head">
            <a:extLst xmlns:a="http://schemas.openxmlformats.org/drawingml/2006/main">
              <a:ext uri="{FF2B5EF4-FFF2-40B4-BE49-F238E27FC236}">
                <a16:creationId xmlns:a16="http://schemas.microsoft.com/office/drawing/2014/main" id="{BD91B499-62DB-4815-B816-08B70EE8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1,200 m roll map</a:t>
            </a:r>
          </a:p>
        </p:txBody>
      </p:sp>
      <p:sp>
        <p:nvSpPr>
          <p:cNvPr id="7" name="node-body">
            <a:extLst xmlns:a="http://schemas.openxmlformats.org/drawingml/2006/main">
              <a:ext uri="{FF2B5EF4-FFF2-40B4-BE49-F238E27FC236}">
                <a16:creationId xmlns:a16="http://schemas.microsoft.com/office/drawing/2014/main" id="{B891DC13-8ADA-4F47-9791-19CA7BFB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X_m · Y_mm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4 slitting lanes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quality events</a:t>
            </a:r>
          </a:p>
        </p:txBody>
      </p:sp>
      <p:sp>
        <p:nvSpPr>
          <p:cNvPr id="8" name="node">
            <a:extLst xmlns:a="http://schemas.openxmlformats.org/drawingml/2006/main">
              <a:ext uri="{FF2B5EF4-FFF2-40B4-BE49-F238E27FC236}">
                <a16:creationId xmlns:a16="http://schemas.microsoft.com/office/drawing/2014/main" id="{0E688F58-7467-4D76-84AA-944FDAB4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node-head">
            <a:extLst xmlns:a="http://schemas.openxmlformats.org/drawingml/2006/main">
              <a:ext uri="{FF2B5EF4-FFF2-40B4-BE49-F238E27FC236}">
                <a16:creationId xmlns:a16="http://schemas.microsoft.com/office/drawing/2014/main" id="{9BC8F36F-A5EA-4837-AF78-B925B4B8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Root-cause rank</a:t>
            </a:r>
          </a:p>
        </p:txBody>
      </p:sp>
      <p:sp>
        <p:nvSpPr>
          <p:cNvPr id="10" name="node-body">
            <a:extLst xmlns:a="http://schemas.openxmlformats.org/drawingml/2006/main">
              <a:ext uri="{FF2B5EF4-FFF2-40B4-BE49-F238E27FC236}">
                <a16:creationId xmlns:a16="http://schemas.microsoft.com/office/drawing/2014/main" id="{7E62ACF9-BF3A-459D-9653-85635B0D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Slot-die · Dryer Z1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Vacuum mixer</a:t>
            </a:r>
          </a:p>
        </p:txBody>
      </p:sp>
      <p:sp>
        <p:nvSpPr>
          <p:cNvPr id="11" name="node">
            <a:extLst xmlns:a="http://schemas.openxmlformats.org/drawingml/2006/main">
              <a:ext uri="{FF2B5EF4-FFF2-40B4-BE49-F238E27FC236}">
                <a16:creationId xmlns:a16="http://schemas.microsoft.com/office/drawing/2014/main" id="{90A7589B-6283-43B6-8F8A-DCFA6955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de-head">
            <a:extLst xmlns:a="http://schemas.openxmlformats.org/drawingml/2006/main">
              <a:ext uri="{FF2B5EF4-FFF2-40B4-BE49-F238E27FC236}">
                <a16:creationId xmlns:a16="http://schemas.microsoft.com/office/drawing/2014/main" id="{7F8DCFBB-BC34-428E-978C-5700CF25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Constrained change</a:t>
            </a:r>
          </a:p>
        </p:txBody>
      </p:sp>
      <p:sp>
        <p:nvSpPr>
          <p:cNvPr id="13" name="node-body">
            <a:extLst xmlns:a="http://schemas.openxmlformats.org/drawingml/2006/main">
              <a:ext uri="{FF2B5EF4-FFF2-40B4-BE49-F238E27FC236}">
                <a16:creationId xmlns:a16="http://schemas.microsoft.com/office/drawing/2014/main" id="{490319D6-10C5-4804-851F-3203268B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ΔT1 / Δv / ΔQ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approval + recipe limits</a:t>
            </a:r>
          </a:p>
        </p:txBody>
      </p:sp>
      <p:sp>
        <p:nvSpPr>
          <p:cNvPr id="14" name="node">
            <a:extLst xmlns:a="http://schemas.openxmlformats.org/drawingml/2006/main">
              <a:ext uri="{FF2B5EF4-FFF2-40B4-BE49-F238E27FC236}">
                <a16:creationId xmlns:a16="http://schemas.microsoft.com/office/drawing/2014/main" id="{A0D4B09E-943A-41CD-B275-4609146B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57425"/>
            <a:ext cx="180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node-head">
            <a:extLst xmlns:a="http://schemas.openxmlformats.org/drawingml/2006/main">
              <a:ext uri="{FF2B5EF4-FFF2-40B4-BE49-F238E27FC236}">
                <a16:creationId xmlns:a16="http://schemas.microsoft.com/office/drawing/2014/main" id="{6B4025A7-0DFF-47F8-9571-64D456D1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381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1318"/>
                </a:solidFill>
              </a:defRPr>
            </a:pPr>
            <a:r>
              <a:rPr sz="1200" b="1">
                <a:solidFill>
                  <a:srgbClr val="111318"/>
                </a:solidFill>
              </a:rPr>
              <a:t>Verify effect</a:t>
            </a:r>
          </a:p>
        </p:txBody>
      </p:sp>
      <p:sp>
        <p:nvSpPr>
          <p:cNvPr id="16" name="node-body">
            <a:extLst xmlns:a="http://schemas.openxmlformats.org/drawingml/2006/main">
              <a:ext uri="{FF2B5EF4-FFF2-40B4-BE49-F238E27FC236}">
                <a16:creationId xmlns:a16="http://schemas.microsoft.com/office/drawing/2014/main" id="{ECC68594-09B3-4957-88BE-AED59DD2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628900"/>
            <a:ext cx="1543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holdout segment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roll-level evidence</a:t>
            </a:r>
          </a:p>
        </p:txBody>
      </p:sp>
      <p:cxnSp>
        <p:nvCxnSpPr>
          <p:cNvPr id="149" name="Straight Arrow Connector 5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95550" y="28527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50" name="Straight Arrow Connector 54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400675" y="28527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cxnSp>
        <p:nvCxnSpPr>
          <p:cNvPr id="151" name="Straight Arrow Connector 55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05800" y="28527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  <a:headEnd type="triangle" w="sm" len="sm"/>
          </a:ln>
        </p:spPr>
      </p:cxnSp>
      <p:sp>
        <p:nvSpPr>
          <p:cNvPr id="20" name="metric">
            <a:extLst xmlns:a="http://schemas.openxmlformats.org/drawingml/2006/main">
              <a:ext uri="{FF2B5EF4-FFF2-40B4-BE49-F238E27FC236}">
                <a16:creationId xmlns:a16="http://schemas.microsoft.com/office/drawing/2014/main" id="{FA01317C-1A6F-4BEE-84BF-35EBAFCB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72F24D82-2F03-42DF-8CEB-72874B06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1253316E-7105-46BD-B338-D286899E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PROTOTYPE CERTIFICATE</a:t>
            </a:r>
          </a:p>
        </p:txBody>
      </p:sp>
      <p:sp>
        <p:nvSpPr>
          <p:cNvPr id="2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148A8D4-6A6F-43C8-B375-E5952EB1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148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HMAC-SHA256</a:t>
            </a:r>
          </a:p>
        </p:txBody>
      </p:sp>
      <p:sp>
        <p:nvSpPr>
          <p:cNvPr id="24" name="metric-sub">
            <a:extLst xmlns:a="http://schemas.openxmlformats.org/drawingml/2006/main">
              <a:ext uri="{FF2B5EF4-FFF2-40B4-BE49-F238E27FC236}">
                <a16:creationId xmlns:a16="http://schemas.microsoft.com/office/drawing/2014/main" id="{4725BD77-BD4C-4B38-8AF1-765F5A09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720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tamper-evident MAC; not non-repudiation</a:t>
            </a:r>
          </a:p>
        </p:txBody>
      </p:sp>
      <p:sp>
        <p:nvSpPr>
          <p:cNvPr id="25" name="metric">
            <a:extLst xmlns:a="http://schemas.openxmlformats.org/drawingml/2006/main">
              <a:ext uri="{FF2B5EF4-FFF2-40B4-BE49-F238E27FC236}">
                <a16:creationId xmlns:a16="http://schemas.microsoft.com/office/drawing/2014/main" id="{C4DABB0B-01D5-4284-81ED-E4720A42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ADFCF4B2-228F-462A-8670-CE079068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E3F03BD-F95E-4B55-BAB4-8BCCC399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767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EXAMPLE INTERVENTION</a:t>
            </a:r>
          </a:p>
        </p:txBody>
      </p:sp>
      <p:sp>
        <p:nvSpPr>
          <p:cNvPr id="28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127D3550-4C66-4370-8B0F-672A5FFE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148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ΔT1 = −4 °C</a:t>
            </a:r>
          </a:p>
        </p:txBody>
      </p:sp>
      <p:sp>
        <p:nvSpPr>
          <p:cNvPr id="29" name="metric-sub">
            <a:extLst xmlns:a="http://schemas.openxmlformats.org/drawingml/2006/main">
              <a:ext uri="{FF2B5EF4-FFF2-40B4-BE49-F238E27FC236}">
                <a16:creationId xmlns:a16="http://schemas.microsoft.com/office/drawing/2014/main" id="{6CB6E62F-8060-489A-94AF-5577CF92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720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hypothesis to be confirmed by trial</a:t>
            </a:r>
          </a:p>
        </p:txBody>
      </p:sp>
      <p:sp>
        <p:nvSpPr>
          <p:cNvPr id="30" name="metric">
            <a:extLst xmlns:a="http://schemas.openxmlformats.org/drawingml/2006/main">
              <a:ext uri="{FF2B5EF4-FFF2-40B4-BE49-F238E27FC236}">
                <a16:creationId xmlns:a16="http://schemas.microsoft.com/office/drawing/2014/main" id="{4313110E-E3B7-4E04-AF86-038E45C7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2952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metric-accent">
            <a:extLst xmlns:a="http://schemas.openxmlformats.org/drawingml/2006/main">
              <a:ext uri="{FF2B5EF4-FFF2-40B4-BE49-F238E27FC236}">
                <a16:creationId xmlns:a16="http://schemas.microsoft.com/office/drawing/2014/main" id="{FAE305B2-AE35-467A-A533-2FA81E91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05300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71ABB3B-6216-4DC5-9946-50C1E09F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76750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F6670"/>
                </a:solidFill>
              </a:defRPr>
            </a:pPr>
            <a:r>
              <a:rPr sz="1050" b="1">
                <a:solidFill>
                  <a:srgbClr val="5F6670"/>
                </a:solidFill>
              </a:rPr>
              <a:t>REPORTED KPI</a:t>
            </a:r>
          </a:p>
        </p:txBody>
      </p:sp>
      <p:sp>
        <p:nvSpPr>
          <p:cNvPr id="33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4863AC9-C2CB-4499-A353-7CFEB1BA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14875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318"/>
                </a:solidFill>
              </a:defRPr>
            </a:pPr>
            <a:r>
              <a:rPr sz="2325" b="1">
                <a:solidFill>
                  <a:srgbClr val="111318"/>
                </a:solidFill>
              </a:rPr>
              <a:t>−84.2% scrap</a:t>
            </a:r>
          </a:p>
        </p:txBody>
      </p:sp>
      <p:sp>
        <p:nvSpPr>
          <p:cNvPr id="34" name="metric-sub">
            <a:extLst xmlns:a="http://schemas.openxmlformats.org/drawingml/2006/main">
              <a:ext uri="{FF2B5EF4-FFF2-40B4-BE49-F238E27FC236}">
                <a16:creationId xmlns:a16="http://schemas.microsoft.com/office/drawing/2014/main" id="{FCA980C0-37E9-466D-BE73-F73D82BB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72075"/>
            <a:ext cx="262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hold claim until raw pilot evidence is supplied</a:t>
            </a:r>
          </a:p>
        </p:txBody>
      </p:sp>
      <p:sp>
        <p:nvSpPr>
          <p:cNvPr id="35" name="Straight Connector 34">
            <a:extLst xmlns:a="http://schemas.openxmlformats.org/drawingml/2006/main">
              <a:ext uri="{FF2B5EF4-FFF2-40B4-BE49-F238E27FC236}">
                <a16:creationId xmlns:a16="http://schemas.microsoft.com/office/drawing/2014/main" id="{7355BB27-9820-4E59-8B89-E308B6A0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source">
            <a:extLst xmlns:a="http://schemas.openxmlformats.org/drawingml/2006/main">
              <a:ext uri="{FF2B5EF4-FFF2-40B4-BE49-F238E27FC236}">
                <a16:creationId xmlns:a16="http://schemas.microsoft.com/office/drawing/2014/main" id="{7F13D687-BF77-4ECE-BCA8-3739B658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Closed-loop claims require controlled intervention, approval guardrails, and before/after raw logs.</a:t>
            </a:r>
          </a:p>
        </p:txBody>
      </p:sp>
      <p:sp>
        <p:nvSpPr>
          <p:cNvPr id="37" name="page">
            <a:extLst xmlns:a="http://schemas.openxmlformats.org/drawingml/2006/main">
              <a:ext uri="{FF2B5EF4-FFF2-40B4-BE49-F238E27FC236}">
                <a16:creationId xmlns:a16="http://schemas.microsoft.com/office/drawing/2014/main" id="{60981E31-3BD0-4779-AD41-7AF65F05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7</a:t>
            </a:r>
          </a:p>
        </p:txBody>
      </p:sp>
    </p:spTree>
    <p:extLst>
      <p:ext uri="{BB962C8B-B14F-4D97-AF65-F5344CB8AC3E}">
        <p14:creationId xmlns:p14="http://schemas.microsoft.com/office/powerpoint/2010/main" val="12114593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">
            <a:extLst xmlns:a="http://schemas.openxmlformats.org/drawingml/2006/main">
              <a:ext uri="{FF2B5EF4-FFF2-40B4-BE49-F238E27FC236}">
                <a16:creationId xmlns:a16="http://schemas.microsoft.com/office/drawing/2014/main" id="{2AF956DF-136D-465A-AB5E-43153C5A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670"/>
                </a:solidFill>
              </a:defRPr>
            </a:pPr>
            <a:r>
              <a:rPr sz="975" b="1">
                <a:solidFill>
                  <a:srgbClr val="5F6670"/>
                </a:solidFill>
              </a:rPr>
              <a:t>08  |  5:10–6:00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1A8992-49CC-4374-9514-7D8B0920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5325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11318"/>
                </a:solidFill>
              </a:defRPr>
            </a:pPr>
            <a:r>
              <a:rPr sz="2775" b="1">
                <a:solidFill>
                  <a:srgbClr val="111318"/>
                </a:solidFill>
              </a:rPr>
              <a:t>The upgrade path: benchmark → physical pilot</a:t>
            </a:r>
          </a:p>
        </p:txBody>
      </p:sp>
      <p:sp>
        <p:nvSpPr>
          <p:cNvPr id="3" name="cn-title">
            <a:extLst xmlns:a="http://schemas.openxmlformats.org/drawingml/2006/main">
              <a:ext uri="{FF2B5EF4-FFF2-40B4-BE49-F238E27FC236}">
                <a16:creationId xmlns:a16="http://schemas.microsoft.com/office/drawing/2014/main" id="{BB3958AF-BC0D-4377-B03C-6FFD68E4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0"/>
                </a:solidFill>
              </a:defRPr>
            </a:pPr>
            <a:r>
              <a:rPr sz="1500" b="0">
                <a:solidFill>
                  <a:srgbClr val="5F6670"/>
                </a:solidFill>
              </a:rPr>
              <a:t>试点就绪性靠证据获得，而非包装宣称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2ABC35C8-AD4F-4517-9840-858EC9F6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">
            <a:extLst xmlns:a="http://schemas.openxmlformats.org/drawingml/2006/main">
              <a:ext uri="{FF2B5EF4-FFF2-40B4-BE49-F238E27FC236}">
                <a16:creationId xmlns:a16="http://schemas.microsoft.com/office/drawing/2014/main" id="{98040E2C-0A4B-42B0-AAF8-FDC3B6A4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361B387-4DCC-4B8F-9DDC-EB2A950D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318"/>
                </a:solidFill>
              </a:defRPr>
            </a:pPr>
            <a:r>
              <a:rPr sz="1125" b="1">
                <a:solidFill>
                  <a:srgbClr val="111318"/>
                </a:solidFill>
              </a:rPr>
              <a:t>REAL TEST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3CCC530-49ED-4AE0-B2B5-FE91CB67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8597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88 images · 102 labelled instances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8F34DF9-5FE4-49D0-92F9-8C1B5908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2410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 64.5% · R 64.2% · mAP50 63.4%</a:t>
            </a:r>
          </a:p>
        </p:txBody>
      </p:sp>
      <p:sp>
        <p:nvSpPr>
          <p:cNvPr id="9" name="rect">
            <a:extLst xmlns:a="http://schemas.openxmlformats.org/drawingml/2006/main">
              <a:ext uri="{FF2B5EF4-FFF2-40B4-BE49-F238E27FC236}">
                <a16:creationId xmlns:a16="http://schemas.microsoft.com/office/drawing/2014/main" id="{FB0FC6D5-C4EA-49CF-BBF4-E48F6412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06A6495-5447-4354-8BEB-5E7B0D52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318"/>
                </a:solidFill>
              </a:defRPr>
            </a:pPr>
            <a:r>
              <a:rPr sz="1125" b="1">
                <a:solidFill>
                  <a:srgbClr val="111318"/>
                </a:solidFill>
              </a:rPr>
              <a:t>MODEL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F2B4009-BDBC-476D-BF0E-46A8CC37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0512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YOLO26n detector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A6C2821-A731-473E-81C7-487DE2BD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406 train · 87 validation · fixed seed 71</a:t>
            </a:r>
          </a:p>
        </p:txBody>
      </p:sp>
      <p:sp>
        <p:nvSpPr>
          <p:cNvPr id="13" name="rect">
            <a:extLst xmlns:a="http://schemas.openxmlformats.org/drawingml/2006/main">
              <a:ext uri="{FF2B5EF4-FFF2-40B4-BE49-F238E27FC236}">
                <a16:creationId xmlns:a16="http://schemas.microsoft.com/office/drawing/2014/main" id="{2C2E5100-780F-42B9-8B59-E58BFDBB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FCD2385-0DDC-42DF-B4ED-E6D66121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318"/>
                </a:solidFill>
              </a:defRPr>
            </a:pPr>
            <a:r>
              <a:rPr sz="1125" b="1">
                <a:solidFill>
                  <a:srgbClr val="111318"/>
                </a:solidFill>
              </a:rPr>
              <a:t>NEXT DATA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AD6286E-BDEE-4133-A037-23FB7D34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2427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calibrated RGB + thermal + 3D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2D309A05-E6AD-472D-88DC-6D5F7ECF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6240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timestamp registration · raw-roll labels · held-out lots</a:t>
            </a:r>
          </a:p>
        </p:txBody>
      </p:sp>
      <p:sp>
        <p:nvSpPr>
          <p:cNvPr id="17" name="rect">
            <a:extLst xmlns:a="http://schemas.openxmlformats.org/drawingml/2006/main">
              <a:ext uri="{FF2B5EF4-FFF2-40B4-BE49-F238E27FC236}">
                <a16:creationId xmlns:a16="http://schemas.microsoft.com/office/drawing/2014/main" id="{2BE927B2-EACD-4E51-947C-507A3E87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1"/>
          </a:solidFill>
          <a:ln xmlns:a="http://schemas.openxmlformats.org/drawingml/2006/main" w="9525">
            <a:solidFill>
              <a:srgbClr val="C43D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F1967CB-D265-4A04-8093-D046C463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762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43D3D"/>
                </a:solidFill>
              </a:defRPr>
            </a:pPr>
            <a:r>
              <a:rPr sz="1125" b="1">
                <a:solidFill>
                  <a:srgbClr val="C43D3D"/>
                </a:solidFill>
              </a:rPr>
              <a:t>PILOT GATE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07191CD-8361-4FF3-9F66-AE74A6BF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43425"/>
            <a:ext cx="3810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318"/>
                </a:solidFill>
              </a:defRPr>
            </a:pPr>
            <a:r>
              <a:rPr sz="1350" b="1">
                <a:solidFill>
                  <a:srgbClr val="111318"/>
                </a:solidFill>
              </a:rPr>
              <a:t>HIL reject trace + MSA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F0C076E3-43E0-4C2E-8D5D-51C1ED25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81550"/>
            <a:ext cx="781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F6670"/>
                </a:solidFill>
              </a:defRPr>
            </a:pPr>
            <a:r>
              <a:rPr sz="975" b="0">
                <a:solidFill>
                  <a:srgbClr val="5F6670"/>
                </a:solidFill>
              </a:rPr>
              <a:t>P99.9 timing · Gage R&amp;R · independent witness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FF7FBBF-A3C3-444D-B3B7-009AE8D9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981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318"/>
                </a:solidFill>
              </a:defRPr>
            </a:pPr>
            <a:r>
              <a:rPr sz="1650" b="1">
                <a:solidFill>
                  <a:srgbClr val="111318"/>
                </a:solidFill>
              </a:rPr>
              <a:t>Our ask: approve a supervised pilot to convert benchmark evidence into a trustworthy factory system.</a:t>
            </a:r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A64CAB60-72DC-43B5-9AA8-CADF44D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14B1FBE6-7D53-46EF-A2CD-F8F1D202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096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F6670"/>
                </a:solidFill>
              </a:defRPr>
            </a:pPr>
            <a:r>
              <a:rPr sz="825" b="0">
                <a:solidFill>
                  <a:srgbClr val="5F6670"/>
                </a:solidFill>
              </a:rPr>
              <a:t>Source: fixed CoatingVision test split; physical pilot gates remain explicit.</a:t>
            </a:r>
          </a:p>
        </p:txBody>
      </p:sp>
      <p:sp>
        <p:nvSpPr>
          <p:cNvPr id="24" name="page">
            <a:extLst xmlns:a="http://schemas.openxmlformats.org/drawingml/2006/main">
              <a:ext uri="{FF2B5EF4-FFF2-40B4-BE49-F238E27FC236}">
                <a16:creationId xmlns:a16="http://schemas.microsoft.com/office/drawing/2014/main" id="{BE57CE11-5A30-4278-8E34-C4A469C5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96050"/>
            <a:ext cx="1123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5F6670"/>
                </a:solidFill>
              </a:defRPr>
            </a:pPr>
            <a:r>
              <a:rPr sz="825" b="1">
                <a:solidFill>
                  <a:srgbClr val="5F6670"/>
                </a:solidFill>
              </a:rPr>
              <a:t>TEAM 71  /  8</a:t>
            </a:r>
          </a:p>
        </p:txBody>
      </p:sp>
    </p:spTree>
    <p:extLst>
      <p:ext uri="{BB962C8B-B14F-4D97-AF65-F5344CB8AC3E}">
        <p14:creationId xmlns:p14="http://schemas.microsoft.com/office/powerpoint/2010/main" val="1480685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2026-08-17T09:50:58.6500000Z</dcterms:created>
  <dcterms:modified xsi:type="dcterms:W3CDTF">2026-08-17T09:50:58.6500000Z</dcterms:modified>
</coreProperties>
</file>