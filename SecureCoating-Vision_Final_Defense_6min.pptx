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E5FF"/>
                </a:solidFill>
                <a:latin typeface="Calibri"/>
              </a:rPr>
              <a:t>GLOBAL AI + MATERIALS INNOVATION COMPETITION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SecureCoating-Vision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11338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SecureCoating Vision: A High-Throughput and Zero-Trust Edge-Cloud Pipeline for Inline Battery Electrode Defect Inspection and Traceable Quality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060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E5FF"/>
                </a:solidFill>
                <a:latin typeface="Calibri"/>
              </a:rPr>
              <a:t>Evidence-Gated Multimodal Inspection for Battery Electrode Manufacturing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46120"/>
            <a:ext cx="5532120" cy="91440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558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301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71  ·  Trịnh Hoàng Tú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246120"/>
            <a:ext cx="5532120" cy="91440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3558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AFFILIATION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6301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HUFLIT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297679"/>
            <a:ext cx="5532120" cy="91440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0740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81727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  ·  AI + Materials Testing and Characterization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297679"/>
            <a:ext cx="5532120" cy="91440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40740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681727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Prof. Kris Singh  ·  SRII / Tsinghua (visiting)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4864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D600"/>
                </a:solidFill>
                <a:latin typeface="Calibri"/>
              </a:rPr>
              <a:t>Evidence: real optical detector + fail-closed decision contract · supervised factory pilot is the next gate.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C9BAE"/>
                </a:solidFill>
                <a:latin typeface="Calibri"/>
              </a:rPr>
              <a:t>Team 71  ·  Trịnh Hoàng Tú  ·  HUFLIT  ·  Track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TEAM 71  /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5FF"/>
                </a:solidFill>
                <a:latin typeface="Calibri"/>
              </a:rPr>
              <a:t>02    0:35–1:15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defect is tiny. An automatic PASS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6766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Electrode coating defects become scrap, rework, or untraceable cell risk.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8C9BAE"/>
                </a:solidFill>
                <a:latin typeface="Calibri"/>
              </a:rPr>
              <a:t>A detector that ranks anomalies well can still be unsafe to act on if sensors disagree, calibration is unverified, or the PLC does not acknowledge.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0E5FF"/>
                </a:solidFill>
                <a:latin typeface="Calibri"/>
              </a:rPr>
              <a:t>Academic detection answers how to detect. A factory needs when a detection is safe enough to act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931920"/>
            <a:ext cx="6766560" cy="219456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069080"/>
            <a:ext cx="6400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1744"/>
                </a:solidFill>
                <a:latin typeface="Calibri"/>
              </a:rPr>
              <a:t>MEASURED ON REAL OPTICAL DATA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88 held-out images · mAP50 0.633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C9BAE"/>
                </a:solidFill>
                <a:latin typeface="Calibri"/>
              </a:rPr>
              <a:t>Public CoatingVision image-disjoint split, seed 71. Not factory roll-disjoint; HIL and calibration remain pilot gates.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502920"/>
            <a:ext cx="4297680" cy="566928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868680"/>
            <a:ext cx="4023360" cy="3017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520" y="53492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C9BAE"/>
                </a:solidFill>
                <a:latin typeface="Calibri"/>
              </a:rPr>
              <a:t>Real coating surface (held-out CoatingVision sample). RGB-only. Not a multimodal plant capture.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C9BAE"/>
                </a:solidFill>
                <a:latin typeface="Calibri"/>
              </a:rPr>
              <a:t>Team 71  ·  Trịnh Hoàng Tú  ·  HUFLIT  ·  Track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TEAM 71  /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5FF"/>
                </a:solidFill>
                <a:latin typeface="Calibri"/>
              </a:rPr>
              <a:t>03    1:15–2:00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Two evidence lanes. One fail-closed contract.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5532120" cy="484632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676"/>
                </a:solidFill>
                <a:latin typeface="Calibri"/>
              </a:rPr>
              <a:t>LANE A  ·  IMPLEMENTED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RGB YOLO26n detect / ONNX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C9BAE"/>
                </a:solidFill>
                <a:latin typeface="Calibri"/>
              </a:rPr>
              <a:t>FastAPI  ·  SQLite PENDING→final  ·  OPC UA / Modbus command+ACK  ·  HMAC certificate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D600"/>
                </a:solidFill>
                <a:latin typeface="Calibri"/>
              </a:rPr>
              <a:t>Thermal and profilometry are simulated adapters. They are not plant-instrument measurements.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532120" cy="484632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5FF"/>
                </a:solidFill>
                <a:latin typeface="Calibri"/>
              </a:rPr>
              <a:t>LANE B  ·  VALIDATION EXTENSION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LIBAD VIS + X-rayL adapter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C9BAE"/>
                </a:solidFill>
                <a:latin typeface="Calibri"/>
              </a:rPr>
              <a:t>Official 10-seed ran on a hash-verified mount with the local CPU numpy descriptor (AUROC ~0.70, FPR95 ~0.84). Not DINOv3. Demo cases stay protocol fixtures.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E5FF"/>
                </a:solidFill>
                <a:latin typeface="Calibri"/>
              </a:rPr>
              <a:t>DA-Core is Sui et al. SecureCoating-Vision adds the evidence gate, not a new detector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C9BAE"/>
                </a:solidFill>
                <a:latin typeface="Calibri"/>
              </a:rPr>
              <a:t>Team 71  ·  Trịnh Hoàng Tú  ·  HUFLIT  ·  Track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TEAM 71  /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5FF"/>
                </a:solidFill>
                <a:latin typeface="Calibri"/>
              </a:rPr>
              <a:t>04    2:00–2:45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Model output cannot self-release the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3657600" cy="219456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E676"/>
                </a:solidFill>
                <a:latin typeface="Calibri"/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OPTIMAL inference, trained model, verified calibration, healthy traceability, PLC 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3657600" cy="219456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1744"/>
                </a:solidFill>
                <a:latin typeface="Calibri"/>
              </a:rPr>
              <a:t>REJECT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65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Evidence supports a defect and the communication contract completes.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3657600" cy="219456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D600"/>
                </a:solidFill>
                <a:latin typeface="Calibri"/>
              </a:rPr>
              <a:t>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Disagreement, stale/missing sensor, timeout, unverified calibration, DB fault, or unconfirmed PLC.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703320"/>
            <a:ext cx="11338560" cy="242316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5FF"/>
                </a:solidFill>
                <a:latin typeface="Calibri"/>
              </a:rPr>
              <a:t>INDUSTRIAL MEANING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Uncertainty becomes a controlled operational state, not a hidden false-positive rate.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8C9BAE"/>
                </a:solidFill>
                <a:latin typeface="Calibri"/>
              </a:rPr>
              <a:t>Software E-stop latches local interlock and requests PLC channels. It is not a safety-rated hardwired stop.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C9BAE"/>
                </a:solidFill>
                <a:latin typeface="Calibri"/>
              </a:rPr>
              <a:t>Team 71  ·  Trịnh Hoàng Tú  ·  HUFLIT  ·  Track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TEAM 71  /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5FF"/>
                </a:solidFill>
                <a:latin typeface="Calibri"/>
              </a:rPr>
              <a:t>05    2:45–3:35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Readiness is visible before any line decision.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7498079" cy="1115568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E5FF"/>
                </a:solidFill>
                <a:latin typeface="Calibri"/>
              </a:rPr>
              <a:t>OPERATE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Line disposition, model hashes, throughput evidence, PLC state, and inspection artifacts — one timestamped API snapshot.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23160"/>
            <a:ext cx="7498079" cy="1115568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E5FF"/>
                </a:solidFill>
                <a:latin typeface="Calibri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62072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Simulation, mock PLC, or unverified calibration makes the authoritative disposition HOLD_REQUIRED.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57600"/>
            <a:ext cx="7498079" cy="1115568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67328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E5FF"/>
                </a:solidFill>
                <a:latin typeface="Calibri"/>
              </a:rPr>
              <a:t>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96512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Roll ledger, certificate HMAC, control-audit log. Missing data renders as NO DATA, not 0%.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188720"/>
            <a:ext cx="3657600" cy="489204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258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1744"/>
                </a:solidFill>
                <a:latin typeface="Calibri"/>
              </a:rPr>
              <a:t>NOT IN PRODUCTION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Recipe sliders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Defect injection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7-stage simulator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LIBAD 90s demo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Send offset to PLC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C9BAE"/>
                </a:solidFill>
                <a:latin typeface="Calibri"/>
              </a:rPr>
              <a:t>Sandbox-only features stay isolated from the operating surface.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Calibri"/>
              </a:rPr>
              <a:t>Control = confirm-audit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C9BAE"/>
                </a:solidFill>
                <a:latin typeface="Calibri"/>
              </a:rPr>
              <a:t>Team 71  ·  Trịnh Hoàng Tú  ·  HUFLIT  ·  Track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TEAM 71  /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5FF"/>
                </a:solidFill>
                <a:latin typeface="Calibri"/>
              </a:rPr>
              <a:t>06    3:35–4:20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Trace first. Command second. ACK or 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3657600" cy="205740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C9BAE"/>
                </a:solidFill>
                <a:latin typeface="Calibri"/>
              </a:rPr>
              <a:t>RGB path + fail-safe deadline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3657600" cy="205740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44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C9BAE"/>
                </a:solidFill>
                <a:latin typeface="Calibri"/>
              </a:rPr>
              <a:t>SQLite claims (batch, part)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3657600" cy="205740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83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C9BAE"/>
                </a:solidFill>
                <a:latin typeface="Calibri"/>
              </a:rPr>
              <a:t>One command owner + ACK sequence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66160"/>
            <a:ext cx="3657600" cy="205740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730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Finalize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17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C9BAE"/>
                </a:solidFill>
                <a:latin typeface="Calibri"/>
              </a:rPr>
              <a:t>PASS/REJECT, or HOLD if ACK fails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566160"/>
            <a:ext cx="3657600" cy="205740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730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Certificate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617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C9BAE"/>
                </a:solidFill>
                <a:latin typeface="Calibri"/>
              </a:rPr>
              <a:t>HMAC-SHA256 over canonical payload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3657600" cy="205740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730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E5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617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C9BAE"/>
                </a:solidFill>
                <a:latin typeface="Calibri"/>
              </a:rPr>
              <a:t>Operator confirm phrase is durable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C9BAE"/>
                </a:solidFill>
                <a:latin typeface="Calibri"/>
              </a:rPr>
              <a:t>Team 71  ·  Trịnh Hoàng Tú  ·  HUFLIT  ·  Track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TEAM 71  /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5FF"/>
                </a:solidFill>
                <a:latin typeface="Calibri"/>
              </a:rPr>
              <a:t>07    4:20–5:10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Real optical evidence is reproducible — and bounded.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743200" cy="196596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C9BAE"/>
                </a:solidFill>
                <a:latin typeface="Calibri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64.5%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C9BAE"/>
                </a:solidFill>
                <a:latin typeface="Calibri"/>
              </a:rPr>
              <a:t>88-image real optical test split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2743200" cy="196596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36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C9BAE"/>
                </a:solidFill>
                <a:latin typeface="Calibri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64.2%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468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C9BAE"/>
                </a:solidFill>
                <a:latin typeface="Calibri"/>
              </a:rPr>
              <a:t>measured on configured checkpoint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2743200" cy="196596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36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C9BAE"/>
                </a:solidFill>
                <a:latin typeface="Calibri"/>
              </a:rPr>
              <a:t>mAP50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745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63.3%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C9BAE"/>
                </a:solidFill>
                <a:latin typeface="Calibri"/>
              </a:rPr>
              <a:t>measured on configured checkpoint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1417320"/>
            <a:ext cx="2743200" cy="196596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536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C9BAE"/>
                </a:solidFill>
                <a:latin typeface="Calibri"/>
              </a:rPr>
              <a:t>mAP50-95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18745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D600"/>
                </a:solidFill>
                <a:latin typeface="Calibri"/>
              </a:rPr>
              <a:t>35.4%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468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C9BAE"/>
                </a:solidFill>
                <a:latin typeface="Calibri"/>
              </a:rPr>
              <a:t>IoU 0.50:0.95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11880"/>
            <a:ext cx="11338560" cy="251460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947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E5FF"/>
                </a:solidFill>
                <a:latin typeface="Calibri"/>
              </a:rPr>
              <a:t>EVIDENCE IDENTITY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88 test images  ·  seed 71  ·  weights f72a8f2b…  ·  dataset 3c3f2773…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8C9BAE"/>
                </a:solidFill>
                <a:latin typeface="Calibri"/>
              </a:rPr>
              <a:t>Public real optical image-disjoint split. Not roll-disjoint; not factory qualification.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C9BAE"/>
                </a:solidFill>
                <a:latin typeface="Calibri"/>
              </a:rPr>
              <a:t>Team 71  ·  Trịnh Hoàng Tú  ·  HUFLIT  ·  Track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TEAM 71  /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5FF"/>
                </a:solidFill>
                <a:latin typeface="Calibri"/>
              </a:rPr>
              <a:t>08    5:10–6:00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Let the loops run. Then say the close.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5623560" cy="370332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D600"/>
                </a:solidFill>
                <a:latin typeface="Calibri"/>
              </a:rPr>
              <a:t>RGB LANE  ·  image_1548  ·  HOLD</a:t>
            </a:r>
          </a:p>
        </p:txBody>
      </p:sp>
      <p:pic>
        <p:nvPicPr>
          <p:cNvPr id="9" name="Picture 8" descr="rgb_hold_replay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349240" cy="33655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72200" y="960120"/>
            <a:ext cx="5623560" cy="3703320"/>
          </a:xfrm>
          <a:prstGeom prst="rect">
            <a:avLst/>
          </a:prstGeom>
          <a:solidFill>
            <a:srgbClr val="151B28"/>
          </a:solidFill>
          <a:ln w="6350">
            <a:solidFill>
              <a:srgbClr val="22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0241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5FF"/>
                </a:solidFill>
                <a:latin typeface="Calibri"/>
              </a:rPr>
              <a:t>LIBAD GATE  ·  fixture PASS / REJECT / REJECT / HOLD</a:t>
            </a:r>
          </a:p>
        </p:txBody>
      </p:sp>
      <p:pic>
        <p:nvPicPr>
          <p:cNvPr id="12" name="Picture 11" descr="libad_gat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5349240" cy="40416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4800600"/>
            <a:ext cx="11338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E5FF"/>
                </a:solidFill>
                <a:latin typeface="Calibri"/>
              </a:rPr>
              <a:t>CLOSE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The model finds defects. The evidence gate controls when the line may act.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C9BAE"/>
                </a:solidFill>
                <a:latin typeface="Calibri"/>
              </a:rPr>
              <a:t>GIFs loop checked-in artifacts. RGB HOLD is real optical + mock PLC. LIBAD cases are protocol fixtures, not DINOv3. Next gate: HIL, factory calibration, roll-disjoint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C9BAE"/>
                </a:solidFill>
                <a:latin typeface="Calibri"/>
              </a:rPr>
              <a:t>Team 71  ·  Trịnh Hoàng Tú  ·  HUFLIT  ·  Track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8C9BAE"/>
                </a:solidFill>
                <a:latin typeface="Calibri"/>
              </a:rPr>
              <a:t>TEAM 71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