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Relationship Id="rId3" Type="http://schemas.openxmlformats.org/officeDocument/2006/relationships/image" Target="../media/image3.gif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3200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Global AI + Materials Innovation Application Competition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SecureCoating-Vision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113385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A1F2B"/>
                </a:solidFill>
                <a:latin typeface="Calibri"/>
              </a:rPr>
              <a:t>SecureCoating-Vision: Evidence-Gated Multimodal AI for Battery Electrode Inspection and Traceable Quality Decisions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78892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5EB8"/>
                </a:solidFill>
                <a:latin typeface="Calibri"/>
              </a:rPr>
              <a:t>Evidence-Gated Multimodal Inspection for Battery Electrode Manufacturing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246120"/>
            <a:ext cx="11338560" cy="127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3520440"/>
            <a:ext cx="113385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Team 71 · Track 4 — AI + Materials Testing &amp; Characterization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Trinh Hoang Tu · HUFLIT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5EB8"/>
                </a:solidFill>
                <a:latin typeface="Calibri"/>
              </a:rPr>
              <a:t>Core engineer: system architecture, evidence-gate / PLC contracts, and cybersecurity for the inspection pipeline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775"/>
                </a:solidFill>
                <a:latin typeface="Calibri"/>
              </a:rPr>
              <a:t>Advisor: Prof. Kris Singh · Visiting Professor, Tsinghua University · Founder &amp; CEO, SRII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074920"/>
            <a:ext cx="11338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This prototype validates inspection, evidence gating, and fail-closed contracts on real optical and multimodal evidence. Production security hardening such as mTLS, RBAC, secret rotation, and OT segmentation remains part of the industrialization roadmap.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Decision objective: prove a defensible inline inspection architecture. Supervised factory pilot is the next gate.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02    |    0:35–1:15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6766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The defect is tiny. An automatic PASS is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54480"/>
            <a:ext cx="6766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A1F2B"/>
                </a:solidFill>
                <a:latin typeface="Calibri"/>
              </a:rPr>
              <a:t>Electrode coating defects become scrap, rework, or untraceable cell risk.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5C6775"/>
                </a:solidFill>
                <a:latin typeface="Calibri"/>
              </a:rPr>
              <a:t>A detector that ranks anomalies well can still be unsafe to act on if sensors disagree, calibration is unverified, or the PLC does not acknowledge.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Academic detection answers how to detect. A factory needs when a detection is safe enough to act 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3931920"/>
            <a:ext cx="676656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393192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069080"/>
            <a:ext cx="6400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8102E"/>
                </a:solidFill>
                <a:latin typeface="Calibri"/>
              </a:rPr>
              <a:t>MEASURED ON REAL OPTICAL DATA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88 held-out images · mAP50 0.634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Public CoatingVision image-disjoint test split, seed 71; not factory roll-disjoint.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502920"/>
            <a:ext cx="4297680" cy="56692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oating_surface_held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868680"/>
            <a:ext cx="4023360" cy="3017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89520" y="5349240"/>
            <a:ext cx="4023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Real coating surface (held-out CoatingVision sample). RGB-only. Not a multimodal plant capture.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03    |    1:15–2:00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Two evidence lanes. One fail-closed contract.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80160"/>
            <a:ext cx="5532120" cy="4846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73152" cy="484632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5166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F7B45"/>
                </a:solidFill>
                <a:latin typeface="Calibri"/>
              </a:rPr>
              <a:t>LANE A  ·  IMPLEMENTED</a:t>
            </a: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RGB YOLO26n detect / ONNX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FastAPI  ·  SQLite PENDING→final  ·  OPC UA / Modbus command+ACK  ·  HMAC-SHA256 authenticated certificate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C47B00"/>
                </a:solidFill>
                <a:latin typeface="Calibri"/>
              </a:rPr>
              <a:t>Thermal and profilometry are simulated adapters. They are not plant-instrument measurements.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280160"/>
            <a:ext cx="5532120" cy="4846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280160"/>
            <a:ext cx="73152" cy="484632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417320"/>
            <a:ext cx="5166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LANE B  ·  VALIDATION EXTENSION</a:t>
            </a: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LIBAD VIS + X-rayL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We extended validation to LIBAD's real aligned VIS and X-rayL data over its 10 official splits. The current adapter is an external validation experiment—not a claim of reproducing the authors' DA-Core paper results.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5EB8"/>
                </a:solidFill>
                <a:latin typeface="Calibri"/>
              </a:rPr>
              <a:t>Even a stronger anomaly detector still leaves a false-positive operating point unsuitable for direct line authority. That is why detection is separated from disposition.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04    |    2:00–2:45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Model output cannot self-release the line.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80160"/>
            <a:ext cx="365760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F7B45"/>
                </a:solidFill>
                <a:latin typeface="Calibri"/>
              </a:rPr>
              <a:t>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OPTIMAL inference, trained model, verified calibration, healthy traceability, PLC 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280160"/>
            <a:ext cx="365760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28016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8102E"/>
                </a:solidFill>
                <a:latin typeface="Calibri"/>
              </a:rPr>
              <a:t>REJECT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Evidence supports a defect and the communication contract completes.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1280160"/>
            <a:ext cx="365760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28016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47B00"/>
                </a:solidFill>
                <a:latin typeface="Calibri"/>
              </a:rPr>
              <a:t>HOLD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Disagreement, stale/missing sensor, timeout, unverified calibration, DB fault, or unconfirmed PLC.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703320"/>
            <a:ext cx="11338560" cy="24231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3703320"/>
            <a:ext cx="73152" cy="24231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40480"/>
            <a:ext cx="10972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SOFTWARE SAFETY SEMANTICS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Uncertainty becomes a controlled software state — not a claim of factory-qualified process safety.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Readiness failure → HOLD. PASS/REJECT require confirmed control evidence. No readiness gate, no automatic release. Software E-stop latches local interlock and requests PLC channels; it is not a safety-rated hardwired stop.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05    |    2:45–3:35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A1F2B"/>
                </a:solidFill>
                <a:latin typeface="Calibri"/>
              </a:rPr>
              <a:t>Readiness is visible before any line decision.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88720"/>
            <a:ext cx="7498079" cy="1115568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88720"/>
            <a:ext cx="73152" cy="1115568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9844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OPERATE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2763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Line disposition, model hashes, throughput evidence, PLC state, and inspection artifacts — one timestamped API snapshot.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423160"/>
            <a:ext cx="7498079" cy="1115568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2423160"/>
            <a:ext cx="73152" cy="1115568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53288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DIAGNOSE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86207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Simulation, mock PLC, or unverified calibration makes the authoritative disposition HOLD_REQUIRED.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657600"/>
            <a:ext cx="7498079" cy="1115568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657600"/>
            <a:ext cx="73152" cy="1115568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76732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TRACEABILITY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09651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Roll ledger, certificate HMAC, control-audit log. Missing data renders as NO DATA, not 0%.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92440" y="1188720"/>
            <a:ext cx="3657600" cy="489204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2440" y="1188720"/>
            <a:ext cx="73152" cy="489204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13258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DEPLOYMENT ROADMAP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1A1F2B"/>
                </a:solidFill>
                <a:latin typeface="Calibri"/>
              </a:rPr>
              <a:t>Shadow inspection → PLC/HIL → controlled decision assistance → per-line deployment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5C6775"/>
                </a:solidFill>
                <a:latin typeface="Calibri"/>
              </a:rPr>
              <a:t>Integration &amp; maintenance strategy: per-line integration + calibration, model monitoring, and traceability support.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C8102E"/>
                </a:solidFill>
                <a:latin typeface="Calibri"/>
              </a:rPr>
              <a:t>NOT IN PRODUCTION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Recipe / inject / 7-stage sim / LIBAD 90s demo / send offset — sandbox only.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Control = confirm-audit only.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06    |    3:35–4:20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A1F2B"/>
                </a:solidFill>
                <a:latin typeface="Calibri"/>
              </a:rPr>
              <a:t>Intent → command → ACK. HOLD is requested, then confirmed.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80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Inspect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RGB path + fail-safe deadline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280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280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PENDING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SQLite claims (batch, part)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1280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280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PLC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One command owner + ACK sequence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566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3566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Confirm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PASS/REJECT only after ACK; HOLD_REQUESTED ≠ HOLD_CONFIRMED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60" y="3566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51960" y="3566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3484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Certificate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HMAC-SHA256 authenticated tag over canonical payload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92440" y="3566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92440" y="3566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Audit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Operator confirm phrase is durable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07    |    4:20–5:10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A1F2B"/>
                </a:solidFill>
                <a:latin typeface="Calibri"/>
              </a:rPr>
              <a:t>Real optical evidence is reproducible — and bounded.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325880"/>
            <a:ext cx="2743200" cy="17830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73152" cy="17830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PRECISION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373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A1F2B"/>
                </a:solidFill>
                <a:latin typeface="Calibri"/>
              </a:rPr>
              <a:t>64.5%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860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88-image real optical test split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325880"/>
            <a:ext cx="2743200" cy="17830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1840" y="1325880"/>
            <a:ext cx="73152" cy="17830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141732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RECALL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17373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A1F2B"/>
                </a:solidFill>
                <a:latin typeface="Calibri"/>
              </a:rPr>
              <a:t>64.2%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2860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measured on configured checkpoint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1325880"/>
            <a:ext cx="2743200" cy="17830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1325880"/>
            <a:ext cx="73152" cy="17830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41732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mAP50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7373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A1F2B"/>
                </a:solidFill>
                <a:latin typeface="Calibri"/>
              </a:rPr>
              <a:t>63.4%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2860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measured on configured checkpoint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52559" y="1325880"/>
            <a:ext cx="2743200" cy="17830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52559" y="1325880"/>
            <a:ext cx="73152" cy="17830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9719" y="141732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mAP50-95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19" y="17373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47B00"/>
                </a:solidFill>
                <a:latin typeface="Calibri"/>
              </a:rPr>
              <a:t>35.4%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19" y="22860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IoU 0.50:0.95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246120"/>
            <a:ext cx="11338560" cy="9601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" y="3246120"/>
            <a:ext cx="73152" cy="96012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333756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5EB8"/>
                </a:solidFill>
                <a:latin typeface="Calibri"/>
              </a:rPr>
              <a:t>INFERENCE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59.5 ms/image  ·  CPU evaluation  ·  model inference only  ·  not factory-line throughput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343400"/>
            <a:ext cx="11338560" cy="17830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343400"/>
            <a:ext cx="73152" cy="17830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480560"/>
            <a:ext cx="109728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5EB8"/>
                </a:solidFill>
                <a:latin typeface="Calibri"/>
              </a:rPr>
              <a:t>EVIDENCE IDENTITY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1A1F2B"/>
                </a:solidFill>
                <a:latin typeface="Calibri"/>
              </a:rPr>
              <a:t>88 test images  ·  seed 71  ·  weights f72a8f2b…  ·  dataset d1db7823…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Public real optical image-disjoint split. Not roll-disjoint; not factory qualification. Timing excludes camera exposure, transport, and PLC ACK.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08    |    5:10–6:00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A1F2B"/>
                </a:solidFill>
                <a:latin typeface="Calibri"/>
              </a:rPr>
              <a:t>Let the loops run. Then say the close.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5623560" cy="3703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24128"/>
            <a:ext cx="5349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47B00"/>
                </a:solidFill>
                <a:latin typeface="Calibri"/>
              </a:rPr>
              <a:t>RGB LANE  ·  image_1548  ·  HOLD</a:t>
            </a:r>
          </a:p>
        </p:txBody>
      </p:sp>
      <p:pic>
        <p:nvPicPr>
          <p:cNvPr id="8" name="Picture 7" descr="rgb_hold_replay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561" y="1325880"/>
            <a:ext cx="5159396" cy="32461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72200" y="960120"/>
            <a:ext cx="5623560" cy="3703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024128"/>
            <a:ext cx="5349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LIBAD GATE  ·  fixture PASS / REJECT / REJECT / HOLD</a:t>
            </a:r>
          </a:p>
        </p:txBody>
      </p:sp>
      <p:pic>
        <p:nvPicPr>
          <p:cNvPr id="11" name="Picture 10" descr="libad_gate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812" y="1325880"/>
            <a:ext cx="4296335" cy="32461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4800600"/>
            <a:ext cx="113385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CLOSE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1A1F2B"/>
                </a:solidFill>
                <a:latin typeface="Calibri"/>
              </a:rPr>
              <a:t>The model finds defects. The evidence gate controls when software may authorize a disposition.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6775"/>
                </a:solidFill>
                <a:latin typeface="Calibri"/>
              </a:rPr>
              <a:t>SecureCoating covers the inspection-to-quality-decision segment of an autonomous materials characterization pipeline. Property prediction is the next validation stage once plant-linked labels exist.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775"/>
                </a:solidFill>
                <a:latin typeface="Calibri"/>
              </a:rPr>
              <a:t>Deployment roadmap: shadow inspection → PLC/HIL → controlled decision assistance → per-line deployment. Production mTLS/RBAC/OT hardening remains on the industrialization roadmap.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SecureCoating-Vision: Evidence-Gated Multimodal AI for Battery Electrode Inspection and Traceable Quality Decisions</dc:title>
  <dc:subject>Track 4 final defense — Team 71 / HUFLIT</dc:subject>
  <dc:creator>Trinh Hoang Tu</dc:creator>
  <cp:keywords/>
  <dc:description>SecureCoating-Vision defense deck. Generated by scripts/generate_defense_slides.py.</dc:description>
  <cp:lastModifiedBy>Trinh Hoang Tu</cp:lastModifiedBy>
  <cp:revision>1</cp:revision>
  <dcterms:created xsi:type="dcterms:W3CDTF">2013-01-27T09:14:16Z</dcterms:created>
  <dcterms:modified xsi:type="dcterms:W3CDTF">2013-01-27T09:15:58Z</dcterms:modified>
  <cp:category>AI + Materials Competition</cp:category>
</cp:coreProperties>
</file>