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"/>
            <a:ext cx="4297680" cy="93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201168"/>
            <a:ext cx="4983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1">
                <a:solidFill>
                  <a:srgbClr val="1F5EB8"/>
                </a:solidFill>
                <a:latin typeface="Calibri"/>
              </a:rPr>
              <a:t>GLOBAL AI + MATERIALS INNOVATION COMPETITION 2026</a:t>
            </a:r>
          </a:p>
          <a:p>
            <a:pPr algn="r">
              <a:spcAft>
                <a:spcPts val="200"/>
              </a:spcAft>
            </a:pPr>
            <a:r>
              <a:rPr sz="1200" b="1">
                <a:solidFill>
                  <a:srgbClr val="1A1F2B"/>
                </a:solidFill>
                <a:latin typeface="Calibri"/>
              </a:rPr>
              <a:t>TRACK 4  ·  AI + MATERIALS TESTING AND CHARACTERIZATION</a:t>
            </a:r>
          </a:p>
          <a:p>
            <a:pPr algn="r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人工智能 + 材料检测与表征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SecureCoating-Vision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783080"/>
            <a:ext cx="11338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SecureCoating Vision: A High-Throughput and Zero-Trust Edge-Cloud Pipeline for Inline Battery Electrode Defect Inspection and Traceable Quality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6324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5EB8"/>
                </a:solidFill>
                <a:latin typeface="Calibri"/>
              </a:rPr>
              <a:t>Evidence-Gated Multimodal Inspection for Battery Electrode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520440"/>
            <a:ext cx="11338560" cy="127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71  ·  Trịnh Hoàng Tú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84047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AFFILIATION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1147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HUFLIT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TRACK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4  ·  AI + Materials Testing and Characterization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754879"/>
            <a:ext cx="5532120" cy="8686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754879"/>
            <a:ext cx="73152" cy="86868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846319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ADVISOR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0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Prof. Kris Singh  ·  SRII / Tsinghua (visiting)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Decision objective: prove a defensible inline inspection architecture. Supervised factory pilot is the next gate.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02    |    0:35–1:15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6766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The defect is tiny. An automatic PASS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54480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A1F2B"/>
                </a:solidFill>
                <a:latin typeface="Calibri"/>
              </a:rPr>
              <a:t>Electrode coating defects become scrap, rework, or untraceable cell risk.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5C6775"/>
                </a:solidFill>
                <a:latin typeface="Calibri"/>
              </a:rPr>
              <a:t>A detector that ranks anomalies well can still be unsafe to act on if sensors disagree, calibration is unverified, or the PLC does not acknowledge.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Academic detection answers how to detect. A factory needs when a detection is safe enough to act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931920"/>
            <a:ext cx="676656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06908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MEASURED ON REAL OPTICAL DATA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held-out images · mAP50 0.634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Public CoatingVision image-disjoint split, seed 71. Not factory roll-disjoint; HIL and calibration remain pilot gates.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502920"/>
            <a:ext cx="4297680" cy="566928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ating_surfac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868680"/>
            <a:ext cx="402336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534924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Real coating surface (held-out CoatingVision sample). RGB-only. Not a multimodal plant capture.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03    |    1:15–2:00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Two evidence lanes. One fail-closed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F7B45"/>
                </a:solidFill>
                <a:latin typeface="Calibri"/>
              </a:rPr>
              <a:t>LANE A  ·  IMPLEMENTED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RGB YOLO26n detect / ONNX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FastAPI  ·  SQLite PENDING→final  ·  OPC UA / Modbus command+ACK  ·  HMAC certificate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C47B00"/>
                </a:solidFill>
                <a:latin typeface="Calibri"/>
              </a:rPr>
              <a:t>Thermal and profilometry are simulated adapters. They are not plant-instrument measurements.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32120" cy="4846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73152" cy="484632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5166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LANE B  ·  VALIDATION EXTENSION</a:t>
            </a:r>
          </a:p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LIBAD VIS + X-rayL adapter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Official mount hashed. Numpy 10-seed ~AUROC 0.70 / FPR95 0.84. Authors' runner interim DINOv2 (1 seed) ~AUROC 0.856 / FPR95 0.716 — still not paper DINOv3. Demo cases stay protocol fixtures.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5EB8"/>
                </a:solidFill>
                <a:latin typeface="Calibri"/>
              </a:rPr>
              <a:t>DA-Core is Sui et al. SecureCoating-Vision adds the evidence gate, not a new detector claim.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04    |    2:00–2:45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Model output cannot self-release the 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F7B45"/>
                </a:solidFill>
                <a:latin typeface="Calibri"/>
              </a:rP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OPTIMAL inference, trained model, verified calibration, healthy traceability, PLC 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102E"/>
                </a:solidFill>
                <a:latin typeface="Calibri"/>
              </a:rPr>
              <a:t>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Evidence supports a defect and the communication contract completes.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280160"/>
            <a:ext cx="3657600" cy="21945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73152" cy="21945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47B00"/>
                </a:solidFill>
                <a:latin typeface="Calibri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A1F2B"/>
                </a:solidFill>
                <a:latin typeface="Calibri"/>
              </a:rPr>
              <a:t>Disagreement, stale/missing sensor, timeout, unverified calibration, DB fault, or unconfirmed PLC.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703320"/>
            <a:ext cx="11338560" cy="24231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73152" cy="24231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404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SOFTWARE SAFETY SEMANTICS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Uncertainty becomes a controlled software state — not a claim of factory-qualified process safety.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6775"/>
                </a:solidFill>
                <a:latin typeface="Calibri"/>
              </a:rPr>
              <a:t>Local LIBAD adapter gate metrics (escape ~51% / HOLD ~5%) evaluate semantics, not a plant operating point. Software E-stop latches local interlock and requests PLC channels; it is not a safety-rated hardwired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05    |    2:45–3:35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Readiness is visible before any line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984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OPERATE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Line disposition, model hashes, throughput evidence, PLC state, and inspection artifacts — one timestamped API snapshot.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42316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3288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DIAGNOSE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6207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Simulation, mock PLC, or unverified calibration makes the authoritative disposition HOLD_REQUIRED.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657600"/>
            <a:ext cx="7498079" cy="1115568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657600"/>
            <a:ext cx="73152" cy="1115568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76732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5EB8"/>
                </a:solidFill>
                <a:latin typeface="Calibri"/>
              </a:rPr>
              <a:t>TRACEABILITY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96512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A1F2B"/>
                </a:solidFill>
                <a:latin typeface="Calibri"/>
              </a:rPr>
              <a:t>Roll ledger, certificate HMAC, control-audit log. Missing data renders as NO DATA, not 0%.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1188720"/>
            <a:ext cx="3657600" cy="489204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188720"/>
            <a:ext cx="73152" cy="489204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258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8102E"/>
                </a:solidFill>
                <a:latin typeface="Calibri"/>
              </a:rPr>
              <a:t>NOT IN PRODUCTION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Recipe sliders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Defect injection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7-stage simulator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LIBAD 90s demo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1F2B"/>
                </a:solidFill>
                <a:latin typeface="Calibri"/>
              </a:rPr>
              <a:t>Send offset to PLC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Sandbox-only features stay isolated from the operating surface.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Control = confirm-audit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06    |    3:35–4:20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Intent → command → ACK. HOLD is requested, then confirmed.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RGB path + fail-safe deadline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SQLite claims (batch, part)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280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80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444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783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331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One command owner + ACK sequence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Confirm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PASS/REJECT only after ACK; HOLD_REQUESTED ≠ HOLD_CONFIRMED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HMAC-SHA256 over canonical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3566160"/>
            <a:ext cx="3657600" cy="20574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566160"/>
            <a:ext cx="73152" cy="20574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5EB8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A1F2B"/>
                </a:solidFill>
                <a:latin typeface="Calibr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6177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Operator confirm phrase is durable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07    |    4:20–5:10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A1F2B"/>
                </a:solidFill>
                <a:latin typeface="Calibri"/>
              </a:rPr>
              <a:t>Real optical evidence is reproducible — and bounded.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88-image real optical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Calibri"/>
              </a:rPr>
              <a:t>63.4%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measured on configured checkpoint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59" y="1417320"/>
            <a:ext cx="2743200" cy="196596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59" y="1417320"/>
            <a:ext cx="73152" cy="196596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15361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C6775"/>
                </a:solidFill>
                <a:latin typeface="Calibri"/>
              </a:rPr>
              <a:t>mAP50-95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47B00"/>
                </a:solidFill>
                <a:latin typeface="Calibri"/>
              </a:rPr>
              <a:t>35.4%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468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C6775"/>
                </a:solidFill>
                <a:latin typeface="Calibri"/>
              </a:rPr>
              <a:t>IoU 0.50:0.95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611880"/>
            <a:ext cx="11338560" cy="251460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73152" cy="2514600"/>
          </a:xfrm>
          <a:prstGeom prst="rect">
            <a:avLst/>
          </a:prstGeom>
          <a:solidFill>
            <a:srgbClr val="1F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5EB8"/>
                </a:solidFill>
                <a:latin typeface="Calibri"/>
              </a:rPr>
              <a:t>EVIDENCE IDENTITY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88 test images  ·  seed 71  ·  weights f72a8f2b…  ·  dataset d1db7823…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C6775"/>
                </a:solidFill>
                <a:latin typeface="Calibri"/>
              </a:rPr>
              <a:t>Public real optical image-disjoint split. Not roll-disjoint; not factory qualification.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D5D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0116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08    |    5:10–6:00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A1F2B"/>
                </a:solidFill>
                <a:latin typeface="Calibri"/>
              </a:rPr>
              <a:t>Let the loops run. Then say the close.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47B00"/>
                </a:solidFill>
                <a:latin typeface="Calibri"/>
              </a:rPr>
              <a:t>RGB LANE  ·  image_1548  ·  HOLD</a:t>
            </a:r>
          </a:p>
        </p:txBody>
      </p:sp>
      <p:pic>
        <p:nvPicPr>
          <p:cNvPr id="8" name="Picture 7" descr="rgb_hold_replay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349240" cy="33655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72200" y="960120"/>
            <a:ext cx="5623560" cy="3703320"/>
          </a:xfrm>
          <a:prstGeom prst="rect">
            <a:avLst/>
          </a:prstGeom>
          <a:solidFill>
            <a:srgbClr val="F4F7FB"/>
          </a:solidFill>
          <a:ln w="6350">
            <a:solidFill>
              <a:srgbClr val="D5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024128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LIBAD GATE  ·  fixture PASS / REJECT / REJECT / HOLD</a:t>
            </a:r>
          </a:p>
        </p:txBody>
      </p:sp>
      <p:pic>
        <p:nvPicPr>
          <p:cNvPr id="11" name="Picture 10" descr="libad_gat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49240" cy="404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4800600"/>
            <a:ext cx="11338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5EB8"/>
                </a:solidFill>
                <a:latin typeface="Calibri"/>
              </a:rPr>
              <a:t>CLOSE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A1F2B"/>
                </a:solidFill>
                <a:latin typeface="Calibri"/>
              </a:rPr>
              <a:t>The model finds defects. The evidence gate controls when software may authorize a disposition.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C6775"/>
                </a:solidFill>
                <a:latin typeface="Calibri"/>
              </a:rPr>
              <a:t>Registered title states the target Zero-Trust Edge-Cloud architecture; this artifact validates inspection, evidence, and fail-closed contracts — not completed mTLS/RBAC/OT. GIFs loop checked-in artifacts. Authors' interim is DINOv2 1-seed, not DINOv3.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C6775"/>
                </a:solidFill>
                <a:latin typeface="Calibri"/>
              </a:rPr>
              <a:t>Team 71  ·  Trịnh Hoàng Tú  ·  HUFLIT  ·  Track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1">
                <a:solidFill>
                  <a:srgbClr val="5C6775"/>
                </a:solidFill>
                <a:latin typeface="Calibri"/>
              </a:rPr>
              <a:t>TEAM 71  /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