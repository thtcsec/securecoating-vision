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E5FF"/>
                </a:solidFill>
                <a:latin typeface="Calibri"/>
              </a:rPr>
              <a:t>GLOBAL AI + MATERIALS INNOVATION COMPETITION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008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SecureCoating-Vision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51560"/>
            <a:ext cx="113385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SecureCoating Vision: A High-Throughput and Zero-Trust Edge-Cloud Pipeline for Inline Battery Electrode Defect Inspection and Traceable Quality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60604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0E5FF"/>
                </a:solidFill>
                <a:latin typeface="Calibri"/>
              </a:rPr>
              <a:t>Evidence-Gated Multimodal Inspection for Battery Electrode Manufacturing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246120"/>
            <a:ext cx="5532120" cy="914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35584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3016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71  ·  Trịnh Hoàng Tú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3246120"/>
            <a:ext cx="5532120" cy="914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335584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AFFILIATION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63016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HUFLIT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297679"/>
            <a:ext cx="5532120" cy="914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407407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TRACK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81727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  ·  AI + Materials Testing and Characterization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4297679"/>
            <a:ext cx="5532120" cy="914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4407407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ADVISOR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681727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Prof. Kris Singh  ·  SRII / Tsinghua (visiting)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54864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D600"/>
                </a:solidFill>
                <a:latin typeface="Calibri"/>
              </a:rPr>
              <a:t>Evidence: real optical detector + fail-closed decision contract · supervised factory pilot is the next gate.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02    0:35–1:15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6766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The defect is tiny. An automatic PASS is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Electrode coating defects become scrap, rework, or untraceable cell risk.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8C9BAE"/>
                </a:solidFill>
                <a:latin typeface="Calibri"/>
              </a:rPr>
              <a:t>A detector that ranks anomalies well can still be unsafe to act on if sensors disagree, calibration is unverified, or the PLC does not acknowledge.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00E5FF"/>
                </a:solidFill>
                <a:latin typeface="Calibri"/>
              </a:rPr>
              <a:t>Academic detection answers how to detect. A factory needs when a detection is safe enough to act 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931920"/>
            <a:ext cx="6766560" cy="21945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069080"/>
            <a:ext cx="6400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1744"/>
                </a:solidFill>
                <a:latin typeface="Calibri"/>
              </a:rPr>
              <a:t>MEASURED ON REAL OPTICAL DATA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88 held-out images · mAP50 0.633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8C9BAE"/>
                </a:solidFill>
                <a:latin typeface="Calibri"/>
              </a:rPr>
              <a:t>Public CoatingVision image-disjoint split, seed 71. Not factory roll-disjoint; HIL and calibration remain pilot gates.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502920"/>
            <a:ext cx="4297680" cy="566928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868680"/>
            <a:ext cx="4023360" cy="3017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20" y="534924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C9BAE"/>
                </a:solidFill>
                <a:latin typeface="Calibri"/>
              </a:rPr>
              <a:t>Real coating surface (held-out CoatingVision sample). RGB-only. Not a multimodal plant capture.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03    1:15–2:00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Two evidence lanes. One fail-closed contract.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5532120" cy="484632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676"/>
                </a:solidFill>
                <a:latin typeface="Calibri"/>
              </a:rPr>
              <a:t>LANE A  ·  IMPLEMENTED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RGB YOLO26n detect / ONNX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FastAPI  ·  SQLite PENDING→final  ·  OPC UA / Modbus command+ACK  ·  HMAC certificate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D600"/>
                </a:solidFill>
                <a:latin typeface="Calibri"/>
              </a:rPr>
              <a:t>Thermal and profilometry are simulated adapters. They are not plant-instrument measurements.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532120" cy="484632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LANE B  ·  VALIDATION EXTENSION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LIBAD VIS + X-rayL adapter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Official 10-seed ran on a hash-verified mount with the local CPU numpy descriptor (AUROC ~0.70, FPR95 ~0.84). Not DINOv3. Demo cases stay protocol fixtures.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E5FF"/>
                </a:solidFill>
                <a:latin typeface="Calibri"/>
              </a:rPr>
              <a:t>DA-Core is Sui et al. SecureCoating-Vision adds the evidence gate, not a new detector claim.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04    2:00–2:45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Model output cannot self-release the 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3657600" cy="21945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0E676"/>
                </a:solidFill>
                <a:latin typeface="Calibri"/>
              </a:rPr>
              <a:t>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OPTIMAL inference, trained model, verified calibration, healthy traceability, PLC 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280160"/>
            <a:ext cx="3657600" cy="21945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1744"/>
                </a:solidFill>
                <a:latin typeface="Calibri"/>
              </a:rPr>
              <a:t>REJECT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Evidence supports a defect and the communication contract completes.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1280160"/>
            <a:ext cx="3657600" cy="21945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D600"/>
                </a:solidFill>
                <a:latin typeface="Calibri"/>
              </a:rPr>
              <a:t>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Disagreement, stale/missing sensor, timeout, unverified calibration, DB fault, or unconfirmed PLC.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703320"/>
            <a:ext cx="11338560" cy="24231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4048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INDUSTRIAL MEANING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Uncertainty becomes a controlled operational state, not a hidden false-positive rate.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Software E-stop latches local interlock and requests PLC channels. It is not a safety-rated hardwired stop.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05    2:45–3:35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Readiness is visible before any line decision.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7498079" cy="1115568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9844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E5FF"/>
                </a:solidFill>
                <a:latin typeface="Calibri"/>
              </a:rPr>
              <a:t>OPERATE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Line disposition, model hashes, throughput evidence, PLC state, and inspection artifacts — one timestamped API snapshot.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423160"/>
            <a:ext cx="7498079" cy="1115568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E5FF"/>
                </a:solidFill>
                <a:latin typeface="Calibri"/>
              </a:rPr>
              <a:t>DIAGNOSE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86207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Simulation, mock PLC, or unverified calibration makes the authoritative disposition HOLD_REQUIRED.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57600"/>
            <a:ext cx="7498079" cy="1115568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76732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E5FF"/>
                </a:solidFill>
                <a:latin typeface="Calibri"/>
              </a:rPr>
              <a:t>TRACEABILITY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09651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Roll ledger, certificate HMAC, control-audit log. Missing data renders as NO DATA, not 0%.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188720"/>
            <a:ext cx="3657600" cy="489204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3258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1744"/>
                </a:solidFill>
                <a:latin typeface="Calibri"/>
              </a:rPr>
              <a:t>NOT IN PRODUCTION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Recipe sliders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Defect injection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7-stage simulator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LIBAD 90s demo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Send offset to PLC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C9BAE"/>
                </a:solidFill>
                <a:latin typeface="Calibri"/>
              </a:rPr>
              <a:t>Sandbox-only features stay isolated from the operating surface.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Control = confirm-audit only.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06    3:35–4:20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Trace first. Command second. ACK or HOLD.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3657600" cy="2057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Inspect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RGB path + fail-safe deadline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3657600" cy="2057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PENDING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SQLite claims (batch, part)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280160"/>
            <a:ext cx="3657600" cy="2057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PLC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One command owner + ACK sequence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566160"/>
            <a:ext cx="3657600" cy="2057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Finalize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PASS/REJECT, or HOLD if ACK fails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60" y="3566160"/>
            <a:ext cx="3657600" cy="2057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Certificate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HMAC-SHA256 over canonical payload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92440" y="3566160"/>
            <a:ext cx="3657600" cy="2057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Audit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Operator confirm phrase is durable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07    4:20–5:10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Real optical evidence is reproducible — and bounded.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2743200" cy="19659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C9BAE"/>
                </a:solidFill>
                <a:latin typeface="Calibri"/>
              </a:rPr>
              <a:t>PRECISION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64.5%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C9BAE"/>
                </a:solidFill>
                <a:latin typeface="Calibri"/>
              </a:rPr>
              <a:t>88-image real optical test split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417320"/>
            <a:ext cx="2743200" cy="19659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C9BAE"/>
                </a:solidFill>
                <a:latin typeface="Calibri"/>
              </a:rPr>
              <a:t>RECALL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64.2%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C9BAE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2743200" cy="19659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C9BAE"/>
                </a:solidFill>
                <a:latin typeface="Calibri"/>
              </a:rPr>
              <a:t>mAP50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63.3%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C9BAE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59" y="1417320"/>
            <a:ext cx="2743200" cy="19659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19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C9BAE"/>
                </a:solidFill>
                <a:latin typeface="Calibri"/>
              </a:rPr>
              <a:t>mAP50-95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19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D600"/>
                </a:solidFill>
                <a:latin typeface="Calibri"/>
              </a:rPr>
              <a:t>35.4%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19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C9BAE"/>
                </a:solidFill>
                <a:latin typeface="Calibri"/>
              </a:rPr>
              <a:t>IoU 0.50:0.95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611880"/>
            <a:ext cx="11338560" cy="25146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79476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E5FF"/>
                </a:solidFill>
                <a:latin typeface="Calibri"/>
              </a:rPr>
              <a:t>EVIDENCE IDENTITY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88 test images  ·  seed 71  ·  weights f72a8f2b…  ·  dataset 3c3f2773…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Public real optical image-disjoint split. Not roll-disjoint; not factory qualification.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08    5:10–6:00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Real detection. Safe demo disposition. Clear next gate.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51560"/>
            <a:ext cx="5532120" cy="1115568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61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676"/>
                </a:solidFill>
                <a:latin typeface="Calibri"/>
              </a:rPr>
              <a:t>CASE 1  ·  REAL OPTICAL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0876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CoatingVision image · DOI + SHA-256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051560"/>
            <a:ext cx="5532120" cy="1115568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161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1744"/>
                </a:solidFill>
                <a:latin typeface="Calibri"/>
              </a:rPr>
              <a:t>CASE 2  ·  surface_crack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50876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confidence 0.53 · artifact f72a8f2b…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286000"/>
            <a:ext cx="5532120" cy="1115568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39572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1744"/>
                </a:solidFill>
                <a:latin typeface="Calibri"/>
              </a:rPr>
              <a:t>CASE 3  ·  PYTORCH + ONNX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74320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same 2-class map · hash-pinned artifacts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2286000"/>
            <a:ext cx="5532120" cy="1115568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239572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D600"/>
                </a:solidFill>
                <a:latin typeface="Calibri"/>
              </a:rPr>
              <a:t>CASE 4  ·  HOLD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74320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mock PLC + unverified calibration block release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657600"/>
            <a:ext cx="6949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CLOSE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The model finds defects. The evidence gate controls when the line may act.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8C9BAE"/>
                </a:solidFill>
                <a:latin typeface="Calibri"/>
              </a:rPr>
              <a:t>Next gate: supervised pilot with HIL, factory calibration, and roll-disjoint data.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3611880"/>
            <a:ext cx="4251960" cy="246888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oatingvision_model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749039"/>
            <a:ext cx="3977639" cy="298322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