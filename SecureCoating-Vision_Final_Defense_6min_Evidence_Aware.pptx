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distinguished judges. I am Trịnh Hoàng Tú from Team 71.</a:t>
            </a:r>
          </a:p>
          <a:p>
            <a:endParaRPr/>
          </a:p>
          <a:p>
            <a:r>
              <a:t>SecureCoating-Vision is designed as an inline decision system: it converts physical sensing into a timestamped, spatially traceable quality action. Our contribution is not another vision demo. It is the engineering bridge from photons on a moving electrode to a guarded factory decision.</a:t>
            </a:r>
          </a:p>
          <a:p>
            <a:endParaRPr/>
          </a:p>
          <a:p>
            <a:r>
              <a:t>In six minutes, I will show the physical budget, the multi-modal timing anchor, the measurement guard bands, and the deployment gate we use before claiming production readiness.</a:t>
            </a:r>
          </a:p>
          <a:p>
            <a:endParaRPr/>
          </a:p>
          <a:p>
            <a:r>
              <a:t>[Sources]</a:t>
            </a:r>
          </a:p>
          <a:p>
            <a:r>
              <a:t>Project identity and team details supplied by Team 71.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gigafactory does not fail because it cannot draw a bounding box. It fails when a critical electrode defect travels downstream without a reliable location, a physical measurement, or a disposition.</a:t>
            </a:r>
          </a:p>
          <a:p>
            <a:endParaRPr/>
          </a:p>
          <a:p>
            <a:r>
              <a:t>The separator reference is 14 micrometres in the configured cell-stack model. That is a risk-design reference, not a universal threshold. Surface-only inspection misses hidden thermal and topographic signatures. Our task is to bring those signals into one coordinate system and make the reject decision traceable.</a:t>
            </a:r>
          </a:p>
          <a:p>
            <a:endParaRPr/>
          </a:p>
          <a:p>
            <a:r>
              <a:t>[Sources]</a:t>
            </a:r>
          </a:p>
          <a:p>
            <a:r>
              <a:t>Prototype image: data/test_set/images/defect_val_00000.jpg (procedurally generated). Separator reference: src/inference/electrode_metrology.py.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architecture. It starts with the encoder because coordinates matter before AI matters. Two 8K line-scan cameras cover the web; thermal and height channels add material physics; inference produces a mask; metrology turns the mask into a measured event; the interlock schedules an action; and the digital twin connects defects to upstream process hypotheses.</a:t>
            </a:r>
          </a:p>
          <a:p>
            <a:endParaRPr/>
          </a:p>
          <a:p>
            <a:r>
              <a:t>The key proof point is the optical budget. With magnification 0.17 and 42.24 micrometres per object-space pixel, 1.8 metres per second requires 42.6 kilohertz line rate. The exposure limit is set to stay under 0.4 pixels of blur. These are engineering calculations that must be bench-verified with the selected camera and illumination.</a:t>
            </a:r>
          </a:p>
          <a:p>
            <a:endParaRPr/>
          </a:p>
          <a:p>
            <a:r>
              <a:t>[Sources]</a:t>
            </a:r>
          </a:p>
          <a:p>
            <a:r>
              <a:t>src/industrial/optical_budget.py.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Multi-modal fusion fails if it uses processing time as a coordinate. Our FrameContext records the roll ID, encoder count, material position and monotonic capture time when the photons arrive. Every later operation inherits that anchor.</a:t>
            </a:r>
          </a:p>
          <a:p>
            <a:endParaRPr/>
          </a:p>
          <a:p>
            <a:r>
              <a:t>We fuse RGB, traveling-wave thermal response, and 3D laser height into five channels: R, G, B, thermal phase or differential, and height. Importantly, the current repository validates this logic with simulated secondary streams. The production claim is therefore the architecture and anchoring method; hardware calibration and temporal phase validation are pilot gates.</a:t>
            </a:r>
          </a:p>
          <a:p>
            <a:endParaRPr/>
          </a:p>
          <a:p>
            <a:r>
              <a:t>[Sources]</a:t>
            </a:r>
          </a:p>
          <a:p>
            <a:r>
              <a:t>src/industrial/web_synchronizer.py; src/inference/sensor_fusion.py (mock/simulated secondary feeds).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do not stop at segmentation. We calculate geometry from minAreaRect, level the local 3D baseline, estimate topographic measures, and attach an expanded uncertainty using a GUM-style k equals two budget. The disposition uses a guard band: the decision limit is tightened by uncertainty before assigning Grade A, B, or C.</a:t>
            </a:r>
          </a:p>
          <a:p>
            <a:endParaRPr/>
          </a:p>
          <a:p>
            <a:r>
              <a:t>There is a standards correction that must remain in the final deck. T/CIAPS 0006 is a PCS–BMS CAN protocol, and QC/T 743-2006 is abolished. They cannot be presented as electrode inspection compliance. In production, each limit must be mapped to an approved plant SOP, customer specification, or applicable current standard.</a:t>
            </a:r>
          </a:p>
          <a:p>
            <a:endParaRPr/>
          </a:p>
          <a:p>
            <a:r>
              <a:t>[Sources]</a:t>
            </a:r>
          </a:p>
          <a:p>
            <a:r>
              <a:t>src/inference/electrode_metrology.py; national standards platform (QC/T 743-2006 status); T/CIAPS 0006-2020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fast neural network is not a fast rejection system. We decompose the chain from tile formation to air-jet propagation. The expected P50 is 32.9 milliseconds, P99.9 is 35.9 milliseconds, and with a three-millisecond guard the design latency is 38.9 milliseconds. At 1.8 metres per second and 500 millimetres camera-to-ejector spacing, that gives a 7.1-times design buffer.</a:t>
            </a:r>
          </a:p>
          <a:p>
            <a:endParaRPr/>
          </a:p>
          <a:p>
            <a:r>
              <a:t>However, these percentiles are Monte Carlo modeled in the current code. Modbus TCP and OPC UA are telemetry/control interfaces, not proof of a deterministic safety layer. The pilot exit criterion is a hardware-in-the-loop trace with encoder, PLC scan, valve response and P99.9 measurement.</a:t>
            </a:r>
          </a:p>
          <a:p>
            <a:endParaRPr/>
          </a:p>
          <a:p>
            <a:r>
              <a:t>[Sources]</a:t>
            </a:r>
          </a:p>
          <a:p>
            <a:r>
              <a:t>src/industrial/latency_budget.py (Monte Carlo status); calculated 500 / (1.8 × 0.0389).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digital twin is a map of the material, not a dashboard screenshot. Each event is located by machine direction, transverse position and slitting lane. The diagnostic engine then ranks process hypotheses.</a:t>
            </a:r>
          </a:p>
          <a:p>
            <a:endParaRPr/>
          </a:p>
          <a:p>
            <a:r>
              <a:t>We make an important causal distinction: a correlation is not a root cause. For example, reducing Dryer Zone 1 by four degrees is a controlled hypothesis, not an autonomous action. It must be constrained by the recipe, approved by process engineering, and verified on a holdout segment. The reported 84.2 percent scrap reduction must not be spoken as a result until raw pilot logs, baseline definition and independent roll evidence are available.</a:t>
            </a:r>
          </a:p>
          <a:p>
            <a:endParaRPr/>
          </a:p>
          <a:p>
            <a:r>
              <a:t>[Sources]</a:t>
            </a:r>
          </a:p>
          <a:p>
            <a:r>
              <a:t>src/industrial/web_synchronizer.py; src/traceability/root_cause_engine.py; src/traceability/roll_certificate.py; reported figure appears only in generated dossier.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closing position is simple: SecureCoating-Vision has an engineering architecture that is worth piloting, not a production claim that should be taken on faith.</a:t>
            </a:r>
          </a:p>
          <a:p>
            <a:endParaRPr/>
          </a:p>
          <a:p>
            <a:r>
              <a:t>We have authored 42 unit-test methods and a coherent optical design budget. The next proof must be real sensor streams, HIL timing, measurement-system analysis, and cross-lot probability of detection. We will not claim six thousand metres, 0.02 parts per million escape, or 84.2 percent scrap reduction without raw logs and independent evidence.</a:t>
            </a:r>
          </a:p>
          <a:p>
            <a:endParaRPr/>
          </a:p>
          <a:p>
            <a:r>
              <a:t>That discipline is exactly why we ask for a supervised pilot. It is the fastest route from credible DeepTech prototype to deployable quality system.</a:t>
            </a:r>
          </a:p>
          <a:p>
            <a:endParaRPr/>
          </a:p>
          <a:p>
            <a:r>
              <a:t>[Sources]</a:t>
            </a:r>
          </a:p>
          <a:p>
            <a:r>
              <a:t>tests/ (42 authored test methods); runtime test attempt recorded 2026-08-16; repository simulation markers and generated dossier.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
            <a:extLst>
              <a:ext uri="{FF2B5EF4-FFF2-40B4-BE49-F238E27FC236}">
                <a16:creationId xmlns:a16="http://schemas.microsoft.com/office/drawing/2014/main" id="{6254DD49-50FC-44AF-9406-302A9035BB58}"/>
              </a:ext>
            </a:extLst>
          </p:cNvPr>
          <p:cNvSpPr>
            <a:spLocks noGrp="1"/>
          </p:cNvSpPr>
          <p:nvPr/>
        </p:nvSpPr>
        <p:spPr>
          <a:xfrm>
            <a:off x="6601968" y="476249"/>
            <a:ext cx="5905500" cy="209550"/>
          </a:xfrm>
          <a:prstGeom prst="rect">
            <a:avLst/>
          </a:prstGeom>
          <a:noFill/>
          <a:ln w="0">
            <a:noFill/>
            <a:prstDash val="solid"/>
          </a:ln>
        </p:spPr>
        <p:txBody>
          <a:bodyPr/>
          <a:lstStyle/>
          <a:p>
            <a:pPr algn="l">
              <a:defRPr sz="975" b="1">
                <a:solidFill>
                  <a:srgbClr val="5F6670"/>
                </a:solidFill>
              </a:defRPr>
            </a:pPr>
            <a:r>
              <a:rPr sz="975" b="1">
                <a:solidFill>
                  <a:srgbClr val="5F6670"/>
                </a:solidFill>
              </a:rPr>
              <a:t>GLOBAL AI + MATERIALS INNOVATION COMPETITION 2026</a:t>
            </a:r>
          </a:p>
        </p:txBody>
      </p:sp>
      <p:sp>
        <p:nvSpPr>
          <p:cNvPr id="2" name="text">
            <a:extLst>
              <a:ext uri="{FF2B5EF4-FFF2-40B4-BE49-F238E27FC236}">
                <a16:creationId xmlns:a16="http://schemas.microsoft.com/office/drawing/2014/main" id="{A6E13659-F963-465E-B049-C0AEF1B09A73}"/>
              </a:ext>
            </a:extLst>
          </p:cNvPr>
          <p:cNvSpPr>
            <a:spLocks noGrp="1"/>
          </p:cNvSpPr>
          <p:nvPr/>
        </p:nvSpPr>
        <p:spPr>
          <a:xfrm>
            <a:off x="685800" y="1390650"/>
            <a:ext cx="8191500" cy="742950"/>
          </a:xfrm>
          <a:prstGeom prst="rect">
            <a:avLst/>
          </a:prstGeom>
          <a:noFill/>
          <a:ln w="0">
            <a:noFill/>
            <a:prstDash val="solid"/>
          </a:ln>
        </p:spPr>
        <p:txBody>
          <a:bodyPr/>
          <a:lstStyle/>
          <a:p>
            <a:pPr algn="l">
              <a:defRPr sz="4650" b="1">
                <a:solidFill>
                  <a:srgbClr val="111318"/>
                </a:solidFill>
              </a:defRPr>
            </a:pPr>
            <a:r>
              <a:rPr sz="4650" b="1">
                <a:solidFill>
                  <a:srgbClr val="111318"/>
                </a:solidFill>
              </a:rPr>
              <a:t>SecureCoating-Vision</a:t>
            </a:r>
          </a:p>
        </p:txBody>
      </p:sp>
      <p:sp>
        <p:nvSpPr>
          <p:cNvPr id="3" name="text">
            <a:extLst>
              <a:ext uri="{FF2B5EF4-FFF2-40B4-BE49-F238E27FC236}">
                <a16:creationId xmlns:a16="http://schemas.microsoft.com/office/drawing/2014/main" id="{9511CE02-2324-4876-8891-B630A8FC821F}"/>
              </a:ext>
            </a:extLst>
          </p:cNvPr>
          <p:cNvSpPr>
            <a:spLocks noGrp="1"/>
          </p:cNvSpPr>
          <p:nvPr/>
        </p:nvSpPr>
        <p:spPr>
          <a:xfrm>
            <a:off x="685800" y="2305050"/>
            <a:ext cx="6858000" cy="638175"/>
          </a:xfrm>
          <a:prstGeom prst="rect">
            <a:avLst/>
          </a:prstGeom>
          <a:noFill/>
          <a:ln w="0">
            <a:noFill/>
            <a:prstDash val="solid"/>
          </a:ln>
        </p:spPr>
        <p:txBody>
          <a:bodyPr/>
          <a:lstStyle/>
          <a:p>
            <a:pPr algn="l">
              <a:defRPr sz="1875" b="0">
                <a:solidFill>
                  <a:srgbClr val="111318"/>
                </a:solidFill>
              </a:defRPr>
            </a:pPr>
            <a:r>
              <a:rPr sz="1875" b="0">
                <a:solidFill>
                  <a:srgbClr val="111318"/>
                </a:solidFill>
              </a:rPr>
              <a:t>Multi-Sensor AI for Inline Battery-Electrode Inspection</a:t>
            </a:r>
          </a:p>
          <a:p>
            <a:pPr algn="l">
              <a:defRPr sz="1875" b="0">
                <a:solidFill>
                  <a:srgbClr val="111318"/>
                </a:solidFill>
              </a:defRPr>
            </a:pPr>
            <a:r>
              <a:rPr sz="1875" b="0">
                <a:solidFill>
                  <a:srgbClr val="111318"/>
                </a:solidFill>
              </a:rPr>
              <a:t>多传感器 AI 在线电极检测与闭环诊断平台</a:t>
            </a:r>
          </a:p>
        </p:txBody>
      </p:sp>
      <p:sp>
        <p:nvSpPr>
          <p:cNvPr id="4" name="rect">
            <a:extLst>
              <a:ext uri="{FF2B5EF4-FFF2-40B4-BE49-F238E27FC236}">
                <a16:creationId xmlns:a16="http://schemas.microsoft.com/office/drawing/2014/main" id="{5C1C884F-7231-446A-A699-874AE7EAF044}"/>
              </a:ext>
            </a:extLst>
          </p:cNvPr>
          <p:cNvSpPr>
            <a:spLocks noGrp="1"/>
          </p:cNvSpPr>
          <p:nvPr/>
        </p:nvSpPr>
        <p:spPr>
          <a:xfrm>
            <a:off x="685800" y="3371850"/>
            <a:ext cx="7239000" cy="19050"/>
          </a:xfrm>
          <a:prstGeom prst="rect">
            <a:avLst/>
          </a:prstGeom>
          <a:solidFill>
            <a:srgbClr val="3D8DFF"/>
          </a:solidFill>
          <a:ln w="9525">
            <a:solidFill>
              <a:srgbClr val="3D8DFF"/>
            </a:solidFill>
            <a:prstDash val="solid"/>
          </a:ln>
        </p:spPr>
        <p:txBody>
          <a:bodyPr/>
          <a:lstStyle/>
          <a:p>
            <a:endParaRPr lang="en-US"/>
          </a:p>
        </p:txBody>
      </p:sp>
      <p:sp>
        <p:nvSpPr>
          <p:cNvPr id="5" name="text">
            <a:extLst>
              <a:ext uri="{FF2B5EF4-FFF2-40B4-BE49-F238E27FC236}">
                <a16:creationId xmlns:a16="http://schemas.microsoft.com/office/drawing/2014/main" id="{0A4332EB-2612-4FAA-98C7-3E088002A590}"/>
              </a:ext>
            </a:extLst>
          </p:cNvPr>
          <p:cNvSpPr>
            <a:spLocks noGrp="1"/>
          </p:cNvSpPr>
          <p:nvPr/>
        </p:nvSpPr>
        <p:spPr>
          <a:xfrm>
            <a:off x="685800" y="3657600"/>
            <a:ext cx="7620000" cy="609600"/>
          </a:xfrm>
          <a:prstGeom prst="rect">
            <a:avLst/>
          </a:prstGeom>
          <a:noFill/>
          <a:ln w="0">
            <a:noFill/>
            <a:prstDash val="solid"/>
          </a:ln>
        </p:spPr>
        <p:txBody>
          <a:bodyPr/>
          <a:lstStyle/>
          <a:p>
            <a:pPr algn="l">
              <a:defRPr sz="1350" b="0">
                <a:solidFill>
                  <a:srgbClr val="5F6670"/>
                </a:solidFill>
              </a:defRPr>
            </a:pPr>
            <a:r>
              <a:rPr sz="1350" b="0">
                <a:solidFill>
                  <a:srgbClr val="5F6670"/>
                </a:solidFill>
              </a:rPr>
              <a:t>Team 71  •  Trịnh Hoàng Tú, HUFLIT</a:t>
            </a:r>
          </a:p>
          <a:p>
            <a:pPr algn="l">
              <a:defRPr sz="1350" b="0">
                <a:solidFill>
                  <a:srgbClr val="5F6670"/>
                </a:solidFill>
              </a:defRPr>
            </a:pPr>
            <a:r>
              <a:rPr sz="1350" b="0">
                <a:solidFill>
                  <a:srgbClr val="5F6670"/>
                </a:solidFill>
              </a:rPr>
              <a:t>Academic Advisor: Prof. Kris Singh — CEO SRII, Visiting Prof. Tsinghua University</a:t>
            </a:r>
          </a:p>
        </p:txBody>
      </p:sp>
      <p:sp>
        <p:nvSpPr>
          <p:cNvPr id="6" name="text">
            <a:extLst>
              <a:ext uri="{FF2B5EF4-FFF2-40B4-BE49-F238E27FC236}">
                <a16:creationId xmlns:a16="http://schemas.microsoft.com/office/drawing/2014/main" id="{EA71AB4E-3E2C-44E1-8F89-B52DDE359166}"/>
              </a:ext>
            </a:extLst>
          </p:cNvPr>
          <p:cNvSpPr>
            <a:spLocks noGrp="1"/>
          </p:cNvSpPr>
          <p:nvPr/>
        </p:nvSpPr>
        <p:spPr>
          <a:xfrm>
            <a:off x="8591550" y="1162050"/>
            <a:ext cx="2762250" cy="971550"/>
          </a:xfrm>
          <a:prstGeom prst="rect">
            <a:avLst/>
          </a:prstGeom>
          <a:noFill/>
          <a:ln w="0">
            <a:noFill/>
            <a:prstDash val="solid"/>
          </a:ln>
        </p:spPr>
        <p:txBody>
          <a:bodyPr/>
          <a:lstStyle/>
          <a:p>
            <a:pPr algn="l">
              <a:defRPr sz="1200" b="1">
                <a:solidFill>
                  <a:srgbClr val="111318"/>
                </a:solidFill>
              </a:defRPr>
            </a:pPr>
            <a:r>
              <a:rPr sz="1200" b="1">
                <a:solidFill>
                  <a:srgbClr val="111318"/>
                </a:solidFill>
              </a:rPr>
              <a:t>TRACK 4</a:t>
            </a:r>
          </a:p>
          <a:p>
            <a:pPr algn="l">
              <a:defRPr sz="1200" b="1">
                <a:solidFill>
                  <a:srgbClr val="111318"/>
                </a:solidFill>
              </a:defRPr>
            </a:pPr>
            <a:r>
              <a:rPr sz="1200" b="1">
                <a:solidFill>
                  <a:srgbClr val="111318"/>
                </a:solidFill>
              </a:rPr>
              <a:t>AI + MATERIALS TESTING</a:t>
            </a:r>
          </a:p>
          <a:p>
            <a:pPr algn="l">
              <a:defRPr sz="1200" b="1">
                <a:solidFill>
                  <a:srgbClr val="111318"/>
                </a:solidFill>
              </a:defRPr>
            </a:pPr>
            <a:r>
              <a:rPr sz="1200" b="1">
                <a:solidFill>
                  <a:srgbClr val="111318"/>
                </a:solidFill>
              </a:rPr>
              <a:t>AND CHARACTERIZATION</a:t>
            </a:r>
          </a:p>
          <a:p>
            <a:pPr algn="l">
              <a:defRPr sz="1200" b="1">
                <a:solidFill>
                  <a:srgbClr val="111318"/>
                </a:solidFill>
              </a:defRPr>
            </a:pPr>
            <a:r>
              <a:rPr sz="1200" b="1">
                <a:solidFill>
                  <a:srgbClr val="111318"/>
                </a:solidFill>
              </a:rPr>
              <a:t>人工智能 + 材料检测与表征</a:t>
            </a:r>
          </a:p>
        </p:txBody>
      </p:sp>
      <p:pic>
        <p:nvPicPr>
          <p:cNvPr id="18" name="Picture 17"/>
          <p:cNvPicPr>
            <a:picLocks noChangeAspect="1"/>
          </p:cNvPicPr>
          <p:nvPr/>
        </p:nvPicPr>
        <p:blipFill>
          <a:blip r:embed="rId3"/>
          <a:stretch/>
        </p:blipFill>
        <p:spPr>
          <a:xfrm>
            <a:off x="685800" y="277519"/>
            <a:ext cx="3493394" cy="760705"/>
          </a:xfrm>
          <a:prstGeom prst="rect">
            <a:avLst/>
          </a:prstGeom>
        </p:spPr>
      </p:pic>
      <p:sp>
        <p:nvSpPr>
          <p:cNvPr id="8" name="text">
            <a:extLst>
              <a:ext uri="{FF2B5EF4-FFF2-40B4-BE49-F238E27FC236}">
                <a16:creationId xmlns:a16="http://schemas.microsoft.com/office/drawing/2014/main" id="{5FF853C3-8531-4D1E-80A2-14C4F6090412}"/>
              </a:ext>
            </a:extLst>
          </p:cNvPr>
          <p:cNvSpPr>
            <a:spLocks noGrp="1"/>
          </p:cNvSpPr>
          <p:nvPr/>
        </p:nvSpPr>
        <p:spPr>
          <a:xfrm>
            <a:off x="685800" y="5619750"/>
            <a:ext cx="8572500" cy="323850"/>
          </a:xfrm>
          <a:prstGeom prst="rect">
            <a:avLst/>
          </a:prstGeom>
          <a:noFill/>
          <a:ln w="0">
            <a:noFill/>
            <a:prstDash val="solid"/>
          </a:ln>
        </p:spPr>
        <p:txBody>
          <a:bodyPr/>
          <a:lstStyle/>
          <a:p>
            <a:pPr algn="l">
              <a:defRPr sz="1650" b="1">
                <a:solidFill>
                  <a:srgbClr val="111318"/>
                </a:solidFill>
              </a:defRPr>
            </a:pPr>
            <a:r>
              <a:rPr sz="1650" b="1">
                <a:solidFill>
                  <a:srgbClr val="111318"/>
                </a:solidFill>
              </a:rPr>
              <a:t>Decision objective: prove a defensible inline inspection architecture — not a dashboard demo.</a:t>
            </a:r>
          </a:p>
        </p:txBody>
      </p:sp>
      <p:sp>
        <p:nvSpPr>
          <p:cNvPr id="9" name="Straight Connector 8">
            <a:extLst>
              <a:ext uri="{FF2B5EF4-FFF2-40B4-BE49-F238E27FC236}">
                <a16:creationId xmlns:a16="http://schemas.microsoft.com/office/drawing/2014/main" id="{E518B324-811C-45D8-95A7-64389F041791}"/>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10" name="source">
            <a:extLst>
              <a:ext uri="{FF2B5EF4-FFF2-40B4-BE49-F238E27FC236}">
                <a16:creationId xmlns:a16="http://schemas.microsoft.com/office/drawing/2014/main" id="{42F41816-A4E0-4F2A-9573-C6C5AEB2D08E}"/>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0:00–0:35  |  Opening thesis</a:t>
            </a:r>
          </a:p>
        </p:txBody>
      </p:sp>
      <p:sp>
        <p:nvSpPr>
          <p:cNvPr id="11" name="page">
            <a:extLst>
              <a:ext uri="{FF2B5EF4-FFF2-40B4-BE49-F238E27FC236}">
                <a16:creationId xmlns:a16="http://schemas.microsoft.com/office/drawing/2014/main" id="{3B8FCD50-6214-4BF8-A497-2383C067320C}"/>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1</a:t>
            </a:r>
          </a:p>
        </p:txBody>
      </p:sp>
    </p:spTree>
    <p:extLst>
      <p:ext uri="{BB962C8B-B14F-4D97-AF65-F5344CB8AC3E}">
        <p14:creationId xmlns:p14="http://schemas.microsoft.com/office/powerpoint/2010/main" val="1142990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eyebrow">
            <a:extLst>
              <a:ext uri="{FF2B5EF4-FFF2-40B4-BE49-F238E27FC236}">
                <a16:creationId xmlns:a16="http://schemas.microsoft.com/office/drawing/2014/main" id="{00391283-0BA5-401D-828E-2166DF116755}"/>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02  |  0:35–1:15</a:t>
            </a:r>
          </a:p>
        </p:txBody>
      </p:sp>
      <p:sp>
        <p:nvSpPr>
          <p:cNvPr id="2" name="title">
            <a:extLst>
              <a:ext uri="{FF2B5EF4-FFF2-40B4-BE49-F238E27FC236}">
                <a16:creationId xmlns:a16="http://schemas.microsoft.com/office/drawing/2014/main" id="{7F20AE21-3392-40C2-A174-EA1AD751F5E9}"/>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The defect is tiny; the consequence is not</a:t>
            </a:r>
          </a:p>
        </p:txBody>
      </p:sp>
      <p:sp>
        <p:nvSpPr>
          <p:cNvPr id="3" name="cn-title">
            <a:extLst>
              <a:ext uri="{FF2B5EF4-FFF2-40B4-BE49-F238E27FC236}">
                <a16:creationId xmlns:a16="http://schemas.microsoft.com/office/drawing/2014/main" id="{AB18C922-9C0E-4B82-AD7B-3347C72CBA32}"/>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微小缺陷，巨大后果</a:t>
            </a:r>
          </a:p>
        </p:txBody>
      </p:sp>
      <p:sp>
        <p:nvSpPr>
          <p:cNvPr id="4" name="Straight Connector 3">
            <a:extLst>
              <a:ext uri="{FF2B5EF4-FFF2-40B4-BE49-F238E27FC236}">
                <a16:creationId xmlns:a16="http://schemas.microsoft.com/office/drawing/2014/main" id="{687E6D3D-991E-40D3-AEBC-5B14C6A9BEF3}"/>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pic>
        <p:nvPicPr>
          <p:cNvPr id="28" name="Picture 27"/>
          <p:cNvPicPr>
            <a:picLocks noChangeAspect="1"/>
          </p:cNvPicPr>
          <p:nvPr/>
        </p:nvPicPr>
        <p:blipFill>
          <a:blip r:embed="rId3"/>
          <a:srcRect t="15000" b="15000"/>
          <a:stretch>
            <a:fillRect/>
          </a:stretch>
        </p:blipFill>
        <p:spPr>
          <a:xfrm>
            <a:off x="685800" y="1943100"/>
            <a:ext cx="4762500" cy="3333750"/>
          </a:xfrm>
          <a:prstGeom prst="rect">
            <a:avLst/>
          </a:prstGeom>
        </p:spPr>
      </p:pic>
      <p:sp>
        <p:nvSpPr>
          <p:cNvPr id="6" name="text">
            <a:extLst>
              <a:ext uri="{FF2B5EF4-FFF2-40B4-BE49-F238E27FC236}">
                <a16:creationId xmlns:a16="http://schemas.microsoft.com/office/drawing/2014/main" id="{17F415B3-AC82-4DC5-B817-3A1CEC4739E1}"/>
              </a:ext>
            </a:extLst>
          </p:cNvPr>
          <p:cNvSpPr>
            <a:spLocks noGrp="1"/>
          </p:cNvSpPr>
          <p:nvPr/>
        </p:nvSpPr>
        <p:spPr>
          <a:xfrm>
            <a:off x="800100" y="4914900"/>
            <a:ext cx="2714625" cy="171450"/>
          </a:xfrm>
          <a:prstGeom prst="rect">
            <a:avLst/>
          </a:prstGeom>
          <a:noFill/>
          <a:ln w="0">
            <a:noFill/>
            <a:prstDash val="solid"/>
          </a:ln>
        </p:spPr>
        <p:txBody>
          <a:bodyPr/>
          <a:lstStyle/>
          <a:p>
            <a:pPr algn="l">
              <a:defRPr sz="825" b="1">
                <a:solidFill>
                  <a:srgbClr val="FFFFFF"/>
                </a:solidFill>
              </a:defRPr>
            </a:pPr>
            <a:r>
              <a:rPr sz="825" b="1">
                <a:solidFill>
                  <a:srgbClr val="FFFFFF"/>
                </a:solidFill>
              </a:rPr>
              <a:t>PROTOTYPE VISUAL — SYNTHETIC DATA</a:t>
            </a:r>
          </a:p>
        </p:txBody>
      </p:sp>
      <p:sp>
        <p:nvSpPr>
          <p:cNvPr id="7" name="metric">
            <a:extLst>
              <a:ext uri="{FF2B5EF4-FFF2-40B4-BE49-F238E27FC236}">
                <a16:creationId xmlns:a16="http://schemas.microsoft.com/office/drawing/2014/main" id="{AD469830-E901-494E-8907-A9F9EF6FEA51}"/>
              </a:ext>
            </a:extLst>
          </p:cNvPr>
          <p:cNvSpPr>
            <a:spLocks noGrp="1"/>
          </p:cNvSpPr>
          <p:nvPr/>
        </p:nvSpPr>
        <p:spPr>
          <a:xfrm>
            <a:off x="5962650" y="2009775"/>
            <a:ext cx="2247900" cy="1190625"/>
          </a:xfrm>
          <a:prstGeom prst="rect">
            <a:avLst/>
          </a:prstGeom>
          <a:solidFill>
            <a:srgbClr val="F7F8FA"/>
          </a:solidFill>
          <a:ln w="9525">
            <a:solidFill>
              <a:srgbClr val="B8BCC4"/>
            </a:solidFill>
            <a:prstDash val="solid"/>
          </a:ln>
        </p:spPr>
        <p:txBody>
          <a:bodyPr/>
          <a:lstStyle/>
          <a:p>
            <a:endParaRPr lang="en-US"/>
          </a:p>
        </p:txBody>
      </p:sp>
      <p:sp>
        <p:nvSpPr>
          <p:cNvPr id="8" name="metric-accent">
            <a:extLst>
              <a:ext uri="{FF2B5EF4-FFF2-40B4-BE49-F238E27FC236}">
                <a16:creationId xmlns:a16="http://schemas.microsoft.com/office/drawing/2014/main" id="{0C3FD5A3-D345-45EB-8D7E-0D7AF7708838}"/>
              </a:ext>
            </a:extLst>
          </p:cNvPr>
          <p:cNvSpPr>
            <a:spLocks noGrp="1"/>
          </p:cNvSpPr>
          <p:nvPr/>
        </p:nvSpPr>
        <p:spPr>
          <a:xfrm>
            <a:off x="5962650" y="2009775"/>
            <a:ext cx="76200" cy="1190625"/>
          </a:xfrm>
          <a:prstGeom prst="rect">
            <a:avLst/>
          </a:prstGeom>
          <a:solidFill>
            <a:srgbClr val="C43D3D"/>
          </a:solidFill>
          <a:ln w="9525">
            <a:solidFill>
              <a:srgbClr val="C43D3D"/>
            </a:solidFill>
            <a:prstDash val="solid"/>
          </a:ln>
        </p:spPr>
        <p:txBody>
          <a:bodyPr/>
          <a:lstStyle/>
          <a:p>
            <a:endParaRPr lang="en-US"/>
          </a:p>
        </p:txBody>
      </p:sp>
      <p:sp>
        <p:nvSpPr>
          <p:cNvPr id="9" name="metric-label">
            <a:extLst>
              <a:ext uri="{FF2B5EF4-FFF2-40B4-BE49-F238E27FC236}">
                <a16:creationId xmlns:a16="http://schemas.microsoft.com/office/drawing/2014/main" id="{6038149D-23F8-4B1E-A4C3-6033E352EED8}"/>
              </a:ext>
            </a:extLst>
          </p:cNvPr>
          <p:cNvSpPr>
            <a:spLocks noGrp="1"/>
          </p:cNvSpPr>
          <p:nvPr/>
        </p:nvSpPr>
        <p:spPr>
          <a:xfrm>
            <a:off x="6172200" y="2181225"/>
            <a:ext cx="19240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SEPARATOR REFERENCE</a:t>
            </a:r>
          </a:p>
        </p:txBody>
      </p:sp>
      <p:sp>
        <p:nvSpPr>
          <p:cNvPr id="10" name="metric-value">
            <a:extLst>
              <a:ext uri="{FF2B5EF4-FFF2-40B4-BE49-F238E27FC236}">
                <a16:creationId xmlns:a16="http://schemas.microsoft.com/office/drawing/2014/main" id="{697A202F-E233-4F06-B3B7-3C397106AA9F}"/>
              </a:ext>
            </a:extLst>
          </p:cNvPr>
          <p:cNvSpPr>
            <a:spLocks noGrp="1"/>
          </p:cNvSpPr>
          <p:nvPr/>
        </p:nvSpPr>
        <p:spPr>
          <a:xfrm>
            <a:off x="6172200" y="2419350"/>
            <a:ext cx="19240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14 µm</a:t>
            </a:r>
          </a:p>
        </p:txBody>
      </p:sp>
      <p:sp>
        <p:nvSpPr>
          <p:cNvPr id="11" name="metric-sub">
            <a:extLst>
              <a:ext uri="{FF2B5EF4-FFF2-40B4-BE49-F238E27FC236}">
                <a16:creationId xmlns:a16="http://schemas.microsoft.com/office/drawing/2014/main" id="{5C8CF618-58F6-4F4F-B2F0-EF45A2174244}"/>
              </a:ext>
            </a:extLst>
          </p:cNvPr>
          <p:cNvSpPr>
            <a:spLocks noGrp="1"/>
          </p:cNvSpPr>
          <p:nvPr/>
        </p:nvSpPr>
        <p:spPr>
          <a:xfrm>
            <a:off x="6172200" y="2876550"/>
            <a:ext cx="19240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Risk boundary for stack design</a:t>
            </a:r>
          </a:p>
        </p:txBody>
      </p:sp>
      <p:sp>
        <p:nvSpPr>
          <p:cNvPr id="12" name="metric">
            <a:extLst>
              <a:ext uri="{FF2B5EF4-FFF2-40B4-BE49-F238E27FC236}">
                <a16:creationId xmlns:a16="http://schemas.microsoft.com/office/drawing/2014/main" id="{5D8FE487-AF9C-4F57-8D83-0A3BE79259B6}"/>
              </a:ext>
            </a:extLst>
          </p:cNvPr>
          <p:cNvSpPr>
            <a:spLocks noGrp="1"/>
          </p:cNvSpPr>
          <p:nvPr/>
        </p:nvSpPr>
        <p:spPr>
          <a:xfrm>
            <a:off x="8401050" y="2009775"/>
            <a:ext cx="2247900" cy="1190625"/>
          </a:xfrm>
          <a:prstGeom prst="rect">
            <a:avLst/>
          </a:prstGeom>
          <a:solidFill>
            <a:srgbClr val="F7F8FA"/>
          </a:solidFill>
          <a:ln w="9525">
            <a:solidFill>
              <a:srgbClr val="B8BCC4"/>
            </a:solidFill>
            <a:prstDash val="solid"/>
          </a:ln>
        </p:spPr>
        <p:txBody>
          <a:bodyPr/>
          <a:lstStyle/>
          <a:p>
            <a:endParaRPr lang="en-US"/>
          </a:p>
        </p:txBody>
      </p:sp>
      <p:sp>
        <p:nvSpPr>
          <p:cNvPr id="13" name="metric-accent">
            <a:extLst>
              <a:ext uri="{FF2B5EF4-FFF2-40B4-BE49-F238E27FC236}">
                <a16:creationId xmlns:a16="http://schemas.microsoft.com/office/drawing/2014/main" id="{160B82A3-28B7-4F96-9039-34E318D93101}"/>
              </a:ext>
            </a:extLst>
          </p:cNvPr>
          <p:cNvSpPr>
            <a:spLocks noGrp="1"/>
          </p:cNvSpPr>
          <p:nvPr/>
        </p:nvSpPr>
        <p:spPr>
          <a:xfrm>
            <a:off x="8401050" y="2009775"/>
            <a:ext cx="76200" cy="1190625"/>
          </a:xfrm>
          <a:prstGeom prst="rect">
            <a:avLst/>
          </a:prstGeom>
          <a:solidFill>
            <a:srgbClr val="3D8DFF"/>
          </a:solidFill>
          <a:ln w="9525">
            <a:solidFill>
              <a:srgbClr val="3D8DFF"/>
            </a:solidFill>
            <a:prstDash val="solid"/>
          </a:ln>
        </p:spPr>
        <p:txBody>
          <a:bodyPr/>
          <a:lstStyle/>
          <a:p>
            <a:endParaRPr lang="en-US"/>
          </a:p>
        </p:txBody>
      </p:sp>
      <p:sp>
        <p:nvSpPr>
          <p:cNvPr id="14" name="metric-label">
            <a:extLst>
              <a:ext uri="{FF2B5EF4-FFF2-40B4-BE49-F238E27FC236}">
                <a16:creationId xmlns:a16="http://schemas.microsoft.com/office/drawing/2014/main" id="{7AA6E953-9010-4041-B73F-2303CB40197A}"/>
              </a:ext>
            </a:extLst>
          </p:cNvPr>
          <p:cNvSpPr>
            <a:spLocks noGrp="1"/>
          </p:cNvSpPr>
          <p:nvPr/>
        </p:nvSpPr>
        <p:spPr>
          <a:xfrm>
            <a:off x="8610600" y="2181225"/>
            <a:ext cx="19240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INSPECTION GAP</a:t>
            </a:r>
          </a:p>
        </p:txBody>
      </p:sp>
      <p:sp>
        <p:nvSpPr>
          <p:cNvPr id="15" name="metric-value">
            <a:extLst>
              <a:ext uri="{FF2B5EF4-FFF2-40B4-BE49-F238E27FC236}">
                <a16:creationId xmlns:a16="http://schemas.microsoft.com/office/drawing/2014/main" id="{0DB459AE-4F85-4965-A679-45DE83A1340D}"/>
              </a:ext>
            </a:extLst>
          </p:cNvPr>
          <p:cNvSpPr>
            <a:spLocks noGrp="1"/>
          </p:cNvSpPr>
          <p:nvPr/>
        </p:nvSpPr>
        <p:spPr>
          <a:xfrm>
            <a:off x="8610600" y="2419350"/>
            <a:ext cx="19240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Subsurface</a:t>
            </a:r>
          </a:p>
        </p:txBody>
      </p:sp>
      <p:sp>
        <p:nvSpPr>
          <p:cNvPr id="16" name="metric-sub">
            <a:extLst>
              <a:ext uri="{FF2B5EF4-FFF2-40B4-BE49-F238E27FC236}">
                <a16:creationId xmlns:a16="http://schemas.microsoft.com/office/drawing/2014/main" id="{E1A1EB02-08AD-4C94-8B55-9E683D00185D}"/>
              </a:ext>
            </a:extLst>
          </p:cNvPr>
          <p:cNvSpPr>
            <a:spLocks noGrp="1"/>
          </p:cNvSpPr>
          <p:nvPr/>
        </p:nvSpPr>
        <p:spPr>
          <a:xfrm>
            <a:off x="8610600" y="2876550"/>
            <a:ext cx="19240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Surface-only RGB cannot see void physics</a:t>
            </a:r>
          </a:p>
        </p:txBody>
      </p:sp>
      <p:sp>
        <p:nvSpPr>
          <p:cNvPr id="17" name="rect">
            <a:extLst>
              <a:ext uri="{FF2B5EF4-FFF2-40B4-BE49-F238E27FC236}">
                <a16:creationId xmlns:a16="http://schemas.microsoft.com/office/drawing/2014/main" id="{9FE226B0-D1A4-421B-8BC7-023AAC9F7A9E}"/>
              </a:ext>
            </a:extLst>
          </p:cNvPr>
          <p:cNvSpPr>
            <a:spLocks noGrp="1"/>
          </p:cNvSpPr>
          <p:nvPr/>
        </p:nvSpPr>
        <p:spPr>
          <a:xfrm>
            <a:off x="5962650" y="3476625"/>
            <a:ext cx="4686300" cy="1371600"/>
          </a:xfrm>
          <a:prstGeom prst="rect">
            <a:avLst/>
          </a:prstGeom>
          <a:solidFill>
            <a:srgbClr val="F7F8FA"/>
          </a:solidFill>
          <a:ln w="9525">
            <a:solidFill>
              <a:srgbClr val="B8BCC4"/>
            </a:solidFill>
            <a:prstDash val="solid"/>
          </a:ln>
        </p:spPr>
        <p:txBody>
          <a:bodyPr/>
          <a:lstStyle/>
          <a:p>
            <a:endParaRPr lang="en-US"/>
          </a:p>
        </p:txBody>
      </p:sp>
      <p:sp>
        <p:nvSpPr>
          <p:cNvPr id="18" name="text">
            <a:extLst>
              <a:ext uri="{FF2B5EF4-FFF2-40B4-BE49-F238E27FC236}">
                <a16:creationId xmlns:a16="http://schemas.microsoft.com/office/drawing/2014/main" id="{0214DDC0-BB2B-480E-B2FD-1488AFDBE0CF}"/>
              </a:ext>
            </a:extLst>
          </p:cNvPr>
          <p:cNvSpPr>
            <a:spLocks noGrp="1"/>
          </p:cNvSpPr>
          <p:nvPr/>
        </p:nvSpPr>
        <p:spPr>
          <a:xfrm>
            <a:off x="6153150" y="3695700"/>
            <a:ext cx="1619250" cy="228600"/>
          </a:xfrm>
          <a:prstGeom prst="rect">
            <a:avLst/>
          </a:prstGeom>
          <a:noFill/>
          <a:ln w="0">
            <a:noFill/>
            <a:prstDash val="solid"/>
          </a:ln>
        </p:spPr>
        <p:txBody>
          <a:bodyPr/>
          <a:lstStyle/>
          <a:p>
            <a:pPr algn="l">
              <a:defRPr sz="1200" b="1">
                <a:solidFill>
                  <a:srgbClr val="111318"/>
                </a:solidFill>
              </a:defRPr>
            </a:pPr>
            <a:r>
              <a:rPr sz="1200" b="1">
                <a:solidFill>
                  <a:srgbClr val="111318"/>
                </a:solidFill>
              </a:rPr>
              <a:t>Factory consequence</a:t>
            </a:r>
          </a:p>
        </p:txBody>
      </p:sp>
      <p:sp>
        <p:nvSpPr>
          <p:cNvPr id="19" name="text">
            <a:extLst>
              <a:ext uri="{FF2B5EF4-FFF2-40B4-BE49-F238E27FC236}">
                <a16:creationId xmlns:a16="http://schemas.microsoft.com/office/drawing/2014/main" id="{66147890-234D-4747-9CED-B0D73FF33D19}"/>
              </a:ext>
            </a:extLst>
          </p:cNvPr>
          <p:cNvSpPr>
            <a:spLocks noGrp="1"/>
          </p:cNvSpPr>
          <p:nvPr/>
        </p:nvSpPr>
        <p:spPr>
          <a:xfrm>
            <a:off x="6153150" y="4010025"/>
            <a:ext cx="4191000" cy="590550"/>
          </a:xfrm>
          <a:prstGeom prst="rect">
            <a:avLst/>
          </a:prstGeom>
          <a:noFill/>
          <a:ln w="0">
            <a:noFill/>
            <a:prstDash val="solid"/>
          </a:ln>
        </p:spPr>
        <p:txBody>
          <a:bodyPr/>
          <a:lstStyle/>
          <a:p>
            <a:pPr algn="l">
              <a:defRPr sz="1425" b="0">
                <a:solidFill>
                  <a:srgbClr val="111318"/>
                </a:solidFill>
              </a:defRPr>
            </a:pPr>
            <a:r>
              <a:rPr sz="1425" b="0">
                <a:solidFill>
                  <a:srgbClr val="111318"/>
                </a:solidFill>
              </a:rPr>
              <a:t>A defect escape is not “one missed box.”</a:t>
            </a:r>
          </a:p>
          <a:p>
            <a:pPr algn="l">
              <a:defRPr sz="1425" b="0">
                <a:solidFill>
                  <a:srgbClr val="111318"/>
                </a:solidFill>
              </a:defRPr>
            </a:pPr>
            <a:r>
              <a:rPr sz="1425" b="0">
                <a:solidFill>
                  <a:srgbClr val="111318"/>
                </a:solidFill>
              </a:rPr>
              <a:t>It is an untraceable precursor to rework, yield loss, or an internal-short investigation.</a:t>
            </a:r>
          </a:p>
        </p:txBody>
      </p:sp>
      <p:sp>
        <p:nvSpPr>
          <p:cNvPr id="20" name="text">
            <a:extLst>
              <a:ext uri="{FF2B5EF4-FFF2-40B4-BE49-F238E27FC236}">
                <a16:creationId xmlns:a16="http://schemas.microsoft.com/office/drawing/2014/main" id="{1153728D-BB2D-456B-887D-4DFE9BBCF0E0}"/>
              </a:ext>
            </a:extLst>
          </p:cNvPr>
          <p:cNvSpPr>
            <a:spLocks noGrp="1"/>
          </p:cNvSpPr>
          <p:nvPr/>
        </p:nvSpPr>
        <p:spPr>
          <a:xfrm>
            <a:off x="5962650" y="5172075"/>
            <a:ext cx="5048250" cy="266700"/>
          </a:xfrm>
          <a:prstGeom prst="rect">
            <a:avLst/>
          </a:prstGeom>
          <a:noFill/>
          <a:ln w="0">
            <a:noFill/>
            <a:prstDash val="solid"/>
          </a:ln>
        </p:spPr>
        <p:txBody>
          <a:bodyPr/>
          <a:lstStyle/>
          <a:p>
            <a:pPr algn="l">
              <a:defRPr sz="1350" b="1">
                <a:solidFill>
                  <a:srgbClr val="111318"/>
                </a:solidFill>
              </a:defRPr>
            </a:pPr>
            <a:r>
              <a:rPr sz="1350" b="1">
                <a:solidFill>
                  <a:srgbClr val="111318"/>
                </a:solidFill>
              </a:rPr>
              <a:t>The engineering question: can we detect, measure, locate, and act before slitting?</a:t>
            </a:r>
          </a:p>
        </p:txBody>
      </p:sp>
      <p:sp>
        <p:nvSpPr>
          <p:cNvPr id="21" name="Straight Connector 20">
            <a:extLst>
              <a:ext uri="{FF2B5EF4-FFF2-40B4-BE49-F238E27FC236}">
                <a16:creationId xmlns:a16="http://schemas.microsoft.com/office/drawing/2014/main" id="{3A6118E1-79D1-4120-8B07-19DBEDE02266}"/>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22" name="source">
            <a:extLst>
              <a:ext uri="{FF2B5EF4-FFF2-40B4-BE49-F238E27FC236}">
                <a16:creationId xmlns:a16="http://schemas.microsoft.com/office/drawing/2014/main" id="{91EC0F93-B569-4FD0-AA0B-0D23B6CDCB8E}"/>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Problem framing; the illustrated sample is procedurally generated.</a:t>
            </a:r>
          </a:p>
        </p:txBody>
      </p:sp>
      <p:sp>
        <p:nvSpPr>
          <p:cNvPr id="23" name="page">
            <a:extLst>
              <a:ext uri="{FF2B5EF4-FFF2-40B4-BE49-F238E27FC236}">
                <a16:creationId xmlns:a16="http://schemas.microsoft.com/office/drawing/2014/main" id="{D7120092-9D82-43FB-AC3D-D2D6F8C76291}"/>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2</a:t>
            </a:r>
          </a:p>
        </p:txBody>
      </p:sp>
    </p:spTree>
    <p:extLst>
      <p:ext uri="{BB962C8B-B14F-4D97-AF65-F5344CB8AC3E}">
        <p14:creationId xmlns:p14="http://schemas.microsoft.com/office/powerpoint/2010/main" val="1114008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eyebrow">
            <a:extLst>
              <a:ext uri="{FF2B5EF4-FFF2-40B4-BE49-F238E27FC236}">
                <a16:creationId xmlns:a16="http://schemas.microsoft.com/office/drawing/2014/main" id="{837B98A7-387C-4D47-8E87-AF04BF338E18}"/>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03  |  1:15–2:00</a:t>
            </a:r>
          </a:p>
        </p:txBody>
      </p:sp>
      <p:sp>
        <p:nvSpPr>
          <p:cNvPr id="2" name="title">
            <a:extLst>
              <a:ext uri="{FF2B5EF4-FFF2-40B4-BE49-F238E27FC236}">
                <a16:creationId xmlns:a16="http://schemas.microsoft.com/office/drawing/2014/main" id="{FC8A1CDE-100C-48E9-AFA3-9F544B6A70C6}"/>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Seven stages, one physically closed inspection decision</a:t>
            </a:r>
          </a:p>
        </p:txBody>
      </p:sp>
      <p:sp>
        <p:nvSpPr>
          <p:cNvPr id="3" name="cn-title">
            <a:extLst>
              <a:ext uri="{FF2B5EF4-FFF2-40B4-BE49-F238E27FC236}">
                <a16:creationId xmlns:a16="http://schemas.microsoft.com/office/drawing/2014/main" id="{2E31405D-CD4F-4E51-8CBF-0327DA109D10}"/>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七工站闭环检测决策</a:t>
            </a:r>
          </a:p>
        </p:txBody>
      </p:sp>
      <p:sp>
        <p:nvSpPr>
          <p:cNvPr id="4" name="Straight Connector 3">
            <a:extLst>
              <a:ext uri="{FF2B5EF4-FFF2-40B4-BE49-F238E27FC236}">
                <a16:creationId xmlns:a16="http://schemas.microsoft.com/office/drawing/2014/main" id="{0257CA6F-77D0-48C4-A459-98B3294DD779}"/>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node">
            <a:extLst>
              <a:ext uri="{FF2B5EF4-FFF2-40B4-BE49-F238E27FC236}">
                <a16:creationId xmlns:a16="http://schemas.microsoft.com/office/drawing/2014/main" id="{F594C7EE-DCB2-484C-BBE4-F98A7C013F97}"/>
              </a:ext>
            </a:extLst>
          </p:cNvPr>
          <p:cNvSpPr>
            <a:spLocks noGrp="1"/>
          </p:cNvSpPr>
          <p:nvPr/>
        </p:nvSpPr>
        <p:spPr>
          <a:xfrm>
            <a:off x="68580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6" name="node-head">
            <a:extLst>
              <a:ext uri="{FF2B5EF4-FFF2-40B4-BE49-F238E27FC236}">
                <a16:creationId xmlns:a16="http://schemas.microsoft.com/office/drawing/2014/main" id="{2A5C2036-8C42-4BDB-8513-A237C68ED05B}"/>
              </a:ext>
            </a:extLst>
          </p:cNvPr>
          <p:cNvSpPr>
            <a:spLocks noGrp="1"/>
          </p:cNvSpPr>
          <p:nvPr/>
        </p:nvSpPr>
        <p:spPr>
          <a:xfrm>
            <a:off x="81915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1</a:t>
            </a:r>
          </a:p>
        </p:txBody>
      </p:sp>
      <p:sp>
        <p:nvSpPr>
          <p:cNvPr id="7" name="node-body">
            <a:extLst>
              <a:ext uri="{FF2B5EF4-FFF2-40B4-BE49-F238E27FC236}">
                <a16:creationId xmlns:a16="http://schemas.microsoft.com/office/drawing/2014/main" id="{A9BB1A32-2A4C-4BF4-8846-13844D75E746}"/>
              </a:ext>
            </a:extLst>
          </p:cNvPr>
          <p:cNvSpPr>
            <a:spLocks noGrp="1"/>
          </p:cNvSpPr>
          <p:nvPr/>
        </p:nvSpPr>
        <p:spPr>
          <a:xfrm>
            <a:off x="81915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Encoder</a:t>
            </a:r>
          </a:p>
          <a:p>
            <a:pPr algn="l">
              <a:defRPr sz="975" b="0">
                <a:solidFill>
                  <a:srgbClr val="5F6670"/>
                </a:solidFill>
              </a:defRPr>
            </a:pPr>
            <a:r>
              <a:rPr sz="975" b="0">
                <a:solidFill>
                  <a:srgbClr val="5F6670"/>
                </a:solidFill>
              </a:rPr>
              <a:t>同步</a:t>
            </a:r>
          </a:p>
        </p:txBody>
      </p:sp>
      <p:sp>
        <p:nvSpPr>
          <p:cNvPr id="8" name="node">
            <a:extLst>
              <a:ext uri="{FF2B5EF4-FFF2-40B4-BE49-F238E27FC236}">
                <a16:creationId xmlns:a16="http://schemas.microsoft.com/office/drawing/2014/main" id="{C36A6701-FBC5-449C-AC41-2D3E91581952}"/>
              </a:ext>
            </a:extLst>
          </p:cNvPr>
          <p:cNvSpPr>
            <a:spLocks noGrp="1"/>
          </p:cNvSpPr>
          <p:nvPr/>
        </p:nvSpPr>
        <p:spPr>
          <a:xfrm>
            <a:off x="215265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9" name="node-head">
            <a:extLst>
              <a:ext uri="{FF2B5EF4-FFF2-40B4-BE49-F238E27FC236}">
                <a16:creationId xmlns:a16="http://schemas.microsoft.com/office/drawing/2014/main" id="{F0D87EB0-F72F-48C8-B31C-C93ED12F5639}"/>
              </a:ext>
            </a:extLst>
          </p:cNvPr>
          <p:cNvSpPr>
            <a:spLocks noGrp="1"/>
          </p:cNvSpPr>
          <p:nvPr/>
        </p:nvSpPr>
        <p:spPr>
          <a:xfrm>
            <a:off x="228600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2</a:t>
            </a:r>
          </a:p>
        </p:txBody>
      </p:sp>
      <p:sp>
        <p:nvSpPr>
          <p:cNvPr id="10" name="node-body">
            <a:extLst>
              <a:ext uri="{FF2B5EF4-FFF2-40B4-BE49-F238E27FC236}">
                <a16:creationId xmlns:a16="http://schemas.microsoft.com/office/drawing/2014/main" id="{291599E0-F803-4A02-B3F7-321D776B3182}"/>
              </a:ext>
            </a:extLst>
          </p:cNvPr>
          <p:cNvSpPr>
            <a:spLocks noGrp="1"/>
          </p:cNvSpPr>
          <p:nvPr/>
        </p:nvSpPr>
        <p:spPr>
          <a:xfrm>
            <a:off x="228600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RGB / Thermal / 3D</a:t>
            </a:r>
          </a:p>
          <a:p>
            <a:pPr algn="l">
              <a:defRPr sz="975" b="0">
                <a:solidFill>
                  <a:srgbClr val="5F6670"/>
                </a:solidFill>
              </a:defRPr>
            </a:pPr>
            <a:r>
              <a:rPr sz="975" b="0">
                <a:solidFill>
                  <a:srgbClr val="5F6670"/>
                </a:solidFill>
              </a:rPr>
              <a:t>采集</a:t>
            </a:r>
          </a:p>
        </p:txBody>
      </p:sp>
      <p:cxnSp>
        <p:nvCxnSpPr>
          <p:cNvPr id="66" name="Straight Arrow Connector 65"/>
          <p:cNvCxnSpPr>
            <a:stCxn id="5" idx="3"/>
            <a:endCxn id="8" idx="1"/>
          </p:cNvCxnSpPr>
          <p:nvPr/>
        </p:nvCxnSpPr>
        <p:spPr>
          <a:xfrm>
            <a:off x="1943100" y="2619375"/>
            <a:ext cx="209550" cy="0"/>
          </a:xfrm>
          <a:prstGeom prst="straightConnector1">
            <a:avLst/>
          </a:prstGeom>
          <a:ln w="19050">
            <a:solidFill>
              <a:srgbClr val="3D8DFF"/>
            </a:solidFill>
            <a:prstDash val="solid"/>
            <a:headEnd type="triangle" w="sm" len="sm"/>
          </a:ln>
        </p:spPr>
      </p:cxnSp>
      <p:sp>
        <p:nvSpPr>
          <p:cNvPr id="12" name="node">
            <a:extLst>
              <a:ext uri="{FF2B5EF4-FFF2-40B4-BE49-F238E27FC236}">
                <a16:creationId xmlns:a16="http://schemas.microsoft.com/office/drawing/2014/main" id="{2E89EB11-D747-4117-97FB-D266B94156AF}"/>
              </a:ext>
            </a:extLst>
          </p:cNvPr>
          <p:cNvSpPr>
            <a:spLocks noGrp="1"/>
          </p:cNvSpPr>
          <p:nvPr/>
        </p:nvSpPr>
        <p:spPr>
          <a:xfrm>
            <a:off x="361950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13" name="node-head">
            <a:extLst>
              <a:ext uri="{FF2B5EF4-FFF2-40B4-BE49-F238E27FC236}">
                <a16:creationId xmlns:a16="http://schemas.microsoft.com/office/drawing/2014/main" id="{53616098-17E2-4A38-8FDF-81889C2FED7A}"/>
              </a:ext>
            </a:extLst>
          </p:cNvPr>
          <p:cNvSpPr>
            <a:spLocks noGrp="1"/>
          </p:cNvSpPr>
          <p:nvPr/>
        </p:nvSpPr>
        <p:spPr>
          <a:xfrm>
            <a:off x="375285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3</a:t>
            </a:r>
          </a:p>
        </p:txBody>
      </p:sp>
      <p:sp>
        <p:nvSpPr>
          <p:cNvPr id="14" name="node-body">
            <a:extLst>
              <a:ext uri="{FF2B5EF4-FFF2-40B4-BE49-F238E27FC236}">
                <a16:creationId xmlns:a16="http://schemas.microsoft.com/office/drawing/2014/main" id="{E84A2AD8-4A60-4875-85C5-53D771186B1A}"/>
              </a:ext>
            </a:extLst>
          </p:cNvPr>
          <p:cNvSpPr>
            <a:spLocks noGrp="1"/>
          </p:cNvSpPr>
          <p:nvPr/>
        </p:nvSpPr>
        <p:spPr>
          <a:xfrm>
            <a:off x="375285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5-channel</a:t>
            </a:r>
          </a:p>
          <a:p>
            <a:pPr algn="l">
              <a:defRPr sz="975" b="0">
                <a:solidFill>
                  <a:srgbClr val="5F6670"/>
                </a:solidFill>
              </a:defRPr>
            </a:pPr>
            <a:r>
              <a:rPr sz="975" b="0">
                <a:solidFill>
                  <a:srgbClr val="5F6670"/>
                </a:solidFill>
              </a:rPr>
              <a:t>对齐融合</a:t>
            </a:r>
          </a:p>
        </p:txBody>
      </p:sp>
      <p:cxnSp>
        <p:nvCxnSpPr>
          <p:cNvPr id="70" name="Straight Arrow Connector 69"/>
          <p:cNvCxnSpPr>
            <a:stCxn id="8" idx="3"/>
            <a:endCxn id="12" idx="1"/>
          </p:cNvCxnSpPr>
          <p:nvPr/>
        </p:nvCxnSpPr>
        <p:spPr>
          <a:xfrm>
            <a:off x="3409950" y="2619375"/>
            <a:ext cx="209550" cy="0"/>
          </a:xfrm>
          <a:prstGeom prst="straightConnector1">
            <a:avLst/>
          </a:prstGeom>
          <a:ln w="19050">
            <a:solidFill>
              <a:srgbClr val="3D8DFF"/>
            </a:solidFill>
            <a:prstDash val="solid"/>
            <a:headEnd type="triangle" w="sm" len="sm"/>
          </a:ln>
        </p:spPr>
      </p:cxnSp>
      <p:sp>
        <p:nvSpPr>
          <p:cNvPr id="16" name="node">
            <a:extLst>
              <a:ext uri="{FF2B5EF4-FFF2-40B4-BE49-F238E27FC236}">
                <a16:creationId xmlns:a16="http://schemas.microsoft.com/office/drawing/2014/main" id="{8C1902FA-2B3F-4609-8335-2C1E2357506A}"/>
              </a:ext>
            </a:extLst>
          </p:cNvPr>
          <p:cNvSpPr>
            <a:spLocks noGrp="1"/>
          </p:cNvSpPr>
          <p:nvPr/>
        </p:nvSpPr>
        <p:spPr>
          <a:xfrm>
            <a:off x="508635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17" name="node-head">
            <a:extLst>
              <a:ext uri="{FF2B5EF4-FFF2-40B4-BE49-F238E27FC236}">
                <a16:creationId xmlns:a16="http://schemas.microsoft.com/office/drawing/2014/main" id="{43178BC8-DB36-460A-9E4B-63F17FB6103B}"/>
              </a:ext>
            </a:extLst>
          </p:cNvPr>
          <p:cNvSpPr>
            <a:spLocks noGrp="1"/>
          </p:cNvSpPr>
          <p:nvPr/>
        </p:nvSpPr>
        <p:spPr>
          <a:xfrm>
            <a:off x="521970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4</a:t>
            </a:r>
          </a:p>
        </p:txBody>
      </p:sp>
      <p:sp>
        <p:nvSpPr>
          <p:cNvPr id="18" name="node-body">
            <a:extLst>
              <a:ext uri="{FF2B5EF4-FFF2-40B4-BE49-F238E27FC236}">
                <a16:creationId xmlns:a16="http://schemas.microsoft.com/office/drawing/2014/main" id="{CE37ECA9-3130-431A-A1E2-2A40A77CF8FE}"/>
              </a:ext>
            </a:extLst>
          </p:cNvPr>
          <p:cNvSpPr>
            <a:spLocks noGrp="1"/>
          </p:cNvSpPr>
          <p:nvPr/>
        </p:nvSpPr>
        <p:spPr>
          <a:xfrm>
            <a:off x="521970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AI segmentation</a:t>
            </a:r>
          </a:p>
          <a:p>
            <a:pPr algn="l">
              <a:defRPr sz="975" b="0">
                <a:solidFill>
                  <a:srgbClr val="5F6670"/>
                </a:solidFill>
              </a:defRPr>
            </a:pPr>
            <a:r>
              <a:rPr sz="975" b="0">
                <a:solidFill>
                  <a:srgbClr val="5F6670"/>
                </a:solidFill>
              </a:rPr>
              <a:t>推理</a:t>
            </a:r>
          </a:p>
        </p:txBody>
      </p:sp>
      <p:cxnSp>
        <p:nvCxnSpPr>
          <p:cNvPr id="74" name="Straight Arrow Connector 73"/>
          <p:cNvCxnSpPr>
            <a:stCxn id="12" idx="3"/>
            <a:endCxn id="16" idx="1"/>
          </p:cNvCxnSpPr>
          <p:nvPr/>
        </p:nvCxnSpPr>
        <p:spPr>
          <a:xfrm>
            <a:off x="4876800" y="2619375"/>
            <a:ext cx="209550" cy="0"/>
          </a:xfrm>
          <a:prstGeom prst="straightConnector1">
            <a:avLst/>
          </a:prstGeom>
          <a:ln w="19050">
            <a:solidFill>
              <a:srgbClr val="3D8DFF"/>
            </a:solidFill>
            <a:prstDash val="solid"/>
            <a:headEnd type="triangle" w="sm" len="sm"/>
          </a:ln>
        </p:spPr>
      </p:cxnSp>
      <p:sp>
        <p:nvSpPr>
          <p:cNvPr id="20" name="node">
            <a:extLst>
              <a:ext uri="{FF2B5EF4-FFF2-40B4-BE49-F238E27FC236}">
                <a16:creationId xmlns:a16="http://schemas.microsoft.com/office/drawing/2014/main" id="{A42DCBF4-B375-49A4-AA0C-9374044D97A1}"/>
              </a:ext>
            </a:extLst>
          </p:cNvPr>
          <p:cNvSpPr>
            <a:spLocks noGrp="1"/>
          </p:cNvSpPr>
          <p:nvPr/>
        </p:nvSpPr>
        <p:spPr>
          <a:xfrm>
            <a:off x="655320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21" name="node-head">
            <a:extLst>
              <a:ext uri="{FF2B5EF4-FFF2-40B4-BE49-F238E27FC236}">
                <a16:creationId xmlns:a16="http://schemas.microsoft.com/office/drawing/2014/main" id="{B6D32A21-7A09-4302-B4FA-C28B174D55FE}"/>
              </a:ext>
            </a:extLst>
          </p:cNvPr>
          <p:cNvSpPr>
            <a:spLocks noGrp="1"/>
          </p:cNvSpPr>
          <p:nvPr/>
        </p:nvSpPr>
        <p:spPr>
          <a:xfrm>
            <a:off x="668655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5</a:t>
            </a:r>
          </a:p>
        </p:txBody>
      </p:sp>
      <p:sp>
        <p:nvSpPr>
          <p:cNvPr id="22" name="node-body">
            <a:extLst>
              <a:ext uri="{FF2B5EF4-FFF2-40B4-BE49-F238E27FC236}">
                <a16:creationId xmlns:a16="http://schemas.microsoft.com/office/drawing/2014/main" id="{40F7BE45-3FAA-4D22-A9F7-46E51F93BAB8}"/>
              </a:ext>
            </a:extLst>
          </p:cNvPr>
          <p:cNvSpPr>
            <a:spLocks noGrp="1"/>
          </p:cNvSpPr>
          <p:nvPr/>
        </p:nvSpPr>
        <p:spPr>
          <a:xfrm>
            <a:off x="668655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Physics</a:t>
            </a:r>
          </a:p>
          <a:p>
            <a:pPr algn="l">
              <a:defRPr sz="975" b="0">
                <a:solidFill>
                  <a:srgbClr val="5F6670"/>
                </a:solidFill>
              </a:defRPr>
            </a:pPr>
            <a:r>
              <a:rPr sz="975" b="0">
                <a:solidFill>
                  <a:srgbClr val="5F6670"/>
                </a:solidFill>
              </a:rPr>
              <a:t>metrology</a:t>
            </a:r>
          </a:p>
        </p:txBody>
      </p:sp>
      <p:cxnSp>
        <p:nvCxnSpPr>
          <p:cNvPr id="78" name="Straight Arrow Connector 77"/>
          <p:cNvCxnSpPr>
            <a:stCxn id="16" idx="3"/>
            <a:endCxn id="20" idx="1"/>
          </p:cNvCxnSpPr>
          <p:nvPr/>
        </p:nvCxnSpPr>
        <p:spPr>
          <a:xfrm>
            <a:off x="6343650" y="2619375"/>
            <a:ext cx="209550" cy="0"/>
          </a:xfrm>
          <a:prstGeom prst="straightConnector1">
            <a:avLst/>
          </a:prstGeom>
          <a:ln w="19050">
            <a:solidFill>
              <a:srgbClr val="3D8DFF"/>
            </a:solidFill>
            <a:prstDash val="solid"/>
            <a:headEnd type="triangle" w="sm" len="sm"/>
          </a:ln>
        </p:spPr>
      </p:cxnSp>
      <p:sp>
        <p:nvSpPr>
          <p:cNvPr id="24" name="node">
            <a:extLst>
              <a:ext uri="{FF2B5EF4-FFF2-40B4-BE49-F238E27FC236}">
                <a16:creationId xmlns:a16="http://schemas.microsoft.com/office/drawing/2014/main" id="{FA9B9AC4-2649-4D13-BA40-08DBFD0645A2}"/>
              </a:ext>
            </a:extLst>
          </p:cNvPr>
          <p:cNvSpPr>
            <a:spLocks noGrp="1"/>
          </p:cNvSpPr>
          <p:nvPr/>
        </p:nvSpPr>
        <p:spPr>
          <a:xfrm>
            <a:off x="8020050" y="2143125"/>
            <a:ext cx="1257300" cy="952500"/>
          </a:xfrm>
          <a:prstGeom prst="rect">
            <a:avLst/>
          </a:prstGeom>
          <a:solidFill>
            <a:srgbClr val="FFFFFF"/>
          </a:solidFill>
          <a:ln w="9525">
            <a:solidFill>
              <a:srgbClr val="B8BCC4"/>
            </a:solidFill>
            <a:prstDash val="solid"/>
          </a:ln>
        </p:spPr>
        <p:txBody>
          <a:bodyPr/>
          <a:lstStyle/>
          <a:p>
            <a:endParaRPr lang="en-US"/>
          </a:p>
        </p:txBody>
      </p:sp>
      <p:sp>
        <p:nvSpPr>
          <p:cNvPr id="25" name="node-head">
            <a:extLst>
              <a:ext uri="{FF2B5EF4-FFF2-40B4-BE49-F238E27FC236}">
                <a16:creationId xmlns:a16="http://schemas.microsoft.com/office/drawing/2014/main" id="{630C2C4D-190F-44D0-9CDD-401E2F2E348E}"/>
              </a:ext>
            </a:extLst>
          </p:cNvPr>
          <p:cNvSpPr>
            <a:spLocks noGrp="1"/>
          </p:cNvSpPr>
          <p:nvPr/>
        </p:nvSpPr>
        <p:spPr>
          <a:xfrm>
            <a:off x="815340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6</a:t>
            </a:r>
          </a:p>
        </p:txBody>
      </p:sp>
      <p:sp>
        <p:nvSpPr>
          <p:cNvPr id="26" name="node-body">
            <a:extLst>
              <a:ext uri="{FF2B5EF4-FFF2-40B4-BE49-F238E27FC236}">
                <a16:creationId xmlns:a16="http://schemas.microsoft.com/office/drawing/2014/main" id="{7CCF425D-EA22-43A5-AFC2-998FE7A3774D}"/>
              </a:ext>
            </a:extLst>
          </p:cNvPr>
          <p:cNvSpPr>
            <a:spLocks noGrp="1"/>
          </p:cNvSpPr>
          <p:nvPr/>
        </p:nvSpPr>
        <p:spPr>
          <a:xfrm>
            <a:off x="815340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PLC</a:t>
            </a:r>
          </a:p>
          <a:p>
            <a:pPr algn="l">
              <a:defRPr sz="975" b="0">
                <a:solidFill>
                  <a:srgbClr val="5F6670"/>
                </a:solidFill>
              </a:defRPr>
            </a:pPr>
            <a:r>
              <a:rPr sz="975" b="0">
                <a:solidFill>
                  <a:srgbClr val="5F6670"/>
                </a:solidFill>
              </a:rPr>
              <a:t>interlock</a:t>
            </a:r>
          </a:p>
        </p:txBody>
      </p:sp>
      <p:cxnSp>
        <p:nvCxnSpPr>
          <p:cNvPr id="82" name="Straight Arrow Connector 81"/>
          <p:cNvCxnSpPr>
            <a:stCxn id="20" idx="3"/>
            <a:endCxn id="24" idx="1"/>
          </p:cNvCxnSpPr>
          <p:nvPr/>
        </p:nvCxnSpPr>
        <p:spPr>
          <a:xfrm>
            <a:off x="7810500" y="2619375"/>
            <a:ext cx="209550" cy="0"/>
          </a:xfrm>
          <a:prstGeom prst="straightConnector1">
            <a:avLst/>
          </a:prstGeom>
          <a:ln w="19050">
            <a:solidFill>
              <a:srgbClr val="3D8DFF"/>
            </a:solidFill>
            <a:prstDash val="solid"/>
            <a:headEnd type="triangle" w="sm" len="sm"/>
          </a:ln>
        </p:spPr>
      </p:cxnSp>
      <p:sp>
        <p:nvSpPr>
          <p:cNvPr id="28" name="node">
            <a:extLst>
              <a:ext uri="{FF2B5EF4-FFF2-40B4-BE49-F238E27FC236}">
                <a16:creationId xmlns:a16="http://schemas.microsoft.com/office/drawing/2014/main" id="{C88117F1-EFB9-41C8-8F66-27C4EAA905AF}"/>
              </a:ext>
            </a:extLst>
          </p:cNvPr>
          <p:cNvSpPr>
            <a:spLocks noGrp="1"/>
          </p:cNvSpPr>
          <p:nvPr/>
        </p:nvSpPr>
        <p:spPr>
          <a:xfrm>
            <a:off x="9486900" y="2143125"/>
            <a:ext cx="1257300" cy="952500"/>
          </a:xfrm>
          <a:prstGeom prst="rect">
            <a:avLst/>
          </a:prstGeom>
          <a:solidFill>
            <a:srgbClr val="D0EDFA"/>
          </a:solidFill>
          <a:ln w="9525">
            <a:solidFill>
              <a:srgbClr val="B8BCC4"/>
            </a:solidFill>
            <a:prstDash val="solid"/>
          </a:ln>
        </p:spPr>
        <p:txBody>
          <a:bodyPr/>
          <a:lstStyle/>
          <a:p>
            <a:endParaRPr lang="en-US"/>
          </a:p>
        </p:txBody>
      </p:sp>
      <p:sp>
        <p:nvSpPr>
          <p:cNvPr id="29" name="node-head">
            <a:extLst>
              <a:ext uri="{FF2B5EF4-FFF2-40B4-BE49-F238E27FC236}">
                <a16:creationId xmlns:a16="http://schemas.microsoft.com/office/drawing/2014/main" id="{5EA7E9F7-6E69-41FC-887E-D3C8E76DA56E}"/>
              </a:ext>
            </a:extLst>
          </p:cNvPr>
          <p:cNvSpPr>
            <a:spLocks noGrp="1"/>
          </p:cNvSpPr>
          <p:nvPr/>
        </p:nvSpPr>
        <p:spPr>
          <a:xfrm>
            <a:off x="9620250" y="2266950"/>
            <a:ext cx="99060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7</a:t>
            </a:r>
          </a:p>
        </p:txBody>
      </p:sp>
      <p:sp>
        <p:nvSpPr>
          <p:cNvPr id="30" name="node-body">
            <a:extLst>
              <a:ext uri="{FF2B5EF4-FFF2-40B4-BE49-F238E27FC236}">
                <a16:creationId xmlns:a16="http://schemas.microsoft.com/office/drawing/2014/main" id="{5D676331-1E29-4D53-9C86-AF02B973480F}"/>
              </a:ext>
            </a:extLst>
          </p:cNvPr>
          <p:cNvSpPr>
            <a:spLocks noGrp="1"/>
          </p:cNvSpPr>
          <p:nvPr/>
        </p:nvSpPr>
        <p:spPr>
          <a:xfrm>
            <a:off x="9620250" y="2514600"/>
            <a:ext cx="990600" cy="514350"/>
          </a:xfrm>
          <a:prstGeom prst="rect">
            <a:avLst/>
          </a:prstGeom>
          <a:noFill/>
          <a:ln w="0">
            <a:noFill/>
            <a:prstDash val="solid"/>
          </a:ln>
        </p:spPr>
        <p:txBody>
          <a:bodyPr/>
          <a:lstStyle/>
          <a:p>
            <a:pPr algn="l">
              <a:defRPr sz="975" b="0">
                <a:solidFill>
                  <a:srgbClr val="5F6670"/>
                </a:solidFill>
              </a:defRPr>
            </a:pPr>
            <a:r>
              <a:rPr sz="975" b="0">
                <a:solidFill>
                  <a:srgbClr val="5F6670"/>
                </a:solidFill>
              </a:rPr>
              <a:t>Root-cause</a:t>
            </a:r>
          </a:p>
          <a:p>
            <a:pPr algn="l">
              <a:defRPr sz="975" b="0">
                <a:solidFill>
                  <a:srgbClr val="5F6670"/>
                </a:solidFill>
              </a:defRPr>
            </a:pPr>
            <a:r>
              <a:rPr sz="975" b="0">
                <a:solidFill>
                  <a:srgbClr val="5F6670"/>
                </a:solidFill>
              </a:rPr>
              <a:t>feedback</a:t>
            </a:r>
          </a:p>
        </p:txBody>
      </p:sp>
      <p:cxnSp>
        <p:nvCxnSpPr>
          <p:cNvPr id="86" name="Straight Arrow Connector 85"/>
          <p:cNvCxnSpPr>
            <a:stCxn id="24" idx="3"/>
            <a:endCxn id="28" idx="1"/>
          </p:cNvCxnSpPr>
          <p:nvPr/>
        </p:nvCxnSpPr>
        <p:spPr>
          <a:xfrm>
            <a:off x="9277350" y="2619375"/>
            <a:ext cx="209550" cy="0"/>
          </a:xfrm>
          <a:prstGeom prst="straightConnector1">
            <a:avLst/>
          </a:prstGeom>
          <a:ln w="19050">
            <a:solidFill>
              <a:srgbClr val="3D8DFF"/>
            </a:solidFill>
            <a:prstDash val="solid"/>
            <a:headEnd type="triangle" w="sm" len="sm"/>
          </a:ln>
        </p:spPr>
      </p:cxnSp>
      <p:sp>
        <p:nvSpPr>
          <p:cNvPr id="32" name="metric">
            <a:extLst>
              <a:ext uri="{FF2B5EF4-FFF2-40B4-BE49-F238E27FC236}">
                <a16:creationId xmlns:a16="http://schemas.microsoft.com/office/drawing/2014/main" id="{0548D1A4-2AF1-45CE-8BBC-51AD58C54943}"/>
              </a:ext>
            </a:extLst>
          </p:cNvPr>
          <p:cNvSpPr>
            <a:spLocks noGrp="1"/>
          </p:cNvSpPr>
          <p:nvPr/>
        </p:nvSpPr>
        <p:spPr>
          <a:xfrm>
            <a:off x="685800" y="3762375"/>
            <a:ext cx="2352675" cy="1190625"/>
          </a:xfrm>
          <a:prstGeom prst="rect">
            <a:avLst/>
          </a:prstGeom>
          <a:solidFill>
            <a:srgbClr val="F7F8FA"/>
          </a:solidFill>
          <a:ln w="9525">
            <a:solidFill>
              <a:srgbClr val="B8BCC4"/>
            </a:solidFill>
            <a:prstDash val="solid"/>
          </a:ln>
        </p:spPr>
        <p:txBody>
          <a:bodyPr/>
          <a:lstStyle/>
          <a:p>
            <a:endParaRPr lang="en-US"/>
          </a:p>
        </p:txBody>
      </p:sp>
      <p:sp>
        <p:nvSpPr>
          <p:cNvPr id="33" name="metric-accent">
            <a:extLst>
              <a:ext uri="{FF2B5EF4-FFF2-40B4-BE49-F238E27FC236}">
                <a16:creationId xmlns:a16="http://schemas.microsoft.com/office/drawing/2014/main" id="{1A405073-A2BB-41E8-917E-F714F3F3BB4F}"/>
              </a:ext>
            </a:extLst>
          </p:cNvPr>
          <p:cNvSpPr>
            <a:spLocks noGrp="1"/>
          </p:cNvSpPr>
          <p:nvPr/>
        </p:nvSpPr>
        <p:spPr>
          <a:xfrm>
            <a:off x="685800" y="3762375"/>
            <a:ext cx="76200" cy="1190625"/>
          </a:xfrm>
          <a:prstGeom prst="rect">
            <a:avLst/>
          </a:prstGeom>
          <a:solidFill>
            <a:srgbClr val="3D8DFF"/>
          </a:solidFill>
          <a:ln w="9525">
            <a:solidFill>
              <a:srgbClr val="3D8DFF"/>
            </a:solidFill>
            <a:prstDash val="solid"/>
          </a:ln>
        </p:spPr>
        <p:txBody>
          <a:bodyPr/>
          <a:lstStyle/>
          <a:p>
            <a:endParaRPr lang="en-US"/>
          </a:p>
        </p:txBody>
      </p:sp>
      <p:sp>
        <p:nvSpPr>
          <p:cNvPr id="34" name="metric-label">
            <a:extLst>
              <a:ext uri="{FF2B5EF4-FFF2-40B4-BE49-F238E27FC236}">
                <a16:creationId xmlns:a16="http://schemas.microsoft.com/office/drawing/2014/main" id="{2EB82EA8-6244-45D1-90C8-E77EB3A0F91B}"/>
              </a:ext>
            </a:extLst>
          </p:cNvPr>
          <p:cNvSpPr>
            <a:spLocks noGrp="1"/>
          </p:cNvSpPr>
          <p:nvPr/>
        </p:nvSpPr>
        <p:spPr>
          <a:xfrm>
            <a:off x="895350" y="3933825"/>
            <a:ext cx="2028825"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WEB SPEED</a:t>
            </a:r>
          </a:p>
        </p:txBody>
      </p:sp>
      <p:sp>
        <p:nvSpPr>
          <p:cNvPr id="35" name="metric-value">
            <a:extLst>
              <a:ext uri="{FF2B5EF4-FFF2-40B4-BE49-F238E27FC236}">
                <a16:creationId xmlns:a16="http://schemas.microsoft.com/office/drawing/2014/main" id="{B43B7E8D-E067-46A8-973C-BC0A83261995}"/>
              </a:ext>
            </a:extLst>
          </p:cNvPr>
          <p:cNvSpPr>
            <a:spLocks noGrp="1"/>
          </p:cNvSpPr>
          <p:nvPr/>
        </p:nvSpPr>
        <p:spPr>
          <a:xfrm>
            <a:off x="895350" y="4171950"/>
            <a:ext cx="2028825"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1.8 m/s</a:t>
            </a:r>
          </a:p>
        </p:txBody>
      </p:sp>
      <p:sp>
        <p:nvSpPr>
          <p:cNvPr id="36" name="metric-sub">
            <a:extLst>
              <a:ext uri="{FF2B5EF4-FFF2-40B4-BE49-F238E27FC236}">
                <a16:creationId xmlns:a16="http://schemas.microsoft.com/office/drawing/2014/main" id="{FC35E8FC-63C2-4B05-8E7E-32FF192F3099}"/>
              </a:ext>
            </a:extLst>
          </p:cNvPr>
          <p:cNvSpPr>
            <a:spLocks noGrp="1"/>
          </p:cNvSpPr>
          <p:nvPr/>
        </p:nvSpPr>
        <p:spPr>
          <a:xfrm>
            <a:off x="895350" y="4629150"/>
            <a:ext cx="2028825"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design operating point</a:t>
            </a:r>
          </a:p>
        </p:txBody>
      </p:sp>
      <p:sp>
        <p:nvSpPr>
          <p:cNvPr id="37" name="metric">
            <a:extLst>
              <a:ext uri="{FF2B5EF4-FFF2-40B4-BE49-F238E27FC236}">
                <a16:creationId xmlns:a16="http://schemas.microsoft.com/office/drawing/2014/main" id="{A4B5B898-E821-48D3-9FF0-7D4C0DAE77E6}"/>
              </a:ext>
            </a:extLst>
          </p:cNvPr>
          <p:cNvSpPr>
            <a:spLocks noGrp="1"/>
          </p:cNvSpPr>
          <p:nvPr/>
        </p:nvSpPr>
        <p:spPr>
          <a:xfrm>
            <a:off x="3219450" y="3762375"/>
            <a:ext cx="2352675" cy="1190625"/>
          </a:xfrm>
          <a:prstGeom prst="rect">
            <a:avLst/>
          </a:prstGeom>
          <a:solidFill>
            <a:srgbClr val="F7F8FA"/>
          </a:solidFill>
          <a:ln w="9525">
            <a:solidFill>
              <a:srgbClr val="B8BCC4"/>
            </a:solidFill>
            <a:prstDash val="solid"/>
          </a:ln>
        </p:spPr>
        <p:txBody>
          <a:bodyPr/>
          <a:lstStyle/>
          <a:p>
            <a:endParaRPr lang="en-US"/>
          </a:p>
        </p:txBody>
      </p:sp>
      <p:sp>
        <p:nvSpPr>
          <p:cNvPr id="38" name="metric-accent">
            <a:extLst>
              <a:ext uri="{FF2B5EF4-FFF2-40B4-BE49-F238E27FC236}">
                <a16:creationId xmlns:a16="http://schemas.microsoft.com/office/drawing/2014/main" id="{A37CB742-5FF4-472A-88DA-CDB64E0C6E54}"/>
              </a:ext>
            </a:extLst>
          </p:cNvPr>
          <p:cNvSpPr>
            <a:spLocks noGrp="1"/>
          </p:cNvSpPr>
          <p:nvPr/>
        </p:nvSpPr>
        <p:spPr>
          <a:xfrm>
            <a:off x="3219450" y="3762375"/>
            <a:ext cx="76200" cy="1190625"/>
          </a:xfrm>
          <a:prstGeom prst="rect">
            <a:avLst/>
          </a:prstGeom>
          <a:solidFill>
            <a:srgbClr val="3D8DFF"/>
          </a:solidFill>
          <a:ln w="9525">
            <a:solidFill>
              <a:srgbClr val="3D8DFF"/>
            </a:solidFill>
            <a:prstDash val="solid"/>
          </a:ln>
        </p:spPr>
        <p:txBody>
          <a:bodyPr/>
          <a:lstStyle/>
          <a:p>
            <a:endParaRPr lang="en-US"/>
          </a:p>
        </p:txBody>
      </p:sp>
      <p:sp>
        <p:nvSpPr>
          <p:cNvPr id="39" name="metric-label">
            <a:extLst>
              <a:ext uri="{FF2B5EF4-FFF2-40B4-BE49-F238E27FC236}">
                <a16:creationId xmlns:a16="http://schemas.microsoft.com/office/drawing/2014/main" id="{7D723D98-F48D-4988-8832-FA89FC718CD1}"/>
              </a:ext>
            </a:extLst>
          </p:cNvPr>
          <p:cNvSpPr>
            <a:spLocks noGrp="1"/>
          </p:cNvSpPr>
          <p:nvPr/>
        </p:nvSpPr>
        <p:spPr>
          <a:xfrm>
            <a:off x="3429000" y="3933825"/>
            <a:ext cx="2028825"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LINE RATE</a:t>
            </a:r>
          </a:p>
        </p:txBody>
      </p:sp>
      <p:sp>
        <p:nvSpPr>
          <p:cNvPr id="40" name="metric-value">
            <a:extLst>
              <a:ext uri="{FF2B5EF4-FFF2-40B4-BE49-F238E27FC236}">
                <a16:creationId xmlns:a16="http://schemas.microsoft.com/office/drawing/2014/main" id="{8D981E17-8B34-454D-B975-72A2EC233D7B}"/>
              </a:ext>
            </a:extLst>
          </p:cNvPr>
          <p:cNvSpPr>
            <a:spLocks noGrp="1"/>
          </p:cNvSpPr>
          <p:nvPr/>
        </p:nvSpPr>
        <p:spPr>
          <a:xfrm>
            <a:off x="3429000" y="4171950"/>
            <a:ext cx="2028825"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42.6 kHz</a:t>
            </a:r>
          </a:p>
        </p:txBody>
      </p:sp>
      <p:sp>
        <p:nvSpPr>
          <p:cNvPr id="41" name="metric-sub">
            <a:extLst>
              <a:ext uri="{FF2B5EF4-FFF2-40B4-BE49-F238E27FC236}">
                <a16:creationId xmlns:a16="http://schemas.microsoft.com/office/drawing/2014/main" id="{B09911F3-1529-4938-BED6-0937AD112443}"/>
              </a:ext>
            </a:extLst>
          </p:cNvPr>
          <p:cNvSpPr>
            <a:spLocks noGrp="1"/>
          </p:cNvSpPr>
          <p:nvPr/>
        </p:nvSpPr>
        <p:spPr>
          <a:xfrm>
            <a:off x="3429000" y="4629150"/>
            <a:ext cx="2028825"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1.8 m/s ÷ 42.24 µm/px</a:t>
            </a:r>
          </a:p>
        </p:txBody>
      </p:sp>
      <p:sp>
        <p:nvSpPr>
          <p:cNvPr id="42" name="metric">
            <a:extLst>
              <a:ext uri="{FF2B5EF4-FFF2-40B4-BE49-F238E27FC236}">
                <a16:creationId xmlns:a16="http://schemas.microsoft.com/office/drawing/2014/main" id="{3075A22C-866B-45DB-92B9-9D7E53FCFC6F}"/>
              </a:ext>
            </a:extLst>
          </p:cNvPr>
          <p:cNvSpPr>
            <a:spLocks noGrp="1"/>
          </p:cNvSpPr>
          <p:nvPr/>
        </p:nvSpPr>
        <p:spPr>
          <a:xfrm>
            <a:off x="5753100" y="3762375"/>
            <a:ext cx="2352675" cy="1190625"/>
          </a:xfrm>
          <a:prstGeom prst="rect">
            <a:avLst/>
          </a:prstGeom>
          <a:solidFill>
            <a:srgbClr val="F7F8FA"/>
          </a:solidFill>
          <a:ln w="9525">
            <a:solidFill>
              <a:srgbClr val="B8BCC4"/>
            </a:solidFill>
            <a:prstDash val="solid"/>
          </a:ln>
        </p:spPr>
        <p:txBody>
          <a:bodyPr/>
          <a:lstStyle/>
          <a:p>
            <a:endParaRPr lang="en-US"/>
          </a:p>
        </p:txBody>
      </p:sp>
      <p:sp>
        <p:nvSpPr>
          <p:cNvPr id="43" name="metric-accent">
            <a:extLst>
              <a:ext uri="{FF2B5EF4-FFF2-40B4-BE49-F238E27FC236}">
                <a16:creationId xmlns:a16="http://schemas.microsoft.com/office/drawing/2014/main" id="{1F3B1870-5CE1-40E4-A83B-920683A101E5}"/>
              </a:ext>
            </a:extLst>
          </p:cNvPr>
          <p:cNvSpPr>
            <a:spLocks noGrp="1"/>
          </p:cNvSpPr>
          <p:nvPr/>
        </p:nvSpPr>
        <p:spPr>
          <a:xfrm>
            <a:off x="5753100" y="3762375"/>
            <a:ext cx="76200" cy="1190625"/>
          </a:xfrm>
          <a:prstGeom prst="rect">
            <a:avLst/>
          </a:prstGeom>
          <a:solidFill>
            <a:srgbClr val="3D8DFF"/>
          </a:solidFill>
          <a:ln w="9525">
            <a:solidFill>
              <a:srgbClr val="3D8DFF"/>
            </a:solidFill>
            <a:prstDash val="solid"/>
          </a:ln>
        </p:spPr>
        <p:txBody>
          <a:bodyPr/>
          <a:lstStyle/>
          <a:p>
            <a:endParaRPr lang="en-US"/>
          </a:p>
        </p:txBody>
      </p:sp>
      <p:sp>
        <p:nvSpPr>
          <p:cNvPr id="44" name="metric-label">
            <a:extLst>
              <a:ext uri="{FF2B5EF4-FFF2-40B4-BE49-F238E27FC236}">
                <a16:creationId xmlns:a16="http://schemas.microsoft.com/office/drawing/2014/main" id="{95A44C82-2926-4096-A944-AE98A91CD0D9}"/>
              </a:ext>
            </a:extLst>
          </p:cNvPr>
          <p:cNvSpPr>
            <a:spLocks noGrp="1"/>
          </p:cNvSpPr>
          <p:nvPr/>
        </p:nvSpPr>
        <p:spPr>
          <a:xfrm>
            <a:off x="5962650" y="3933825"/>
            <a:ext cx="2028825"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OPTICS</a:t>
            </a:r>
          </a:p>
        </p:txBody>
      </p:sp>
      <p:sp>
        <p:nvSpPr>
          <p:cNvPr id="45" name="metric-value">
            <a:extLst>
              <a:ext uri="{FF2B5EF4-FFF2-40B4-BE49-F238E27FC236}">
                <a16:creationId xmlns:a16="http://schemas.microsoft.com/office/drawing/2014/main" id="{3AB16A7A-D169-416A-BCAE-3B7D87D21C6B}"/>
              </a:ext>
            </a:extLst>
          </p:cNvPr>
          <p:cNvSpPr>
            <a:spLocks noGrp="1"/>
          </p:cNvSpPr>
          <p:nvPr/>
        </p:nvSpPr>
        <p:spPr>
          <a:xfrm>
            <a:off x="5962650" y="4171950"/>
            <a:ext cx="2028825"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M = 0.17</a:t>
            </a:r>
          </a:p>
        </p:txBody>
      </p:sp>
      <p:sp>
        <p:nvSpPr>
          <p:cNvPr id="46" name="metric-sub">
            <a:extLst>
              <a:ext uri="{FF2B5EF4-FFF2-40B4-BE49-F238E27FC236}">
                <a16:creationId xmlns:a16="http://schemas.microsoft.com/office/drawing/2014/main" id="{7AE45FC3-FD72-4ADF-90CD-F3EA1F712144}"/>
              </a:ext>
            </a:extLst>
          </p:cNvPr>
          <p:cNvSpPr>
            <a:spLocks noGrp="1"/>
          </p:cNvSpPr>
          <p:nvPr/>
        </p:nvSpPr>
        <p:spPr>
          <a:xfrm>
            <a:off x="5962650" y="4629150"/>
            <a:ext cx="2028825"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2 × 8K line-scan</a:t>
            </a:r>
          </a:p>
        </p:txBody>
      </p:sp>
      <p:sp>
        <p:nvSpPr>
          <p:cNvPr id="47" name="metric">
            <a:extLst>
              <a:ext uri="{FF2B5EF4-FFF2-40B4-BE49-F238E27FC236}">
                <a16:creationId xmlns:a16="http://schemas.microsoft.com/office/drawing/2014/main" id="{788CE6F0-2C11-4C24-9D6B-4A53E04BEA37}"/>
              </a:ext>
            </a:extLst>
          </p:cNvPr>
          <p:cNvSpPr>
            <a:spLocks noGrp="1"/>
          </p:cNvSpPr>
          <p:nvPr/>
        </p:nvSpPr>
        <p:spPr>
          <a:xfrm>
            <a:off x="8286750" y="3762375"/>
            <a:ext cx="2352675" cy="1190625"/>
          </a:xfrm>
          <a:prstGeom prst="rect">
            <a:avLst/>
          </a:prstGeom>
          <a:solidFill>
            <a:srgbClr val="F7F8FA"/>
          </a:solidFill>
          <a:ln w="9525">
            <a:solidFill>
              <a:srgbClr val="B8BCC4"/>
            </a:solidFill>
            <a:prstDash val="solid"/>
          </a:ln>
        </p:spPr>
        <p:txBody>
          <a:bodyPr/>
          <a:lstStyle/>
          <a:p>
            <a:endParaRPr lang="en-US"/>
          </a:p>
        </p:txBody>
      </p:sp>
      <p:sp>
        <p:nvSpPr>
          <p:cNvPr id="48" name="metric-accent">
            <a:extLst>
              <a:ext uri="{FF2B5EF4-FFF2-40B4-BE49-F238E27FC236}">
                <a16:creationId xmlns:a16="http://schemas.microsoft.com/office/drawing/2014/main" id="{6D97476C-C608-428C-A150-2992E6FDDBD0}"/>
              </a:ext>
            </a:extLst>
          </p:cNvPr>
          <p:cNvSpPr>
            <a:spLocks noGrp="1"/>
          </p:cNvSpPr>
          <p:nvPr/>
        </p:nvSpPr>
        <p:spPr>
          <a:xfrm>
            <a:off x="8286750" y="3762375"/>
            <a:ext cx="76200" cy="1190625"/>
          </a:xfrm>
          <a:prstGeom prst="rect">
            <a:avLst/>
          </a:prstGeom>
          <a:solidFill>
            <a:srgbClr val="3D8DFF"/>
          </a:solidFill>
          <a:ln w="9525">
            <a:solidFill>
              <a:srgbClr val="3D8DFF"/>
            </a:solidFill>
            <a:prstDash val="solid"/>
          </a:ln>
        </p:spPr>
        <p:txBody>
          <a:bodyPr/>
          <a:lstStyle/>
          <a:p>
            <a:endParaRPr lang="en-US"/>
          </a:p>
        </p:txBody>
      </p:sp>
      <p:sp>
        <p:nvSpPr>
          <p:cNvPr id="49" name="metric-label">
            <a:extLst>
              <a:ext uri="{FF2B5EF4-FFF2-40B4-BE49-F238E27FC236}">
                <a16:creationId xmlns:a16="http://schemas.microsoft.com/office/drawing/2014/main" id="{5F1BB4E5-A7C7-4ECE-AD20-478DCF0568C5}"/>
              </a:ext>
            </a:extLst>
          </p:cNvPr>
          <p:cNvSpPr>
            <a:spLocks noGrp="1"/>
          </p:cNvSpPr>
          <p:nvPr/>
        </p:nvSpPr>
        <p:spPr>
          <a:xfrm>
            <a:off x="8496300" y="3933825"/>
            <a:ext cx="2028825"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MOTION BLUR</a:t>
            </a:r>
          </a:p>
        </p:txBody>
      </p:sp>
      <p:sp>
        <p:nvSpPr>
          <p:cNvPr id="50" name="metric-value">
            <a:extLst>
              <a:ext uri="{FF2B5EF4-FFF2-40B4-BE49-F238E27FC236}">
                <a16:creationId xmlns:a16="http://schemas.microsoft.com/office/drawing/2014/main" id="{659D7511-92AA-4D6C-96A3-58CE7256E7F7}"/>
              </a:ext>
            </a:extLst>
          </p:cNvPr>
          <p:cNvSpPr>
            <a:spLocks noGrp="1"/>
          </p:cNvSpPr>
          <p:nvPr/>
        </p:nvSpPr>
        <p:spPr>
          <a:xfrm>
            <a:off x="8496300" y="4171950"/>
            <a:ext cx="2028825"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 0.40 px</a:t>
            </a:r>
          </a:p>
        </p:txBody>
      </p:sp>
      <p:sp>
        <p:nvSpPr>
          <p:cNvPr id="51" name="metric-sub">
            <a:extLst>
              <a:ext uri="{FF2B5EF4-FFF2-40B4-BE49-F238E27FC236}">
                <a16:creationId xmlns:a16="http://schemas.microsoft.com/office/drawing/2014/main" id="{CFC4003D-2DAF-4A14-8534-94906F950DE2}"/>
              </a:ext>
            </a:extLst>
          </p:cNvPr>
          <p:cNvSpPr>
            <a:spLocks noGrp="1"/>
          </p:cNvSpPr>
          <p:nvPr/>
        </p:nvSpPr>
        <p:spPr>
          <a:xfrm>
            <a:off x="8496300" y="4629150"/>
            <a:ext cx="2028825"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exposure design limit</a:t>
            </a:r>
          </a:p>
        </p:txBody>
      </p:sp>
      <p:sp>
        <p:nvSpPr>
          <p:cNvPr id="52" name="text">
            <a:extLst>
              <a:ext uri="{FF2B5EF4-FFF2-40B4-BE49-F238E27FC236}">
                <a16:creationId xmlns:a16="http://schemas.microsoft.com/office/drawing/2014/main" id="{019B7116-5202-43AE-8454-119B1A241B12}"/>
              </a:ext>
            </a:extLst>
          </p:cNvPr>
          <p:cNvSpPr>
            <a:spLocks noGrp="1"/>
          </p:cNvSpPr>
          <p:nvPr/>
        </p:nvSpPr>
        <p:spPr>
          <a:xfrm>
            <a:off x="685800" y="5314950"/>
            <a:ext cx="8096250" cy="266700"/>
          </a:xfrm>
          <a:prstGeom prst="rect">
            <a:avLst/>
          </a:prstGeom>
          <a:noFill/>
          <a:ln w="0">
            <a:noFill/>
            <a:prstDash val="solid"/>
          </a:ln>
        </p:spPr>
        <p:txBody>
          <a:bodyPr/>
          <a:lstStyle/>
          <a:p>
            <a:pPr algn="l">
              <a:defRPr sz="1500" b="1">
                <a:solidFill>
                  <a:srgbClr val="111318"/>
                </a:solidFill>
              </a:defRPr>
            </a:pPr>
            <a:r>
              <a:rPr sz="1500" b="1">
                <a:solidFill>
                  <a:srgbClr val="111318"/>
                </a:solidFill>
              </a:rPr>
              <a:t>Optical budget is a calculable requirement — not a marketing number.</a:t>
            </a:r>
          </a:p>
        </p:txBody>
      </p:sp>
      <p:sp>
        <p:nvSpPr>
          <p:cNvPr id="53" name="Straight Connector 52">
            <a:extLst>
              <a:ext uri="{FF2B5EF4-FFF2-40B4-BE49-F238E27FC236}">
                <a16:creationId xmlns:a16="http://schemas.microsoft.com/office/drawing/2014/main" id="{1ED6C37F-B2BA-4891-B383-8C2BAFAE39AF}"/>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54" name="source">
            <a:extLst>
              <a:ext uri="{FF2B5EF4-FFF2-40B4-BE49-F238E27FC236}">
                <a16:creationId xmlns:a16="http://schemas.microsoft.com/office/drawing/2014/main" id="{DBEB7AE7-B931-4C81-B68B-F81352FE35AE}"/>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Design budget: 50 mm lens, 350 mm WD, 7.04 µm sensor pixels, 650 mm web.</a:t>
            </a:r>
          </a:p>
        </p:txBody>
      </p:sp>
      <p:sp>
        <p:nvSpPr>
          <p:cNvPr id="55" name="page">
            <a:extLst>
              <a:ext uri="{FF2B5EF4-FFF2-40B4-BE49-F238E27FC236}">
                <a16:creationId xmlns:a16="http://schemas.microsoft.com/office/drawing/2014/main" id="{5C596144-D490-4E1F-9E80-FA83DE48B80C}"/>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3</a:t>
            </a:r>
          </a:p>
        </p:txBody>
      </p:sp>
    </p:spTree>
    <p:extLst>
      <p:ext uri="{BB962C8B-B14F-4D97-AF65-F5344CB8AC3E}">
        <p14:creationId xmlns:p14="http://schemas.microsoft.com/office/powerpoint/2010/main" val="4286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eyebrow">
            <a:extLst>
              <a:ext uri="{FF2B5EF4-FFF2-40B4-BE49-F238E27FC236}">
                <a16:creationId xmlns:a16="http://schemas.microsoft.com/office/drawing/2014/main" id="{83D68CEE-4284-4B9A-8BF5-A5977D312D79}"/>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04  |  2:00–2:45</a:t>
            </a:r>
          </a:p>
        </p:txBody>
      </p:sp>
      <p:sp>
        <p:nvSpPr>
          <p:cNvPr id="2" name="title">
            <a:extLst>
              <a:ext uri="{FF2B5EF4-FFF2-40B4-BE49-F238E27FC236}">
                <a16:creationId xmlns:a16="http://schemas.microsoft.com/office/drawing/2014/main" id="{60481F25-3095-4204-8515-52E8BFC89C24}"/>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Fusion is anchored to material coordinates, not arrival time</a:t>
            </a:r>
          </a:p>
        </p:txBody>
      </p:sp>
      <p:sp>
        <p:nvSpPr>
          <p:cNvPr id="3" name="cn-title">
            <a:extLst>
              <a:ext uri="{FF2B5EF4-FFF2-40B4-BE49-F238E27FC236}">
                <a16:creationId xmlns:a16="http://schemas.microsoft.com/office/drawing/2014/main" id="{4202A10A-A3D4-4699-8ECA-1D87B532AA4F}"/>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多模态融合：锚定材料坐标，而非到达时间</a:t>
            </a:r>
          </a:p>
        </p:txBody>
      </p:sp>
      <p:sp>
        <p:nvSpPr>
          <p:cNvPr id="4" name="Straight Connector 3">
            <a:extLst>
              <a:ext uri="{FF2B5EF4-FFF2-40B4-BE49-F238E27FC236}">
                <a16:creationId xmlns:a16="http://schemas.microsoft.com/office/drawing/2014/main" id="{6294408C-8B48-43F8-B9D6-8CD4C0EEB65B}"/>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node">
            <a:extLst>
              <a:ext uri="{FF2B5EF4-FFF2-40B4-BE49-F238E27FC236}">
                <a16:creationId xmlns:a16="http://schemas.microsoft.com/office/drawing/2014/main" id="{6733B903-4407-4377-8B7E-4A84B829A373}"/>
              </a:ext>
            </a:extLst>
          </p:cNvPr>
          <p:cNvSpPr>
            <a:spLocks noGrp="1"/>
          </p:cNvSpPr>
          <p:nvPr/>
        </p:nvSpPr>
        <p:spPr>
          <a:xfrm>
            <a:off x="685800" y="2286000"/>
            <a:ext cx="2000250" cy="1162050"/>
          </a:xfrm>
          <a:prstGeom prst="rect">
            <a:avLst/>
          </a:prstGeom>
          <a:solidFill>
            <a:srgbClr val="D0EDFA"/>
          </a:solidFill>
          <a:ln w="9525">
            <a:solidFill>
              <a:srgbClr val="B8BCC4"/>
            </a:solidFill>
            <a:prstDash val="solid"/>
          </a:ln>
        </p:spPr>
        <p:txBody>
          <a:bodyPr/>
          <a:lstStyle/>
          <a:p>
            <a:endParaRPr lang="en-US"/>
          </a:p>
        </p:txBody>
      </p:sp>
      <p:sp>
        <p:nvSpPr>
          <p:cNvPr id="6" name="node-head">
            <a:extLst>
              <a:ext uri="{FF2B5EF4-FFF2-40B4-BE49-F238E27FC236}">
                <a16:creationId xmlns:a16="http://schemas.microsoft.com/office/drawing/2014/main" id="{2279C996-07B4-4D43-BAD8-B958FA68CC3A}"/>
              </a:ext>
            </a:extLst>
          </p:cNvPr>
          <p:cNvSpPr>
            <a:spLocks noGrp="1"/>
          </p:cNvSpPr>
          <p:nvPr/>
        </p:nvSpPr>
        <p:spPr>
          <a:xfrm>
            <a:off x="819150" y="2409825"/>
            <a:ext cx="17335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FrameContext</a:t>
            </a:r>
          </a:p>
        </p:txBody>
      </p:sp>
      <p:sp>
        <p:nvSpPr>
          <p:cNvPr id="7" name="node-body">
            <a:extLst>
              <a:ext uri="{FF2B5EF4-FFF2-40B4-BE49-F238E27FC236}">
                <a16:creationId xmlns:a16="http://schemas.microsoft.com/office/drawing/2014/main" id="{3497FF8A-04D4-4ED9-8ACF-FC4C3D504924}"/>
              </a:ext>
            </a:extLst>
          </p:cNvPr>
          <p:cNvSpPr>
            <a:spLocks noGrp="1"/>
          </p:cNvSpPr>
          <p:nvPr/>
        </p:nvSpPr>
        <p:spPr>
          <a:xfrm>
            <a:off x="819150" y="2657475"/>
            <a:ext cx="1733550" cy="723900"/>
          </a:xfrm>
          <a:prstGeom prst="rect">
            <a:avLst/>
          </a:prstGeom>
          <a:noFill/>
          <a:ln w="0">
            <a:noFill/>
            <a:prstDash val="solid"/>
          </a:ln>
        </p:spPr>
        <p:txBody>
          <a:bodyPr/>
          <a:lstStyle/>
          <a:p>
            <a:pPr algn="l">
              <a:defRPr sz="975" b="0">
                <a:solidFill>
                  <a:srgbClr val="5F6670"/>
                </a:solidFill>
              </a:defRPr>
            </a:pPr>
            <a:r>
              <a:rPr sz="975" b="0">
                <a:solidFill>
                  <a:srgbClr val="5F6670"/>
                </a:solidFill>
              </a:rPr>
              <a:t>roll ID</a:t>
            </a:r>
          </a:p>
          <a:p>
            <a:pPr algn="l">
              <a:defRPr sz="975" b="0">
                <a:solidFill>
                  <a:srgbClr val="5F6670"/>
                </a:solidFill>
              </a:defRPr>
            </a:pPr>
            <a:r>
              <a:rPr sz="975" b="0">
                <a:solidFill>
                  <a:srgbClr val="5F6670"/>
                </a:solidFill>
              </a:rPr>
              <a:t>encoder pulse at capture</a:t>
            </a:r>
          </a:p>
          <a:p>
            <a:pPr algn="l">
              <a:defRPr sz="975" b="0">
                <a:solidFill>
                  <a:srgbClr val="5F6670"/>
                </a:solidFill>
              </a:defRPr>
            </a:pPr>
            <a:r>
              <a:rPr sz="975" b="0">
                <a:solidFill>
                  <a:srgbClr val="5F6670"/>
                </a:solidFill>
              </a:rPr>
              <a:t>monotonic timestamp</a:t>
            </a:r>
          </a:p>
        </p:txBody>
      </p:sp>
      <p:sp>
        <p:nvSpPr>
          <p:cNvPr id="8" name="node">
            <a:extLst>
              <a:ext uri="{FF2B5EF4-FFF2-40B4-BE49-F238E27FC236}">
                <a16:creationId xmlns:a16="http://schemas.microsoft.com/office/drawing/2014/main" id="{D4EFBCB3-89E6-4930-81BE-C283112D39FD}"/>
              </a:ext>
            </a:extLst>
          </p:cNvPr>
          <p:cNvSpPr>
            <a:spLocks noGrp="1"/>
          </p:cNvSpPr>
          <p:nvPr/>
        </p:nvSpPr>
        <p:spPr>
          <a:xfrm>
            <a:off x="3619500" y="2095500"/>
            <a:ext cx="1857375" cy="704850"/>
          </a:xfrm>
          <a:prstGeom prst="rect">
            <a:avLst/>
          </a:prstGeom>
          <a:solidFill>
            <a:srgbClr val="FFFFFF"/>
          </a:solidFill>
          <a:ln w="9525">
            <a:solidFill>
              <a:srgbClr val="B8BCC4"/>
            </a:solidFill>
            <a:prstDash val="solid"/>
          </a:ln>
        </p:spPr>
        <p:txBody>
          <a:bodyPr/>
          <a:lstStyle/>
          <a:p>
            <a:endParaRPr lang="en-US"/>
          </a:p>
        </p:txBody>
      </p:sp>
      <p:sp>
        <p:nvSpPr>
          <p:cNvPr id="9" name="node-head">
            <a:extLst>
              <a:ext uri="{FF2B5EF4-FFF2-40B4-BE49-F238E27FC236}">
                <a16:creationId xmlns:a16="http://schemas.microsoft.com/office/drawing/2014/main" id="{C8CC2990-1810-42A9-ADAE-B0C9E81AEEAE}"/>
              </a:ext>
            </a:extLst>
          </p:cNvPr>
          <p:cNvSpPr>
            <a:spLocks noGrp="1"/>
          </p:cNvSpPr>
          <p:nvPr/>
        </p:nvSpPr>
        <p:spPr>
          <a:xfrm>
            <a:off x="3752850" y="2219325"/>
            <a:ext cx="1590675"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RGB</a:t>
            </a:r>
          </a:p>
        </p:txBody>
      </p:sp>
      <p:sp>
        <p:nvSpPr>
          <p:cNvPr id="10" name="node-body">
            <a:extLst>
              <a:ext uri="{FF2B5EF4-FFF2-40B4-BE49-F238E27FC236}">
                <a16:creationId xmlns:a16="http://schemas.microsoft.com/office/drawing/2014/main" id="{413DEDFF-D27B-4A6E-9FA8-5862917750E7}"/>
              </a:ext>
            </a:extLst>
          </p:cNvPr>
          <p:cNvSpPr>
            <a:spLocks noGrp="1"/>
          </p:cNvSpPr>
          <p:nvPr/>
        </p:nvSpPr>
        <p:spPr>
          <a:xfrm>
            <a:off x="3752850" y="2466975"/>
            <a:ext cx="1590675" cy="266700"/>
          </a:xfrm>
          <a:prstGeom prst="rect">
            <a:avLst/>
          </a:prstGeom>
          <a:noFill/>
          <a:ln w="0">
            <a:noFill/>
            <a:prstDash val="solid"/>
          </a:ln>
        </p:spPr>
        <p:txBody>
          <a:bodyPr/>
          <a:lstStyle/>
          <a:p>
            <a:pPr algn="l">
              <a:defRPr sz="975" b="0">
                <a:solidFill>
                  <a:srgbClr val="5F6670"/>
                </a:solidFill>
              </a:defRPr>
            </a:pPr>
            <a:r>
              <a:rPr sz="975" b="0">
                <a:solidFill>
                  <a:srgbClr val="5F6670"/>
                </a:solidFill>
              </a:rPr>
              <a:t>surface texture</a:t>
            </a:r>
          </a:p>
        </p:txBody>
      </p:sp>
      <p:sp>
        <p:nvSpPr>
          <p:cNvPr id="11" name="node">
            <a:extLst>
              <a:ext uri="{FF2B5EF4-FFF2-40B4-BE49-F238E27FC236}">
                <a16:creationId xmlns:a16="http://schemas.microsoft.com/office/drawing/2014/main" id="{D949189C-B31E-4D54-B499-1FF8523B1C7F}"/>
              </a:ext>
            </a:extLst>
          </p:cNvPr>
          <p:cNvSpPr>
            <a:spLocks noGrp="1"/>
          </p:cNvSpPr>
          <p:nvPr/>
        </p:nvSpPr>
        <p:spPr>
          <a:xfrm>
            <a:off x="3619500" y="3009900"/>
            <a:ext cx="1857375" cy="704850"/>
          </a:xfrm>
          <a:prstGeom prst="rect">
            <a:avLst/>
          </a:prstGeom>
          <a:solidFill>
            <a:srgbClr val="FFFFFF"/>
          </a:solidFill>
          <a:ln w="9525">
            <a:solidFill>
              <a:srgbClr val="B8BCC4"/>
            </a:solidFill>
            <a:prstDash val="solid"/>
          </a:ln>
        </p:spPr>
        <p:txBody>
          <a:bodyPr/>
          <a:lstStyle/>
          <a:p>
            <a:endParaRPr lang="en-US"/>
          </a:p>
        </p:txBody>
      </p:sp>
      <p:sp>
        <p:nvSpPr>
          <p:cNvPr id="12" name="node-head">
            <a:extLst>
              <a:ext uri="{FF2B5EF4-FFF2-40B4-BE49-F238E27FC236}">
                <a16:creationId xmlns:a16="http://schemas.microsoft.com/office/drawing/2014/main" id="{7D5510EC-5DF7-4138-BD03-475F7E9BD1AE}"/>
              </a:ext>
            </a:extLst>
          </p:cNvPr>
          <p:cNvSpPr>
            <a:spLocks noGrp="1"/>
          </p:cNvSpPr>
          <p:nvPr/>
        </p:nvSpPr>
        <p:spPr>
          <a:xfrm>
            <a:off x="3752850" y="3133725"/>
            <a:ext cx="1590675"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Traveling-wave thermal</a:t>
            </a:r>
          </a:p>
        </p:txBody>
      </p:sp>
      <p:sp>
        <p:nvSpPr>
          <p:cNvPr id="13" name="node-body">
            <a:extLst>
              <a:ext uri="{FF2B5EF4-FFF2-40B4-BE49-F238E27FC236}">
                <a16:creationId xmlns:a16="http://schemas.microsoft.com/office/drawing/2014/main" id="{F678C42B-A43F-4B7E-8666-73E5B430AFC4}"/>
              </a:ext>
            </a:extLst>
          </p:cNvPr>
          <p:cNvSpPr>
            <a:spLocks noGrp="1"/>
          </p:cNvSpPr>
          <p:nvPr/>
        </p:nvSpPr>
        <p:spPr>
          <a:xfrm>
            <a:off x="3752850" y="3381375"/>
            <a:ext cx="1590675" cy="266700"/>
          </a:xfrm>
          <a:prstGeom prst="rect">
            <a:avLst/>
          </a:prstGeom>
          <a:noFill/>
          <a:ln w="0">
            <a:noFill/>
            <a:prstDash val="solid"/>
          </a:ln>
        </p:spPr>
        <p:txBody>
          <a:bodyPr/>
          <a:lstStyle/>
          <a:p>
            <a:pPr algn="l">
              <a:defRPr sz="975" b="0">
                <a:solidFill>
                  <a:srgbClr val="5F6670"/>
                </a:solidFill>
              </a:defRPr>
            </a:pPr>
            <a:r>
              <a:rPr sz="975" b="0">
                <a:solidFill>
                  <a:srgbClr val="5F6670"/>
                </a:solidFill>
              </a:rPr>
              <a:t>phase / subsurface response</a:t>
            </a:r>
          </a:p>
        </p:txBody>
      </p:sp>
      <p:sp>
        <p:nvSpPr>
          <p:cNvPr id="14" name="node">
            <a:extLst>
              <a:ext uri="{FF2B5EF4-FFF2-40B4-BE49-F238E27FC236}">
                <a16:creationId xmlns:a16="http://schemas.microsoft.com/office/drawing/2014/main" id="{B4643E73-CD90-46B9-9C9F-3AF4E8EA77D3}"/>
              </a:ext>
            </a:extLst>
          </p:cNvPr>
          <p:cNvSpPr>
            <a:spLocks noGrp="1"/>
          </p:cNvSpPr>
          <p:nvPr/>
        </p:nvSpPr>
        <p:spPr>
          <a:xfrm>
            <a:off x="3619500" y="3924300"/>
            <a:ext cx="1857375" cy="704850"/>
          </a:xfrm>
          <a:prstGeom prst="rect">
            <a:avLst/>
          </a:prstGeom>
          <a:solidFill>
            <a:srgbClr val="FFFFFF"/>
          </a:solidFill>
          <a:ln w="9525">
            <a:solidFill>
              <a:srgbClr val="B8BCC4"/>
            </a:solidFill>
            <a:prstDash val="solid"/>
          </a:ln>
        </p:spPr>
        <p:txBody>
          <a:bodyPr/>
          <a:lstStyle/>
          <a:p>
            <a:endParaRPr lang="en-US"/>
          </a:p>
        </p:txBody>
      </p:sp>
      <p:sp>
        <p:nvSpPr>
          <p:cNvPr id="15" name="node-head">
            <a:extLst>
              <a:ext uri="{FF2B5EF4-FFF2-40B4-BE49-F238E27FC236}">
                <a16:creationId xmlns:a16="http://schemas.microsoft.com/office/drawing/2014/main" id="{7284B682-EB31-4DB5-9656-796EEFBE9024}"/>
              </a:ext>
            </a:extLst>
          </p:cNvPr>
          <p:cNvSpPr>
            <a:spLocks noGrp="1"/>
          </p:cNvSpPr>
          <p:nvPr/>
        </p:nvSpPr>
        <p:spPr>
          <a:xfrm>
            <a:off x="3752850" y="4048125"/>
            <a:ext cx="1590675"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Laser 3D</a:t>
            </a:r>
          </a:p>
        </p:txBody>
      </p:sp>
      <p:sp>
        <p:nvSpPr>
          <p:cNvPr id="16" name="node-body">
            <a:extLst>
              <a:ext uri="{FF2B5EF4-FFF2-40B4-BE49-F238E27FC236}">
                <a16:creationId xmlns:a16="http://schemas.microsoft.com/office/drawing/2014/main" id="{66B44623-119C-4E48-B37D-EF72F8ABFAFD}"/>
              </a:ext>
            </a:extLst>
          </p:cNvPr>
          <p:cNvSpPr>
            <a:spLocks noGrp="1"/>
          </p:cNvSpPr>
          <p:nvPr/>
        </p:nvSpPr>
        <p:spPr>
          <a:xfrm>
            <a:off x="3752850" y="4295775"/>
            <a:ext cx="1590675" cy="266700"/>
          </a:xfrm>
          <a:prstGeom prst="rect">
            <a:avLst/>
          </a:prstGeom>
          <a:noFill/>
          <a:ln w="0">
            <a:noFill/>
            <a:prstDash val="solid"/>
          </a:ln>
        </p:spPr>
        <p:txBody>
          <a:bodyPr/>
          <a:lstStyle/>
          <a:p>
            <a:pPr algn="l">
              <a:defRPr sz="975" b="0">
                <a:solidFill>
                  <a:srgbClr val="5F6670"/>
                </a:solidFill>
              </a:defRPr>
            </a:pPr>
            <a:r>
              <a:rPr sz="975" b="0">
                <a:solidFill>
                  <a:srgbClr val="5F6670"/>
                </a:solidFill>
              </a:rPr>
              <a:t>height / topology</a:t>
            </a:r>
          </a:p>
        </p:txBody>
      </p:sp>
      <p:sp>
        <p:nvSpPr>
          <p:cNvPr id="17" name="node">
            <a:extLst>
              <a:ext uri="{FF2B5EF4-FFF2-40B4-BE49-F238E27FC236}">
                <a16:creationId xmlns:a16="http://schemas.microsoft.com/office/drawing/2014/main" id="{D7FCB003-E8D5-4CBC-8F0E-7BEE76328FC6}"/>
              </a:ext>
            </a:extLst>
          </p:cNvPr>
          <p:cNvSpPr>
            <a:spLocks noGrp="1"/>
          </p:cNvSpPr>
          <p:nvPr/>
        </p:nvSpPr>
        <p:spPr>
          <a:xfrm>
            <a:off x="6619875" y="2724150"/>
            <a:ext cx="1857375" cy="1200150"/>
          </a:xfrm>
          <a:prstGeom prst="rect">
            <a:avLst/>
          </a:prstGeom>
          <a:solidFill>
            <a:srgbClr val="FFFFFF"/>
          </a:solidFill>
          <a:ln w="9525">
            <a:solidFill>
              <a:srgbClr val="B8BCC4"/>
            </a:solidFill>
            <a:prstDash val="solid"/>
          </a:ln>
        </p:spPr>
        <p:txBody>
          <a:bodyPr/>
          <a:lstStyle/>
          <a:p>
            <a:endParaRPr lang="en-US"/>
          </a:p>
        </p:txBody>
      </p:sp>
      <p:sp>
        <p:nvSpPr>
          <p:cNvPr id="18" name="node-head">
            <a:extLst>
              <a:ext uri="{FF2B5EF4-FFF2-40B4-BE49-F238E27FC236}">
                <a16:creationId xmlns:a16="http://schemas.microsoft.com/office/drawing/2014/main" id="{27B584B3-E87B-41BD-8D39-21AF1577D399}"/>
              </a:ext>
            </a:extLst>
          </p:cNvPr>
          <p:cNvSpPr>
            <a:spLocks noGrp="1"/>
          </p:cNvSpPr>
          <p:nvPr/>
        </p:nvSpPr>
        <p:spPr>
          <a:xfrm>
            <a:off x="6753225" y="2847975"/>
            <a:ext cx="1590675"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5-layer tensor</a:t>
            </a:r>
          </a:p>
        </p:txBody>
      </p:sp>
      <p:sp>
        <p:nvSpPr>
          <p:cNvPr id="19" name="node-body">
            <a:extLst>
              <a:ext uri="{FF2B5EF4-FFF2-40B4-BE49-F238E27FC236}">
                <a16:creationId xmlns:a16="http://schemas.microsoft.com/office/drawing/2014/main" id="{10C1D336-3435-4117-8ECA-D3ED4271829F}"/>
              </a:ext>
            </a:extLst>
          </p:cNvPr>
          <p:cNvSpPr>
            <a:spLocks noGrp="1"/>
          </p:cNvSpPr>
          <p:nvPr/>
        </p:nvSpPr>
        <p:spPr>
          <a:xfrm>
            <a:off x="6753225" y="3095625"/>
            <a:ext cx="1590675" cy="762000"/>
          </a:xfrm>
          <a:prstGeom prst="rect">
            <a:avLst/>
          </a:prstGeom>
          <a:noFill/>
          <a:ln w="0">
            <a:noFill/>
            <a:prstDash val="solid"/>
          </a:ln>
        </p:spPr>
        <p:txBody>
          <a:bodyPr/>
          <a:lstStyle/>
          <a:p>
            <a:pPr algn="l">
              <a:defRPr sz="975" b="0">
                <a:solidFill>
                  <a:srgbClr val="5F6670"/>
                </a:solidFill>
              </a:defRPr>
            </a:pPr>
            <a:r>
              <a:rPr sz="975" b="0">
                <a:solidFill>
                  <a:srgbClr val="5F6670"/>
                </a:solidFill>
              </a:rPr>
              <a:t>[R, G, B, ΔT/phase, Z]</a:t>
            </a:r>
          </a:p>
          <a:p>
            <a:pPr algn="l">
              <a:defRPr sz="975" b="0">
                <a:solidFill>
                  <a:srgbClr val="5F6670"/>
                </a:solidFill>
              </a:defRPr>
            </a:pPr>
            <a:r>
              <a:rPr sz="975" b="0">
                <a:solidFill>
                  <a:srgbClr val="5F6670"/>
                </a:solidFill>
              </a:rPr>
              <a:t>spatial warp + quality flags</a:t>
            </a:r>
          </a:p>
        </p:txBody>
      </p:sp>
      <p:sp>
        <p:nvSpPr>
          <p:cNvPr id="20" name="node">
            <a:extLst>
              <a:ext uri="{FF2B5EF4-FFF2-40B4-BE49-F238E27FC236}">
                <a16:creationId xmlns:a16="http://schemas.microsoft.com/office/drawing/2014/main" id="{170380CB-BA0B-4E9B-ABCD-A737F15AF24B}"/>
              </a:ext>
            </a:extLst>
          </p:cNvPr>
          <p:cNvSpPr>
            <a:spLocks noGrp="1"/>
          </p:cNvSpPr>
          <p:nvPr/>
        </p:nvSpPr>
        <p:spPr>
          <a:xfrm>
            <a:off x="9563100" y="2724150"/>
            <a:ext cx="1809750" cy="1200150"/>
          </a:xfrm>
          <a:prstGeom prst="rect">
            <a:avLst/>
          </a:prstGeom>
          <a:solidFill>
            <a:srgbClr val="D0EDFA"/>
          </a:solidFill>
          <a:ln w="9525">
            <a:solidFill>
              <a:srgbClr val="B8BCC4"/>
            </a:solidFill>
            <a:prstDash val="solid"/>
          </a:ln>
        </p:spPr>
        <p:txBody>
          <a:bodyPr/>
          <a:lstStyle/>
          <a:p>
            <a:endParaRPr lang="en-US"/>
          </a:p>
        </p:txBody>
      </p:sp>
      <p:sp>
        <p:nvSpPr>
          <p:cNvPr id="21" name="node-head">
            <a:extLst>
              <a:ext uri="{FF2B5EF4-FFF2-40B4-BE49-F238E27FC236}">
                <a16:creationId xmlns:a16="http://schemas.microsoft.com/office/drawing/2014/main" id="{EA8F7A11-80FA-40F7-B72B-6E6355BB1223}"/>
              </a:ext>
            </a:extLst>
          </p:cNvPr>
          <p:cNvSpPr>
            <a:spLocks noGrp="1"/>
          </p:cNvSpPr>
          <p:nvPr/>
        </p:nvSpPr>
        <p:spPr>
          <a:xfrm>
            <a:off x="9696450" y="2847975"/>
            <a:ext cx="15430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Decision event</a:t>
            </a:r>
          </a:p>
        </p:txBody>
      </p:sp>
      <p:sp>
        <p:nvSpPr>
          <p:cNvPr id="22" name="node-body">
            <a:extLst>
              <a:ext uri="{FF2B5EF4-FFF2-40B4-BE49-F238E27FC236}">
                <a16:creationId xmlns:a16="http://schemas.microsoft.com/office/drawing/2014/main" id="{825CD24E-77FB-4720-BF1D-23F7B475D672}"/>
              </a:ext>
            </a:extLst>
          </p:cNvPr>
          <p:cNvSpPr>
            <a:spLocks noGrp="1"/>
          </p:cNvSpPr>
          <p:nvPr/>
        </p:nvSpPr>
        <p:spPr>
          <a:xfrm>
            <a:off x="9696450" y="3095625"/>
            <a:ext cx="1543050" cy="762000"/>
          </a:xfrm>
          <a:prstGeom prst="rect">
            <a:avLst/>
          </a:prstGeom>
          <a:noFill/>
          <a:ln w="0">
            <a:noFill/>
            <a:prstDash val="solid"/>
          </a:ln>
        </p:spPr>
        <p:txBody>
          <a:bodyPr/>
          <a:lstStyle/>
          <a:p>
            <a:pPr algn="l">
              <a:defRPr sz="975" b="0">
                <a:solidFill>
                  <a:srgbClr val="5F6670"/>
                </a:solidFill>
              </a:defRPr>
            </a:pPr>
            <a:r>
              <a:rPr sz="975" b="0">
                <a:solidFill>
                  <a:srgbClr val="5F6670"/>
                </a:solidFill>
              </a:rPr>
              <a:t>X_m · Y_mm · lane</a:t>
            </a:r>
          </a:p>
          <a:p>
            <a:pPr algn="l">
              <a:defRPr sz="975" b="0">
                <a:solidFill>
                  <a:srgbClr val="5F6670"/>
                </a:solidFill>
              </a:defRPr>
            </a:pPr>
            <a:r>
              <a:rPr sz="975" b="0">
                <a:solidFill>
                  <a:srgbClr val="5F6670"/>
                </a:solidFill>
              </a:rPr>
              <a:t>confidence · disposition</a:t>
            </a:r>
          </a:p>
        </p:txBody>
      </p:sp>
      <p:cxnSp>
        <p:nvCxnSpPr>
          <p:cNvPr id="56" name="Straight Arrow Connector 55"/>
          <p:cNvCxnSpPr>
            <a:stCxn id="5" idx="3"/>
            <a:endCxn id="8" idx="1"/>
          </p:cNvCxnSpPr>
          <p:nvPr/>
        </p:nvCxnSpPr>
        <p:spPr>
          <a:xfrm flipV="1">
            <a:off x="2686050" y="2447925"/>
            <a:ext cx="933450" cy="419100"/>
          </a:xfrm>
          <a:prstGeom prst="straightConnector1">
            <a:avLst/>
          </a:prstGeom>
          <a:ln w="19050">
            <a:solidFill>
              <a:srgbClr val="3D8DFF"/>
            </a:solidFill>
            <a:prstDash val="solid"/>
            <a:headEnd type="triangle" w="sm" len="sm"/>
          </a:ln>
        </p:spPr>
      </p:cxnSp>
      <p:cxnSp>
        <p:nvCxnSpPr>
          <p:cNvPr id="57" name="Straight Arrow Connector 56"/>
          <p:cNvCxnSpPr>
            <a:stCxn id="5" idx="3"/>
            <a:endCxn id="11" idx="1"/>
          </p:cNvCxnSpPr>
          <p:nvPr/>
        </p:nvCxnSpPr>
        <p:spPr>
          <a:xfrm>
            <a:off x="2686050" y="2867025"/>
            <a:ext cx="933450" cy="495300"/>
          </a:xfrm>
          <a:prstGeom prst="straightConnector1">
            <a:avLst/>
          </a:prstGeom>
          <a:ln w="19050">
            <a:solidFill>
              <a:srgbClr val="3D8DFF"/>
            </a:solidFill>
            <a:prstDash val="solid"/>
            <a:headEnd type="triangle" w="sm" len="sm"/>
          </a:ln>
        </p:spPr>
      </p:cxnSp>
      <p:cxnSp>
        <p:nvCxnSpPr>
          <p:cNvPr id="58" name="Straight Arrow Connector 57"/>
          <p:cNvCxnSpPr>
            <a:stCxn id="5" idx="3"/>
            <a:endCxn id="14" idx="1"/>
          </p:cNvCxnSpPr>
          <p:nvPr/>
        </p:nvCxnSpPr>
        <p:spPr>
          <a:xfrm>
            <a:off x="2686050" y="2867025"/>
            <a:ext cx="933450" cy="1409700"/>
          </a:xfrm>
          <a:prstGeom prst="straightConnector1">
            <a:avLst/>
          </a:prstGeom>
          <a:ln w="19050">
            <a:solidFill>
              <a:srgbClr val="3D8DFF"/>
            </a:solidFill>
            <a:prstDash val="solid"/>
            <a:headEnd type="triangle" w="sm" len="sm"/>
          </a:ln>
        </p:spPr>
      </p:cxnSp>
      <p:cxnSp>
        <p:nvCxnSpPr>
          <p:cNvPr id="59" name="Straight Arrow Connector 58"/>
          <p:cNvCxnSpPr>
            <a:stCxn id="8" idx="3"/>
            <a:endCxn id="17" idx="1"/>
          </p:cNvCxnSpPr>
          <p:nvPr/>
        </p:nvCxnSpPr>
        <p:spPr>
          <a:xfrm>
            <a:off x="5476875" y="2447925"/>
            <a:ext cx="1143000" cy="876300"/>
          </a:xfrm>
          <a:prstGeom prst="straightConnector1">
            <a:avLst/>
          </a:prstGeom>
          <a:ln w="19050">
            <a:solidFill>
              <a:srgbClr val="3D8DFF"/>
            </a:solidFill>
            <a:prstDash val="solid"/>
            <a:headEnd type="triangle" w="sm" len="sm"/>
          </a:ln>
        </p:spPr>
      </p:cxnSp>
      <p:cxnSp>
        <p:nvCxnSpPr>
          <p:cNvPr id="60" name="Straight Arrow Connector 59"/>
          <p:cNvCxnSpPr>
            <a:stCxn id="11" idx="3"/>
            <a:endCxn id="17" idx="1"/>
          </p:cNvCxnSpPr>
          <p:nvPr/>
        </p:nvCxnSpPr>
        <p:spPr>
          <a:xfrm flipV="1">
            <a:off x="5476875" y="3324225"/>
            <a:ext cx="1143000" cy="38100"/>
          </a:xfrm>
          <a:prstGeom prst="straightConnector1">
            <a:avLst/>
          </a:prstGeom>
          <a:ln w="19050">
            <a:solidFill>
              <a:srgbClr val="3D8DFF"/>
            </a:solidFill>
            <a:prstDash val="solid"/>
            <a:headEnd type="triangle" w="sm" len="sm"/>
          </a:ln>
        </p:spPr>
      </p:cxnSp>
      <p:cxnSp>
        <p:nvCxnSpPr>
          <p:cNvPr id="61" name="Straight Arrow Connector 60"/>
          <p:cNvCxnSpPr>
            <a:stCxn id="14" idx="3"/>
            <a:endCxn id="17" idx="1"/>
          </p:cNvCxnSpPr>
          <p:nvPr/>
        </p:nvCxnSpPr>
        <p:spPr>
          <a:xfrm flipV="1">
            <a:off x="5476875" y="3324225"/>
            <a:ext cx="1143000" cy="952500"/>
          </a:xfrm>
          <a:prstGeom prst="straightConnector1">
            <a:avLst/>
          </a:prstGeom>
          <a:ln w="19050">
            <a:solidFill>
              <a:srgbClr val="3D8DFF"/>
            </a:solidFill>
            <a:prstDash val="solid"/>
            <a:headEnd type="triangle" w="sm" len="sm"/>
          </a:ln>
        </p:spPr>
      </p:cxnSp>
      <p:cxnSp>
        <p:nvCxnSpPr>
          <p:cNvPr id="62" name="Straight Arrow Connector 61"/>
          <p:cNvCxnSpPr>
            <a:stCxn id="17" idx="3"/>
            <a:endCxn id="20" idx="1"/>
          </p:cNvCxnSpPr>
          <p:nvPr/>
        </p:nvCxnSpPr>
        <p:spPr>
          <a:xfrm>
            <a:off x="8477250" y="3324225"/>
            <a:ext cx="1085850" cy="0"/>
          </a:xfrm>
          <a:prstGeom prst="straightConnector1">
            <a:avLst/>
          </a:prstGeom>
          <a:ln w="19050">
            <a:solidFill>
              <a:srgbClr val="3D8DFF"/>
            </a:solidFill>
            <a:prstDash val="solid"/>
            <a:headEnd type="triangle" w="sm" len="sm"/>
          </a:ln>
        </p:spPr>
      </p:cxnSp>
      <p:sp>
        <p:nvSpPr>
          <p:cNvPr id="30" name="text">
            <a:extLst>
              <a:ext uri="{FF2B5EF4-FFF2-40B4-BE49-F238E27FC236}">
                <a16:creationId xmlns:a16="http://schemas.microsoft.com/office/drawing/2014/main" id="{4A3424C7-6E7D-4C53-80A4-24BB80158BBC}"/>
              </a:ext>
            </a:extLst>
          </p:cNvPr>
          <p:cNvSpPr>
            <a:spLocks noGrp="1"/>
          </p:cNvSpPr>
          <p:nvPr/>
        </p:nvSpPr>
        <p:spPr>
          <a:xfrm>
            <a:off x="685800" y="5286375"/>
            <a:ext cx="10382250" cy="285750"/>
          </a:xfrm>
          <a:prstGeom prst="rect">
            <a:avLst/>
          </a:prstGeom>
          <a:noFill/>
          <a:ln w="0">
            <a:noFill/>
            <a:prstDash val="solid"/>
          </a:ln>
        </p:spPr>
        <p:txBody>
          <a:bodyPr/>
          <a:lstStyle/>
          <a:p>
            <a:pPr algn="l">
              <a:defRPr sz="1425" b="1">
                <a:solidFill>
                  <a:srgbClr val="111318"/>
                </a:solidFill>
              </a:defRPr>
            </a:pPr>
            <a:r>
              <a:rPr sz="1425" b="1">
                <a:solidFill>
                  <a:srgbClr val="111318"/>
                </a:solidFill>
              </a:rPr>
              <a:t>FrameContext preserves the web position at photon capture; downstream latency cannot shift the defect coordinate.</a:t>
            </a:r>
          </a:p>
        </p:txBody>
      </p:sp>
      <p:sp>
        <p:nvSpPr>
          <p:cNvPr id="31" name="Straight Connector 30">
            <a:extLst>
              <a:ext uri="{FF2B5EF4-FFF2-40B4-BE49-F238E27FC236}">
                <a16:creationId xmlns:a16="http://schemas.microsoft.com/office/drawing/2014/main" id="{B6628FB7-EC2D-438D-A47C-3B19DE8BCBC8}"/>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32" name="source">
            <a:extLst>
              <a:ext uri="{FF2B5EF4-FFF2-40B4-BE49-F238E27FC236}">
                <a16:creationId xmlns:a16="http://schemas.microsoft.com/office/drawing/2014/main" id="{4776CD9E-C726-4FDE-A39C-70CFA6212482}"/>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Temporal anchoring is implemented in the prototype; real sensor streams remain a pilot integration gate.</a:t>
            </a:r>
          </a:p>
        </p:txBody>
      </p:sp>
      <p:sp>
        <p:nvSpPr>
          <p:cNvPr id="33" name="page">
            <a:extLst>
              <a:ext uri="{FF2B5EF4-FFF2-40B4-BE49-F238E27FC236}">
                <a16:creationId xmlns:a16="http://schemas.microsoft.com/office/drawing/2014/main" id="{EF097105-40A6-4121-B1B6-FE922FBB5792}"/>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4</a:t>
            </a:r>
          </a:p>
        </p:txBody>
      </p:sp>
    </p:spTree>
    <p:extLst>
      <p:ext uri="{BB962C8B-B14F-4D97-AF65-F5344CB8AC3E}">
        <p14:creationId xmlns:p14="http://schemas.microsoft.com/office/powerpoint/2010/main" val="1413827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eyebrow">
            <a:extLst>
              <a:ext uri="{FF2B5EF4-FFF2-40B4-BE49-F238E27FC236}">
                <a16:creationId xmlns:a16="http://schemas.microsoft.com/office/drawing/2014/main" id="{D2889611-AAF6-4A5E-8E05-1785A4129EFA}"/>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05  |  2:45–3:35</a:t>
            </a:r>
          </a:p>
        </p:txBody>
      </p:sp>
      <p:sp>
        <p:nvSpPr>
          <p:cNvPr id="2" name="title">
            <a:extLst>
              <a:ext uri="{FF2B5EF4-FFF2-40B4-BE49-F238E27FC236}">
                <a16:creationId xmlns:a16="http://schemas.microsoft.com/office/drawing/2014/main" id="{26DD4616-151B-44A2-9BF4-DD1368341887}"/>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A mask becomes a guard-banded measurement record</a:t>
            </a:r>
          </a:p>
        </p:txBody>
      </p:sp>
      <p:sp>
        <p:nvSpPr>
          <p:cNvPr id="3" name="cn-title">
            <a:extLst>
              <a:ext uri="{FF2B5EF4-FFF2-40B4-BE49-F238E27FC236}">
                <a16:creationId xmlns:a16="http://schemas.microsoft.com/office/drawing/2014/main" id="{1684E8D0-2E59-4D3A-BFFC-6656F3B7CEF8}"/>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从分割掩膜到带防护带的测量记录</a:t>
            </a:r>
          </a:p>
        </p:txBody>
      </p:sp>
      <p:sp>
        <p:nvSpPr>
          <p:cNvPr id="4" name="Straight Connector 3">
            <a:extLst>
              <a:ext uri="{FF2B5EF4-FFF2-40B4-BE49-F238E27FC236}">
                <a16:creationId xmlns:a16="http://schemas.microsoft.com/office/drawing/2014/main" id="{5D7619A4-A820-4625-A538-B568375DD651}"/>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rect">
            <a:extLst>
              <a:ext uri="{FF2B5EF4-FFF2-40B4-BE49-F238E27FC236}">
                <a16:creationId xmlns:a16="http://schemas.microsoft.com/office/drawing/2014/main" id="{028C5AA7-395B-489F-9F97-B236809AAA85}"/>
              </a:ext>
            </a:extLst>
          </p:cNvPr>
          <p:cNvSpPr>
            <a:spLocks noGrp="1"/>
          </p:cNvSpPr>
          <p:nvPr/>
        </p:nvSpPr>
        <p:spPr>
          <a:xfrm>
            <a:off x="685800" y="2085975"/>
            <a:ext cx="7286625" cy="457200"/>
          </a:xfrm>
          <a:prstGeom prst="rect">
            <a:avLst/>
          </a:prstGeom>
          <a:solidFill>
            <a:srgbClr val="F7F8FA"/>
          </a:solidFill>
          <a:ln w="9525">
            <a:solidFill>
              <a:srgbClr val="B8BCC4"/>
            </a:solidFill>
            <a:prstDash val="solid"/>
          </a:ln>
        </p:spPr>
        <p:txBody>
          <a:bodyPr/>
          <a:lstStyle/>
          <a:p>
            <a:endParaRPr lang="en-US"/>
          </a:p>
        </p:txBody>
      </p:sp>
      <p:sp>
        <p:nvSpPr>
          <p:cNvPr id="6" name="text">
            <a:extLst>
              <a:ext uri="{FF2B5EF4-FFF2-40B4-BE49-F238E27FC236}">
                <a16:creationId xmlns:a16="http://schemas.microsoft.com/office/drawing/2014/main" id="{BF6FC32A-6736-4FEA-9435-BA77071DDE6B}"/>
              </a:ext>
            </a:extLst>
          </p:cNvPr>
          <p:cNvSpPr>
            <a:spLocks noGrp="1"/>
          </p:cNvSpPr>
          <p:nvPr/>
        </p:nvSpPr>
        <p:spPr>
          <a:xfrm>
            <a:off x="838200" y="2219325"/>
            <a:ext cx="1562100" cy="180975"/>
          </a:xfrm>
          <a:prstGeom prst="rect">
            <a:avLst/>
          </a:prstGeom>
          <a:noFill/>
          <a:ln w="0">
            <a:noFill/>
            <a:prstDash val="solid"/>
          </a:ln>
        </p:spPr>
        <p:txBody>
          <a:bodyPr/>
          <a:lstStyle/>
          <a:p>
            <a:pPr algn="l">
              <a:defRPr sz="1200" b="1">
                <a:solidFill>
                  <a:srgbClr val="111318"/>
                </a:solidFill>
              </a:defRPr>
            </a:pPr>
            <a:r>
              <a:rPr sz="1200" b="1">
                <a:solidFill>
                  <a:srgbClr val="111318"/>
                </a:solidFill>
              </a:rPr>
              <a:t>1  Geometry</a:t>
            </a:r>
          </a:p>
        </p:txBody>
      </p:sp>
      <p:sp>
        <p:nvSpPr>
          <p:cNvPr id="7" name="text">
            <a:extLst>
              <a:ext uri="{FF2B5EF4-FFF2-40B4-BE49-F238E27FC236}">
                <a16:creationId xmlns:a16="http://schemas.microsoft.com/office/drawing/2014/main" id="{0AE5A5C1-52B5-475F-A8E8-07B098CAC709}"/>
              </a:ext>
            </a:extLst>
          </p:cNvPr>
          <p:cNvSpPr>
            <a:spLocks noGrp="1"/>
          </p:cNvSpPr>
          <p:nvPr/>
        </p:nvSpPr>
        <p:spPr>
          <a:xfrm>
            <a:off x="2638425" y="2219325"/>
            <a:ext cx="5048250" cy="180975"/>
          </a:xfrm>
          <a:prstGeom prst="rect">
            <a:avLst/>
          </a:prstGeom>
          <a:noFill/>
          <a:ln w="0">
            <a:noFill/>
            <a:prstDash val="solid"/>
          </a:ln>
        </p:spPr>
        <p:txBody>
          <a:bodyPr/>
          <a:lstStyle/>
          <a:p>
            <a:pPr algn="l">
              <a:defRPr sz="1200" b="0">
                <a:solidFill>
                  <a:srgbClr val="111318"/>
                </a:solidFill>
              </a:defRPr>
            </a:pPr>
            <a:r>
              <a:rPr sz="1200" b="0">
                <a:solidFill>
                  <a:srgbClr val="111318"/>
                </a:solidFill>
              </a:rPr>
              <a:t>minAreaRect · web angle · area</a:t>
            </a:r>
          </a:p>
        </p:txBody>
      </p:sp>
      <p:sp>
        <p:nvSpPr>
          <p:cNvPr id="8" name="rect">
            <a:extLst>
              <a:ext uri="{FF2B5EF4-FFF2-40B4-BE49-F238E27FC236}">
                <a16:creationId xmlns:a16="http://schemas.microsoft.com/office/drawing/2014/main" id="{5AC120C3-5478-4E3C-8A6C-CCADA0188CDB}"/>
              </a:ext>
            </a:extLst>
          </p:cNvPr>
          <p:cNvSpPr>
            <a:spLocks noGrp="1"/>
          </p:cNvSpPr>
          <p:nvPr/>
        </p:nvSpPr>
        <p:spPr>
          <a:xfrm>
            <a:off x="685800" y="2695575"/>
            <a:ext cx="7286625" cy="457200"/>
          </a:xfrm>
          <a:prstGeom prst="rect">
            <a:avLst/>
          </a:prstGeom>
          <a:solidFill>
            <a:srgbClr val="F7F8FA"/>
          </a:solidFill>
          <a:ln w="9525">
            <a:solidFill>
              <a:srgbClr val="B8BCC4"/>
            </a:solidFill>
            <a:prstDash val="solid"/>
          </a:ln>
        </p:spPr>
        <p:txBody>
          <a:bodyPr/>
          <a:lstStyle/>
          <a:p>
            <a:endParaRPr lang="en-US"/>
          </a:p>
        </p:txBody>
      </p:sp>
      <p:sp>
        <p:nvSpPr>
          <p:cNvPr id="9" name="text">
            <a:extLst>
              <a:ext uri="{FF2B5EF4-FFF2-40B4-BE49-F238E27FC236}">
                <a16:creationId xmlns:a16="http://schemas.microsoft.com/office/drawing/2014/main" id="{C0DD05C8-8D38-40E7-AAB4-4B67AA16450F}"/>
              </a:ext>
            </a:extLst>
          </p:cNvPr>
          <p:cNvSpPr>
            <a:spLocks noGrp="1"/>
          </p:cNvSpPr>
          <p:nvPr/>
        </p:nvSpPr>
        <p:spPr>
          <a:xfrm>
            <a:off x="838200" y="2828925"/>
            <a:ext cx="1562100" cy="180975"/>
          </a:xfrm>
          <a:prstGeom prst="rect">
            <a:avLst/>
          </a:prstGeom>
          <a:noFill/>
          <a:ln w="0">
            <a:noFill/>
            <a:prstDash val="solid"/>
          </a:ln>
        </p:spPr>
        <p:txBody>
          <a:bodyPr/>
          <a:lstStyle/>
          <a:p>
            <a:pPr algn="l">
              <a:defRPr sz="1200" b="1">
                <a:solidFill>
                  <a:srgbClr val="111318"/>
                </a:solidFill>
              </a:defRPr>
            </a:pPr>
            <a:r>
              <a:rPr sz="1200" b="1">
                <a:solidFill>
                  <a:srgbClr val="111318"/>
                </a:solidFill>
              </a:rPr>
              <a:t>2  Topography</a:t>
            </a:r>
          </a:p>
        </p:txBody>
      </p:sp>
      <p:sp>
        <p:nvSpPr>
          <p:cNvPr id="10" name="text">
            <a:extLst>
              <a:ext uri="{FF2B5EF4-FFF2-40B4-BE49-F238E27FC236}">
                <a16:creationId xmlns:a16="http://schemas.microsoft.com/office/drawing/2014/main" id="{7BD2964F-9AE6-4F98-AB6E-420D4D521634}"/>
              </a:ext>
            </a:extLst>
          </p:cNvPr>
          <p:cNvSpPr>
            <a:spLocks noGrp="1"/>
          </p:cNvSpPr>
          <p:nvPr/>
        </p:nvSpPr>
        <p:spPr>
          <a:xfrm>
            <a:off x="2638425" y="2828925"/>
            <a:ext cx="5048250" cy="180975"/>
          </a:xfrm>
          <a:prstGeom prst="rect">
            <a:avLst/>
          </a:prstGeom>
          <a:noFill/>
          <a:ln w="0">
            <a:noFill/>
            <a:prstDash val="solid"/>
          </a:ln>
        </p:spPr>
        <p:txBody>
          <a:bodyPr/>
          <a:lstStyle/>
          <a:p>
            <a:pPr algn="l">
              <a:defRPr sz="1200" b="0">
                <a:solidFill>
                  <a:srgbClr val="111318"/>
                </a:solidFill>
              </a:defRPr>
            </a:pPr>
            <a:r>
              <a:rPr sz="1200" b="0">
                <a:solidFill>
                  <a:srgbClr val="111318"/>
                </a:solidFill>
              </a:rPr>
              <a:t>plane leveling · Ra · volume</a:t>
            </a:r>
          </a:p>
        </p:txBody>
      </p:sp>
      <p:sp>
        <p:nvSpPr>
          <p:cNvPr id="11" name="rect">
            <a:extLst>
              <a:ext uri="{FF2B5EF4-FFF2-40B4-BE49-F238E27FC236}">
                <a16:creationId xmlns:a16="http://schemas.microsoft.com/office/drawing/2014/main" id="{623121E2-7BB5-44FB-8C35-8F8A925E5B33}"/>
              </a:ext>
            </a:extLst>
          </p:cNvPr>
          <p:cNvSpPr>
            <a:spLocks noGrp="1"/>
          </p:cNvSpPr>
          <p:nvPr/>
        </p:nvSpPr>
        <p:spPr>
          <a:xfrm>
            <a:off x="685800" y="3305175"/>
            <a:ext cx="7286625" cy="457200"/>
          </a:xfrm>
          <a:prstGeom prst="rect">
            <a:avLst/>
          </a:prstGeom>
          <a:solidFill>
            <a:srgbClr val="F7F8FA"/>
          </a:solidFill>
          <a:ln w="9525">
            <a:solidFill>
              <a:srgbClr val="B8BCC4"/>
            </a:solidFill>
            <a:prstDash val="solid"/>
          </a:ln>
        </p:spPr>
        <p:txBody>
          <a:bodyPr/>
          <a:lstStyle/>
          <a:p>
            <a:endParaRPr lang="en-US"/>
          </a:p>
        </p:txBody>
      </p:sp>
      <p:sp>
        <p:nvSpPr>
          <p:cNvPr id="12" name="text">
            <a:extLst>
              <a:ext uri="{FF2B5EF4-FFF2-40B4-BE49-F238E27FC236}">
                <a16:creationId xmlns:a16="http://schemas.microsoft.com/office/drawing/2014/main" id="{63DA69A3-BF09-430B-BDD6-3F9EAE4C8E85}"/>
              </a:ext>
            </a:extLst>
          </p:cNvPr>
          <p:cNvSpPr>
            <a:spLocks noGrp="1"/>
          </p:cNvSpPr>
          <p:nvPr/>
        </p:nvSpPr>
        <p:spPr>
          <a:xfrm>
            <a:off x="838200" y="3438525"/>
            <a:ext cx="1562100" cy="180975"/>
          </a:xfrm>
          <a:prstGeom prst="rect">
            <a:avLst/>
          </a:prstGeom>
          <a:noFill/>
          <a:ln w="0">
            <a:noFill/>
            <a:prstDash val="solid"/>
          </a:ln>
        </p:spPr>
        <p:txBody>
          <a:bodyPr/>
          <a:lstStyle/>
          <a:p>
            <a:pPr algn="l">
              <a:defRPr sz="1200" b="1">
                <a:solidFill>
                  <a:srgbClr val="111318"/>
                </a:solidFill>
              </a:defRPr>
            </a:pPr>
            <a:r>
              <a:rPr sz="1200" b="1">
                <a:solidFill>
                  <a:srgbClr val="111318"/>
                </a:solidFill>
              </a:rPr>
              <a:t>3  Risk index</a:t>
            </a:r>
          </a:p>
        </p:txBody>
      </p:sp>
      <p:sp>
        <p:nvSpPr>
          <p:cNvPr id="13" name="text">
            <a:extLst>
              <a:ext uri="{FF2B5EF4-FFF2-40B4-BE49-F238E27FC236}">
                <a16:creationId xmlns:a16="http://schemas.microsoft.com/office/drawing/2014/main" id="{6E1D86D2-D72B-409C-AB99-05857FBDA32B}"/>
              </a:ext>
            </a:extLst>
          </p:cNvPr>
          <p:cNvSpPr>
            <a:spLocks noGrp="1"/>
          </p:cNvSpPr>
          <p:nvPr/>
        </p:nvSpPr>
        <p:spPr>
          <a:xfrm>
            <a:off x="2638425" y="3438525"/>
            <a:ext cx="5048250" cy="180975"/>
          </a:xfrm>
          <a:prstGeom prst="rect">
            <a:avLst/>
          </a:prstGeom>
          <a:noFill/>
          <a:ln w="0">
            <a:noFill/>
            <a:prstDash val="solid"/>
          </a:ln>
        </p:spPr>
        <p:txBody>
          <a:bodyPr/>
          <a:lstStyle/>
          <a:p>
            <a:pPr algn="l">
              <a:defRPr sz="1200" b="0">
                <a:solidFill>
                  <a:srgbClr val="111318"/>
                </a:solidFill>
              </a:defRPr>
            </a:pPr>
            <a:r>
              <a:rPr sz="1200" b="0">
                <a:solidFill>
                  <a:srgbClr val="111318"/>
                </a:solidFill>
              </a:rPr>
              <a:t>separator-aware empirical score</a:t>
            </a:r>
          </a:p>
        </p:txBody>
      </p:sp>
      <p:sp>
        <p:nvSpPr>
          <p:cNvPr id="14" name="rect">
            <a:extLst>
              <a:ext uri="{FF2B5EF4-FFF2-40B4-BE49-F238E27FC236}">
                <a16:creationId xmlns:a16="http://schemas.microsoft.com/office/drawing/2014/main" id="{68CED802-F7A5-40F9-BC58-5098C9652511}"/>
              </a:ext>
            </a:extLst>
          </p:cNvPr>
          <p:cNvSpPr>
            <a:spLocks noGrp="1"/>
          </p:cNvSpPr>
          <p:nvPr/>
        </p:nvSpPr>
        <p:spPr>
          <a:xfrm>
            <a:off x="685800" y="3914775"/>
            <a:ext cx="7286625" cy="457200"/>
          </a:xfrm>
          <a:prstGeom prst="rect">
            <a:avLst/>
          </a:prstGeom>
          <a:solidFill>
            <a:srgbClr val="F7F8FA"/>
          </a:solidFill>
          <a:ln w="9525">
            <a:solidFill>
              <a:srgbClr val="B8BCC4"/>
            </a:solidFill>
            <a:prstDash val="solid"/>
          </a:ln>
        </p:spPr>
        <p:txBody>
          <a:bodyPr/>
          <a:lstStyle/>
          <a:p>
            <a:endParaRPr lang="en-US"/>
          </a:p>
        </p:txBody>
      </p:sp>
      <p:sp>
        <p:nvSpPr>
          <p:cNvPr id="15" name="text">
            <a:extLst>
              <a:ext uri="{FF2B5EF4-FFF2-40B4-BE49-F238E27FC236}">
                <a16:creationId xmlns:a16="http://schemas.microsoft.com/office/drawing/2014/main" id="{C72E358C-2007-4EB0-82E7-1355131D93B8}"/>
              </a:ext>
            </a:extLst>
          </p:cNvPr>
          <p:cNvSpPr>
            <a:spLocks noGrp="1"/>
          </p:cNvSpPr>
          <p:nvPr/>
        </p:nvSpPr>
        <p:spPr>
          <a:xfrm>
            <a:off x="838200" y="4048125"/>
            <a:ext cx="1562100" cy="180975"/>
          </a:xfrm>
          <a:prstGeom prst="rect">
            <a:avLst/>
          </a:prstGeom>
          <a:noFill/>
          <a:ln w="0">
            <a:noFill/>
            <a:prstDash val="solid"/>
          </a:ln>
        </p:spPr>
        <p:txBody>
          <a:bodyPr/>
          <a:lstStyle/>
          <a:p>
            <a:pPr algn="l">
              <a:defRPr sz="1200" b="1">
                <a:solidFill>
                  <a:srgbClr val="111318"/>
                </a:solidFill>
              </a:defRPr>
            </a:pPr>
            <a:r>
              <a:rPr sz="1200" b="1">
                <a:solidFill>
                  <a:srgbClr val="111318"/>
                </a:solidFill>
              </a:rPr>
              <a:t>4  Guard band</a:t>
            </a:r>
          </a:p>
        </p:txBody>
      </p:sp>
      <p:sp>
        <p:nvSpPr>
          <p:cNvPr id="16" name="text">
            <a:extLst>
              <a:ext uri="{FF2B5EF4-FFF2-40B4-BE49-F238E27FC236}">
                <a16:creationId xmlns:a16="http://schemas.microsoft.com/office/drawing/2014/main" id="{4D0F4F9D-F02B-475D-BD91-4B4DA8AC2FC8}"/>
              </a:ext>
            </a:extLst>
          </p:cNvPr>
          <p:cNvSpPr>
            <a:spLocks noGrp="1"/>
          </p:cNvSpPr>
          <p:nvPr/>
        </p:nvSpPr>
        <p:spPr>
          <a:xfrm>
            <a:off x="2638425" y="4048125"/>
            <a:ext cx="5048250" cy="180975"/>
          </a:xfrm>
          <a:prstGeom prst="rect">
            <a:avLst/>
          </a:prstGeom>
          <a:noFill/>
          <a:ln w="0">
            <a:noFill/>
            <a:prstDash val="solid"/>
          </a:ln>
        </p:spPr>
        <p:txBody>
          <a:bodyPr/>
          <a:lstStyle/>
          <a:p>
            <a:pPr algn="l">
              <a:defRPr sz="1200" b="0">
                <a:solidFill>
                  <a:srgbClr val="111318"/>
                </a:solidFill>
              </a:defRPr>
            </a:pPr>
            <a:r>
              <a:rPr sz="1200" b="0">
                <a:solidFill>
                  <a:srgbClr val="111318"/>
                </a:solidFill>
              </a:rPr>
              <a:t>limit − expanded uncertainty U</a:t>
            </a:r>
          </a:p>
        </p:txBody>
      </p:sp>
      <p:sp>
        <p:nvSpPr>
          <p:cNvPr id="17" name="rect">
            <a:extLst>
              <a:ext uri="{FF2B5EF4-FFF2-40B4-BE49-F238E27FC236}">
                <a16:creationId xmlns:a16="http://schemas.microsoft.com/office/drawing/2014/main" id="{8A00211D-8541-43E6-9D82-659C50028234}"/>
              </a:ext>
            </a:extLst>
          </p:cNvPr>
          <p:cNvSpPr>
            <a:spLocks noGrp="1"/>
          </p:cNvSpPr>
          <p:nvPr/>
        </p:nvSpPr>
        <p:spPr>
          <a:xfrm>
            <a:off x="685800" y="4524375"/>
            <a:ext cx="7286625" cy="457200"/>
          </a:xfrm>
          <a:prstGeom prst="rect">
            <a:avLst/>
          </a:prstGeom>
          <a:solidFill>
            <a:srgbClr val="D0EDFA"/>
          </a:solidFill>
          <a:ln w="9525">
            <a:solidFill>
              <a:srgbClr val="B8BCC4"/>
            </a:solidFill>
            <a:prstDash val="solid"/>
          </a:ln>
        </p:spPr>
        <p:txBody>
          <a:bodyPr/>
          <a:lstStyle/>
          <a:p>
            <a:endParaRPr lang="en-US"/>
          </a:p>
        </p:txBody>
      </p:sp>
      <p:sp>
        <p:nvSpPr>
          <p:cNvPr id="18" name="text">
            <a:extLst>
              <a:ext uri="{FF2B5EF4-FFF2-40B4-BE49-F238E27FC236}">
                <a16:creationId xmlns:a16="http://schemas.microsoft.com/office/drawing/2014/main" id="{C7F7E19A-C772-4DDE-9740-9E3F4B45C7FD}"/>
              </a:ext>
            </a:extLst>
          </p:cNvPr>
          <p:cNvSpPr>
            <a:spLocks noGrp="1"/>
          </p:cNvSpPr>
          <p:nvPr/>
        </p:nvSpPr>
        <p:spPr>
          <a:xfrm>
            <a:off x="838200" y="4657725"/>
            <a:ext cx="1562100" cy="180975"/>
          </a:xfrm>
          <a:prstGeom prst="rect">
            <a:avLst/>
          </a:prstGeom>
          <a:noFill/>
          <a:ln w="0">
            <a:noFill/>
            <a:prstDash val="solid"/>
          </a:ln>
        </p:spPr>
        <p:txBody>
          <a:bodyPr/>
          <a:lstStyle/>
          <a:p>
            <a:pPr algn="l">
              <a:defRPr sz="1200" b="1">
                <a:solidFill>
                  <a:srgbClr val="111318"/>
                </a:solidFill>
              </a:defRPr>
            </a:pPr>
            <a:r>
              <a:rPr sz="1200" b="1">
                <a:solidFill>
                  <a:srgbClr val="111318"/>
                </a:solidFill>
              </a:rPr>
              <a:t>5  Traceability</a:t>
            </a:r>
          </a:p>
        </p:txBody>
      </p:sp>
      <p:sp>
        <p:nvSpPr>
          <p:cNvPr id="19" name="text">
            <a:extLst>
              <a:ext uri="{FF2B5EF4-FFF2-40B4-BE49-F238E27FC236}">
                <a16:creationId xmlns:a16="http://schemas.microsoft.com/office/drawing/2014/main" id="{0C557096-CC9A-44C7-AA1F-7590641970F3}"/>
              </a:ext>
            </a:extLst>
          </p:cNvPr>
          <p:cNvSpPr>
            <a:spLocks noGrp="1"/>
          </p:cNvSpPr>
          <p:nvPr/>
        </p:nvSpPr>
        <p:spPr>
          <a:xfrm>
            <a:off x="2638425" y="4657725"/>
            <a:ext cx="5048250" cy="180975"/>
          </a:xfrm>
          <a:prstGeom prst="rect">
            <a:avLst/>
          </a:prstGeom>
          <a:noFill/>
          <a:ln w="0">
            <a:noFill/>
            <a:prstDash val="solid"/>
          </a:ln>
        </p:spPr>
        <p:txBody>
          <a:bodyPr/>
          <a:lstStyle/>
          <a:p>
            <a:pPr algn="l">
              <a:defRPr sz="1200" b="0">
                <a:solidFill>
                  <a:srgbClr val="111318"/>
                </a:solidFill>
              </a:defRPr>
            </a:pPr>
            <a:r>
              <a:rPr sz="1200" b="0">
                <a:solidFill>
                  <a:srgbClr val="111318"/>
                </a:solidFill>
              </a:rPr>
              <a:t>plant SOP / customer spec mapping</a:t>
            </a:r>
          </a:p>
        </p:txBody>
      </p:sp>
      <p:sp>
        <p:nvSpPr>
          <p:cNvPr id="20" name="metric">
            <a:extLst>
              <a:ext uri="{FF2B5EF4-FFF2-40B4-BE49-F238E27FC236}">
                <a16:creationId xmlns:a16="http://schemas.microsoft.com/office/drawing/2014/main" id="{42D22079-EEEF-42E8-A464-937E7ED70F58}"/>
              </a:ext>
            </a:extLst>
          </p:cNvPr>
          <p:cNvSpPr>
            <a:spLocks noGrp="1"/>
          </p:cNvSpPr>
          <p:nvPr/>
        </p:nvSpPr>
        <p:spPr>
          <a:xfrm>
            <a:off x="8486775" y="2143125"/>
            <a:ext cx="2381250" cy="1190625"/>
          </a:xfrm>
          <a:prstGeom prst="rect">
            <a:avLst/>
          </a:prstGeom>
          <a:solidFill>
            <a:srgbClr val="F7F8FA"/>
          </a:solidFill>
          <a:ln w="9525">
            <a:solidFill>
              <a:srgbClr val="B8BCC4"/>
            </a:solidFill>
            <a:prstDash val="solid"/>
          </a:ln>
        </p:spPr>
        <p:txBody>
          <a:bodyPr/>
          <a:lstStyle/>
          <a:p>
            <a:endParaRPr lang="en-US"/>
          </a:p>
        </p:txBody>
      </p:sp>
      <p:sp>
        <p:nvSpPr>
          <p:cNvPr id="21" name="metric-accent">
            <a:extLst>
              <a:ext uri="{FF2B5EF4-FFF2-40B4-BE49-F238E27FC236}">
                <a16:creationId xmlns:a16="http://schemas.microsoft.com/office/drawing/2014/main" id="{79AC2095-280B-44EC-B32D-03352840D86D}"/>
              </a:ext>
            </a:extLst>
          </p:cNvPr>
          <p:cNvSpPr>
            <a:spLocks noGrp="1"/>
          </p:cNvSpPr>
          <p:nvPr/>
        </p:nvSpPr>
        <p:spPr>
          <a:xfrm>
            <a:off x="8486775" y="2143125"/>
            <a:ext cx="76200" cy="1190625"/>
          </a:xfrm>
          <a:prstGeom prst="rect">
            <a:avLst/>
          </a:prstGeom>
          <a:solidFill>
            <a:srgbClr val="3D8DFF"/>
          </a:solidFill>
          <a:ln w="9525">
            <a:solidFill>
              <a:srgbClr val="3D8DFF"/>
            </a:solidFill>
            <a:prstDash val="solid"/>
          </a:ln>
        </p:spPr>
        <p:txBody>
          <a:bodyPr/>
          <a:lstStyle/>
          <a:p>
            <a:endParaRPr lang="en-US"/>
          </a:p>
        </p:txBody>
      </p:sp>
      <p:sp>
        <p:nvSpPr>
          <p:cNvPr id="22" name="metric-label">
            <a:extLst>
              <a:ext uri="{FF2B5EF4-FFF2-40B4-BE49-F238E27FC236}">
                <a16:creationId xmlns:a16="http://schemas.microsoft.com/office/drawing/2014/main" id="{9BAE0C4E-ECF1-477B-B5C2-617146E8DD41}"/>
              </a:ext>
            </a:extLst>
          </p:cNvPr>
          <p:cNvSpPr>
            <a:spLocks noGrp="1"/>
          </p:cNvSpPr>
          <p:nvPr/>
        </p:nvSpPr>
        <p:spPr>
          <a:xfrm>
            <a:off x="8696325" y="2314575"/>
            <a:ext cx="205740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UNCERTAINTY</a:t>
            </a:r>
          </a:p>
        </p:txBody>
      </p:sp>
      <p:sp>
        <p:nvSpPr>
          <p:cNvPr id="23" name="metric-value">
            <a:extLst>
              <a:ext uri="{FF2B5EF4-FFF2-40B4-BE49-F238E27FC236}">
                <a16:creationId xmlns:a16="http://schemas.microsoft.com/office/drawing/2014/main" id="{E96F0476-1429-47A5-90ED-50FC5FCB2FDA}"/>
              </a:ext>
            </a:extLst>
          </p:cNvPr>
          <p:cNvSpPr>
            <a:spLocks noGrp="1"/>
          </p:cNvSpPr>
          <p:nvPr/>
        </p:nvSpPr>
        <p:spPr>
          <a:xfrm>
            <a:off x="8696325" y="2552700"/>
            <a:ext cx="205740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GUM k = 2</a:t>
            </a:r>
          </a:p>
        </p:txBody>
      </p:sp>
      <p:sp>
        <p:nvSpPr>
          <p:cNvPr id="24" name="metric-sub">
            <a:extLst>
              <a:ext uri="{FF2B5EF4-FFF2-40B4-BE49-F238E27FC236}">
                <a16:creationId xmlns:a16="http://schemas.microsoft.com/office/drawing/2014/main" id="{F831E0F5-94C7-487D-BEBD-9FB87EBD548F}"/>
              </a:ext>
            </a:extLst>
          </p:cNvPr>
          <p:cNvSpPr>
            <a:spLocks noGrp="1"/>
          </p:cNvSpPr>
          <p:nvPr/>
        </p:nvSpPr>
        <p:spPr>
          <a:xfrm>
            <a:off x="8696325" y="3009900"/>
            <a:ext cx="205740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expanded uncertainty; 95% coverage</a:t>
            </a:r>
          </a:p>
        </p:txBody>
      </p:sp>
      <p:sp>
        <p:nvSpPr>
          <p:cNvPr id="25" name="metric">
            <a:extLst>
              <a:ext uri="{FF2B5EF4-FFF2-40B4-BE49-F238E27FC236}">
                <a16:creationId xmlns:a16="http://schemas.microsoft.com/office/drawing/2014/main" id="{B0DACE1A-A596-4FF0-A47B-7F3975BDCD78}"/>
              </a:ext>
            </a:extLst>
          </p:cNvPr>
          <p:cNvSpPr>
            <a:spLocks noGrp="1"/>
          </p:cNvSpPr>
          <p:nvPr/>
        </p:nvSpPr>
        <p:spPr>
          <a:xfrm>
            <a:off x="8486775" y="3543300"/>
            <a:ext cx="2381250" cy="1190625"/>
          </a:xfrm>
          <a:prstGeom prst="rect">
            <a:avLst/>
          </a:prstGeom>
          <a:solidFill>
            <a:srgbClr val="F7F8FA"/>
          </a:solidFill>
          <a:ln w="9525">
            <a:solidFill>
              <a:srgbClr val="B8BCC4"/>
            </a:solidFill>
            <a:prstDash val="solid"/>
          </a:ln>
        </p:spPr>
        <p:txBody>
          <a:bodyPr/>
          <a:lstStyle/>
          <a:p>
            <a:endParaRPr lang="en-US"/>
          </a:p>
        </p:txBody>
      </p:sp>
      <p:sp>
        <p:nvSpPr>
          <p:cNvPr id="26" name="metric-accent">
            <a:extLst>
              <a:ext uri="{FF2B5EF4-FFF2-40B4-BE49-F238E27FC236}">
                <a16:creationId xmlns:a16="http://schemas.microsoft.com/office/drawing/2014/main" id="{3083B468-47BF-408E-8FA4-B6401F1CBAB6}"/>
              </a:ext>
            </a:extLst>
          </p:cNvPr>
          <p:cNvSpPr>
            <a:spLocks noGrp="1"/>
          </p:cNvSpPr>
          <p:nvPr/>
        </p:nvSpPr>
        <p:spPr>
          <a:xfrm>
            <a:off x="8486775" y="3543300"/>
            <a:ext cx="76200" cy="1190625"/>
          </a:xfrm>
          <a:prstGeom prst="rect">
            <a:avLst/>
          </a:prstGeom>
          <a:solidFill>
            <a:srgbClr val="3D8DFF"/>
          </a:solidFill>
          <a:ln w="9525">
            <a:solidFill>
              <a:srgbClr val="3D8DFF"/>
            </a:solidFill>
            <a:prstDash val="solid"/>
          </a:ln>
        </p:spPr>
        <p:txBody>
          <a:bodyPr/>
          <a:lstStyle/>
          <a:p>
            <a:endParaRPr lang="en-US"/>
          </a:p>
        </p:txBody>
      </p:sp>
      <p:sp>
        <p:nvSpPr>
          <p:cNvPr id="27" name="metric-label">
            <a:extLst>
              <a:ext uri="{FF2B5EF4-FFF2-40B4-BE49-F238E27FC236}">
                <a16:creationId xmlns:a16="http://schemas.microsoft.com/office/drawing/2014/main" id="{7F19E590-AB80-4C68-9230-1BC504B26000}"/>
              </a:ext>
            </a:extLst>
          </p:cNvPr>
          <p:cNvSpPr>
            <a:spLocks noGrp="1"/>
          </p:cNvSpPr>
          <p:nvPr/>
        </p:nvSpPr>
        <p:spPr>
          <a:xfrm>
            <a:off x="8696325" y="3714750"/>
            <a:ext cx="205740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DECISION RULE</a:t>
            </a:r>
          </a:p>
        </p:txBody>
      </p:sp>
      <p:sp>
        <p:nvSpPr>
          <p:cNvPr id="28" name="metric-value">
            <a:extLst>
              <a:ext uri="{FF2B5EF4-FFF2-40B4-BE49-F238E27FC236}">
                <a16:creationId xmlns:a16="http://schemas.microsoft.com/office/drawing/2014/main" id="{ABB4E4F0-215B-4E51-80F2-0490899B7B00}"/>
              </a:ext>
            </a:extLst>
          </p:cNvPr>
          <p:cNvSpPr>
            <a:spLocks noGrp="1"/>
          </p:cNvSpPr>
          <p:nvPr/>
        </p:nvSpPr>
        <p:spPr>
          <a:xfrm>
            <a:off x="8696325" y="3952875"/>
            <a:ext cx="205740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Limit − U</a:t>
            </a:r>
          </a:p>
        </p:txBody>
      </p:sp>
      <p:sp>
        <p:nvSpPr>
          <p:cNvPr id="29" name="metric-sub">
            <a:extLst>
              <a:ext uri="{FF2B5EF4-FFF2-40B4-BE49-F238E27FC236}">
                <a16:creationId xmlns:a16="http://schemas.microsoft.com/office/drawing/2014/main" id="{440ABCC0-D4AC-426D-8308-88511DFA1989}"/>
              </a:ext>
            </a:extLst>
          </p:cNvPr>
          <p:cNvSpPr>
            <a:spLocks noGrp="1"/>
          </p:cNvSpPr>
          <p:nvPr/>
        </p:nvSpPr>
        <p:spPr>
          <a:xfrm>
            <a:off x="8696325" y="4410075"/>
            <a:ext cx="205740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guard band before A/B/C grade</a:t>
            </a:r>
          </a:p>
        </p:txBody>
      </p:sp>
      <p:sp>
        <p:nvSpPr>
          <p:cNvPr id="30" name="text">
            <a:extLst>
              <a:ext uri="{FF2B5EF4-FFF2-40B4-BE49-F238E27FC236}">
                <a16:creationId xmlns:a16="http://schemas.microsoft.com/office/drawing/2014/main" id="{5A1570E6-7F61-4879-BA1E-3017685C05E8}"/>
              </a:ext>
            </a:extLst>
          </p:cNvPr>
          <p:cNvSpPr>
            <a:spLocks noGrp="1"/>
          </p:cNvSpPr>
          <p:nvPr/>
        </p:nvSpPr>
        <p:spPr>
          <a:xfrm>
            <a:off x="685800" y="5334000"/>
            <a:ext cx="10096500" cy="238125"/>
          </a:xfrm>
          <a:prstGeom prst="rect">
            <a:avLst/>
          </a:prstGeom>
          <a:noFill/>
          <a:ln w="0">
            <a:noFill/>
            <a:prstDash val="solid"/>
          </a:ln>
        </p:spPr>
        <p:txBody>
          <a:bodyPr/>
          <a:lstStyle/>
          <a:p>
            <a:pPr algn="l">
              <a:defRPr sz="1125" b="1">
                <a:solidFill>
                  <a:srgbClr val="C43D3D"/>
                </a:solidFill>
              </a:defRPr>
            </a:pPr>
            <a:r>
              <a:rPr sz="1125" b="1">
                <a:solidFill>
                  <a:srgbClr val="C43D3D"/>
                </a:solidFill>
              </a:rPr>
              <a:t>Standards correction: T/CIAPS 0006 and QC/T 743 are not valid coating-metrology compliance claims.</a:t>
            </a:r>
          </a:p>
        </p:txBody>
      </p:sp>
      <p:sp>
        <p:nvSpPr>
          <p:cNvPr id="31" name="Straight Connector 30">
            <a:extLst>
              <a:ext uri="{FF2B5EF4-FFF2-40B4-BE49-F238E27FC236}">
                <a16:creationId xmlns:a16="http://schemas.microsoft.com/office/drawing/2014/main" id="{30F1D338-9142-4479-95D0-565AE15D29D1}"/>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32" name="source">
            <a:extLst>
              <a:ext uri="{FF2B5EF4-FFF2-40B4-BE49-F238E27FC236}">
                <a16:creationId xmlns:a16="http://schemas.microsoft.com/office/drawing/2014/main" id="{DC5CD426-9A1B-4362-B504-DAB726E3C0D4}"/>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Use plant-approved acceptance limits and an ISO 17025/GUM validation plan before compliance language.</a:t>
            </a:r>
          </a:p>
        </p:txBody>
      </p:sp>
      <p:sp>
        <p:nvSpPr>
          <p:cNvPr id="33" name="page">
            <a:extLst>
              <a:ext uri="{FF2B5EF4-FFF2-40B4-BE49-F238E27FC236}">
                <a16:creationId xmlns:a16="http://schemas.microsoft.com/office/drawing/2014/main" id="{2CFE79CA-6D88-4A52-855A-00EF37F1E512}"/>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5</a:t>
            </a:r>
          </a:p>
        </p:txBody>
      </p:sp>
    </p:spTree>
    <p:extLst>
      <p:ext uri="{BB962C8B-B14F-4D97-AF65-F5344CB8AC3E}">
        <p14:creationId xmlns:p14="http://schemas.microsoft.com/office/powerpoint/2010/main" val="1235806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eyebrow">
            <a:extLst>
              <a:ext uri="{FF2B5EF4-FFF2-40B4-BE49-F238E27FC236}">
                <a16:creationId xmlns:a16="http://schemas.microsoft.com/office/drawing/2014/main" id="{EE7DB145-B9D2-476D-A209-34DC13A01D9D}"/>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06  |  3:35–4:20</a:t>
            </a:r>
          </a:p>
        </p:txBody>
      </p:sp>
      <p:sp>
        <p:nvSpPr>
          <p:cNvPr id="2" name="title">
            <a:extLst>
              <a:ext uri="{FF2B5EF4-FFF2-40B4-BE49-F238E27FC236}">
                <a16:creationId xmlns:a16="http://schemas.microsoft.com/office/drawing/2014/main" id="{0094AAA8-F5AB-4B91-AAED-8B43FA5A7FDB}"/>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Latency is a full physical chain — and currently a design model</a:t>
            </a:r>
          </a:p>
        </p:txBody>
      </p:sp>
      <p:sp>
        <p:nvSpPr>
          <p:cNvPr id="3" name="cn-title">
            <a:extLst>
              <a:ext uri="{FF2B5EF4-FFF2-40B4-BE49-F238E27FC236}">
                <a16:creationId xmlns:a16="http://schemas.microsoft.com/office/drawing/2014/main" id="{238CA4B9-D443-4B0C-A098-0E720EFF54C8}"/>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时延是完整物理链路——当前为设计模型</a:t>
            </a:r>
          </a:p>
        </p:txBody>
      </p:sp>
      <p:sp>
        <p:nvSpPr>
          <p:cNvPr id="4" name="Straight Connector 3">
            <a:extLst>
              <a:ext uri="{FF2B5EF4-FFF2-40B4-BE49-F238E27FC236}">
                <a16:creationId xmlns:a16="http://schemas.microsoft.com/office/drawing/2014/main" id="{480248AC-D469-47BF-9557-7B95CAC2BEE4}"/>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rect">
            <a:extLst>
              <a:ext uri="{FF2B5EF4-FFF2-40B4-BE49-F238E27FC236}">
                <a16:creationId xmlns:a16="http://schemas.microsoft.com/office/drawing/2014/main" id="{0D3DD63F-2093-49C7-943D-75514BA5C487}"/>
              </a:ext>
            </a:extLst>
          </p:cNvPr>
          <p:cNvSpPr>
            <a:spLocks noGrp="1"/>
          </p:cNvSpPr>
          <p:nvPr/>
        </p:nvSpPr>
        <p:spPr>
          <a:xfrm>
            <a:off x="685800" y="2333625"/>
            <a:ext cx="1657350" cy="1162050"/>
          </a:xfrm>
          <a:prstGeom prst="rect">
            <a:avLst/>
          </a:prstGeom>
          <a:solidFill>
            <a:srgbClr val="F7F8FA"/>
          </a:solidFill>
          <a:ln w="9525">
            <a:solidFill>
              <a:srgbClr val="B8BCC4"/>
            </a:solidFill>
            <a:prstDash val="solid"/>
          </a:ln>
        </p:spPr>
        <p:txBody>
          <a:bodyPr/>
          <a:lstStyle/>
          <a:p>
            <a:endParaRPr lang="en-US"/>
          </a:p>
        </p:txBody>
      </p:sp>
      <p:sp>
        <p:nvSpPr>
          <p:cNvPr id="6" name="text">
            <a:extLst>
              <a:ext uri="{FF2B5EF4-FFF2-40B4-BE49-F238E27FC236}">
                <a16:creationId xmlns:a16="http://schemas.microsoft.com/office/drawing/2014/main" id="{DA901F8A-5D1E-46F9-92B7-2A8CDD963728}"/>
              </a:ext>
            </a:extLst>
          </p:cNvPr>
          <p:cNvSpPr>
            <a:spLocks noGrp="1"/>
          </p:cNvSpPr>
          <p:nvPr/>
        </p:nvSpPr>
        <p:spPr>
          <a:xfrm>
            <a:off x="781050" y="2533650"/>
            <a:ext cx="14668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Tile formation</a:t>
            </a:r>
          </a:p>
        </p:txBody>
      </p:sp>
      <p:sp>
        <p:nvSpPr>
          <p:cNvPr id="7" name="lt">
            <a:extLst>
              <a:ext uri="{FF2B5EF4-FFF2-40B4-BE49-F238E27FC236}">
                <a16:creationId xmlns:a16="http://schemas.microsoft.com/office/drawing/2014/main" id="{02CC50AB-DC74-41E1-9CFB-18A7C09D46B4}"/>
              </a:ext>
            </a:extLst>
          </p:cNvPr>
          <p:cNvSpPr>
            <a:spLocks noGrp="1"/>
          </p:cNvSpPr>
          <p:nvPr/>
        </p:nvSpPr>
        <p:spPr>
          <a:xfrm>
            <a:off x="781050" y="3009900"/>
            <a:ext cx="14668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12.1 ms</a:t>
            </a:r>
          </a:p>
        </p:txBody>
      </p:sp>
      <p:sp>
        <p:nvSpPr>
          <p:cNvPr id="8" name="text">
            <a:extLst>
              <a:ext uri="{FF2B5EF4-FFF2-40B4-BE49-F238E27FC236}">
                <a16:creationId xmlns:a16="http://schemas.microsoft.com/office/drawing/2014/main" id="{925E915B-12DE-4ED5-BE26-091F9D6EEC55}"/>
              </a:ext>
            </a:extLst>
          </p:cNvPr>
          <p:cNvSpPr>
            <a:spLocks noGrp="1"/>
          </p:cNvSpPr>
          <p:nvPr/>
        </p:nvSpPr>
        <p:spPr>
          <a:xfrm>
            <a:off x="236220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9" name="rect">
            <a:extLst>
              <a:ext uri="{FF2B5EF4-FFF2-40B4-BE49-F238E27FC236}">
                <a16:creationId xmlns:a16="http://schemas.microsoft.com/office/drawing/2014/main" id="{04982FB2-4BDB-415B-A523-1D4C5178A7F3}"/>
              </a:ext>
            </a:extLst>
          </p:cNvPr>
          <p:cNvSpPr>
            <a:spLocks noGrp="1"/>
          </p:cNvSpPr>
          <p:nvPr/>
        </p:nvSpPr>
        <p:spPr>
          <a:xfrm>
            <a:off x="253365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10" name="text">
            <a:extLst>
              <a:ext uri="{FF2B5EF4-FFF2-40B4-BE49-F238E27FC236}">
                <a16:creationId xmlns:a16="http://schemas.microsoft.com/office/drawing/2014/main" id="{9891DCD5-99E7-4068-9306-81022FC40042}"/>
              </a:ext>
            </a:extLst>
          </p:cNvPr>
          <p:cNvSpPr>
            <a:spLocks noGrp="1"/>
          </p:cNvSpPr>
          <p:nvPr/>
        </p:nvSpPr>
        <p:spPr>
          <a:xfrm>
            <a:off x="262890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DMA</a:t>
            </a:r>
          </a:p>
        </p:txBody>
      </p:sp>
      <p:sp>
        <p:nvSpPr>
          <p:cNvPr id="11" name="lt">
            <a:extLst>
              <a:ext uri="{FF2B5EF4-FFF2-40B4-BE49-F238E27FC236}">
                <a16:creationId xmlns:a16="http://schemas.microsoft.com/office/drawing/2014/main" id="{FF7065D5-ACA4-4F4B-877E-E60EE75B9173}"/>
              </a:ext>
            </a:extLst>
          </p:cNvPr>
          <p:cNvSpPr>
            <a:spLocks noGrp="1"/>
          </p:cNvSpPr>
          <p:nvPr/>
        </p:nvSpPr>
        <p:spPr>
          <a:xfrm>
            <a:off x="262890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1.2 ms</a:t>
            </a:r>
          </a:p>
        </p:txBody>
      </p:sp>
      <p:sp>
        <p:nvSpPr>
          <p:cNvPr id="12" name="text">
            <a:extLst>
              <a:ext uri="{FF2B5EF4-FFF2-40B4-BE49-F238E27FC236}">
                <a16:creationId xmlns:a16="http://schemas.microsoft.com/office/drawing/2014/main" id="{C2E7737F-8D0A-477F-B93B-75B1802808DC}"/>
              </a:ext>
            </a:extLst>
          </p:cNvPr>
          <p:cNvSpPr>
            <a:spLocks noGrp="1"/>
          </p:cNvSpPr>
          <p:nvPr/>
        </p:nvSpPr>
        <p:spPr>
          <a:xfrm>
            <a:off x="367665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13" name="rect">
            <a:extLst>
              <a:ext uri="{FF2B5EF4-FFF2-40B4-BE49-F238E27FC236}">
                <a16:creationId xmlns:a16="http://schemas.microsoft.com/office/drawing/2014/main" id="{C0DC4C03-BE3F-47B0-9EEF-2EEB945CFB3D}"/>
              </a:ext>
            </a:extLst>
          </p:cNvPr>
          <p:cNvSpPr>
            <a:spLocks noGrp="1"/>
          </p:cNvSpPr>
          <p:nvPr/>
        </p:nvSpPr>
        <p:spPr>
          <a:xfrm>
            <a:off x="384810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14" name="text">
            <a:extLst>
              <a:ext uri="{FF2B5EF4-FFF2-40B4-BE49-F238E27FC236}">
                <a16:creationId xmlns:a16="http://schemas.microsoft.com/office/drawing/2014/main" id="{692C7C9F-23C5-4975-94FB-5133E506D44C}"/>
              </a:ext>
            </a:extLst>
          </p:cNvPr>
          <p:cNvSpPr>
            <a:spLocks noGrp="1"/>
          </p:cNvSpPr>
          <p:nvPr/>
        </p:nvSpPr>
        <p:spPr>
          <a:xfrm>
            <a:off x="394335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Fusion</a:t>
            </a:r>
          </a:p>
        </p:txBody>
      </p:sp>
      <p:sp>
        <p:nvSpPr>
          <p:cNvPr id="15" name="lt">
            <a:extLst>
              <a:ext uri="{FF2B5EF4-FFF2-40B4-BE49-F238E27FC236}">
                <a16:creationId xmlns:a16="http://schemas.microsoft.com/office/drawing/2014/main" id="{E7AFB9A1-E84F-46C5-A5FF-F4A97A8BFEEF}"/>
              </a:ext>
            </a:extLst>
          </p:cNvPr>
          <p:cNvSpPr>
            <a:spLocks noGrp="1"/>
          </p:cNvSpPr>
          <p:nvPr/>
        </p:nvSpPr>
        <p:spPr>
          <a:xfrm>
            <a:off x="394335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1.8 ms</a:t>
            </a:r>
          </a:p>
        </p:txBody>
      </p:sp>
      <p:sp>
        <p:nvSpPr>
          <p:cNvPr id="16" name="text">
            <a:extLst>
              <a:ext uri="{FF2B5EF4-FFF2-40B4-BE49-F238E27FC236}">
                <a16:creationId xmlns:a16="http://schemas.microsoft.com/office/drawing/2014/main" id="{0D078579-7B77-48DD-97C6-0E2900E0D3AC}"/>
              </a:ext>
            </a:extLst>
          </p:cNvPr>
          <p:cNvSpPr>
            <a:spLocks noGrp="1"/>
          </p:cNvSpPr>
          <p:nvPr/>
        </p:nvSpPr>
        <p:spPr>
          <a:xfrm>
            <a:off x="499110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17" name="rect">
            <a:extLst>
              <a:ext uri="{FF2B5EF4-FFF2-40B4-BE49-F238E27FC236}">
                <a16:creationId xmlns:a16="http://schemas.microsoft.com/office/drawing/2014/main" id="{6B0E2309-82B2-44A3-9D79-2D146C730B1B}"/>
              </a:ext>
            </a:extLst>
          </p:cNvPr>
          <p:cNvSpPr>
            <a:spLocks noGrp="1"/>
          </p:cNvSpPr>
          <p:nvPr/>
        </p:nvSpPr>
        <p:spPr>
          <a:xfrm>
            <a:off x="5162550" y="2333625"/>
            <a:ext cx="1123950" cy="1162050"/>
          </a:xfrm>
          <a:prstGeom prst="rect">
            <a:avLst/>
          </a:prstGeom>
          <a:solidFill>
            <a:srgbClr val="D0EDFA"/>
          </a:solidFill>
          <a:ln w="9525">
            <a:solidFill>
              <a:srgbClr val="B8BCC4"/>
            </a:solidFill>
            <a:prstDash val="solid"/>
          </a:ln>
        </p:spPr>
        <p:txBody>
          <a:bodyPr/>
          <a:lstStyle/>
          <a:p>
            <a:endParaRPr lang="en-US"/>
          </a:p>
        </p:txBody>
      </p:sp>
      <p:sp>
        <p:nvSpPr>
          <p:cNvPr id="18" name="text">
            <a:extLst>
              <a:ext uri="{FF2B5EF4-FFF2-40B4-BE49-F238E27FC236}">
                <a16:creationId xmlns:a16="http://schemas.microsoft.com/office/drawing/2014/main" id="{2138DB36-46FB-4DA3-BEBD-9074E1D6F32C}"/>
              </a:ext>
            </a:extLst>
          </p:cNvPr>
          <p:cNvSpPr>
            <a:spLocks noGrp="1"/>
          </p:cNvSpPr>
          <p:nvPr/>
        </p:nvSpPr>
        <p:spPr>
          <a:xfrm>
            <a:off x="525780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AI</a:t>
            </a:r>
          </a:p>
        </p:txBody>
      </p:sp>
      <p:sp>
        <p:nvSpPr>
          <p:cNvPr id="19" name="lt">
            <a:extLst>
              <a:ext uri="{FF2B5EF4-FFF2-40B4-BE49-F238E27FC236}">
                <a16:creationId xmlns:a16="http://schemas.microsoft.com/office/drawing/2014/main" id="{FE72E0B4-A503-408F-B023-D3070659A6A4}"/>
              </a:ext>
            </a:extLst>
          </p:cNvPr>
          <p:cNvSpPr>
            <a:spLocks noGrp="1"/>
          </p:cNvSpPr>
          <p:nvPr/>
        </p:nvSpPr>
        <p:spPr>
          <a:xfrm>
            <a:off x="525780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8.7 ms</a:t>
            </a:r>
          </a:p>
        </p:txBody>
      </p:sp>
      <p:sp>
        <p:nvSpPr>
          <p:cNvPr id="20" name="text">
            <a:extLst>
              <a:ext uri="{FF2B5EF4-FFF2-40B4-BE49-F238E27FC236}">
                <a16:creationId xmlns:a16="http://schemas.microsoft.com/office/drawing/2014/main" id="{52694E4B-2070-4BE4-B874-FC4C2E5F8739}"/>
              </a:ext>
            </a:extLst>
          </p:cNvPr>
          <p:cNvSpPr>
            <a:spLocks noGrp="1"/>
          </p:cNvSpPr>
          <p:nvPr/>
        </p:nvSpPr>
        <p:spPr>
          <a:xfrm>
            <a:off x="630555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21" name="rect">
            <a:extLst>
              <a:ext uri="{FF2B5EF4-FFF2-40B4-BE49-F238E27FC236}">
                <a16:creationId xmlns:a16="http://schemas.microsoft.com/office/drawing/2014/main" id="{8BC921D3-C5F2-4180-B5C2-356705D648E3}"/>
              </a:ext>
            </a:extLst>
          </p:cNvPr>
          <p:cNvSpPr>
            <a:spLocks noGrp="1"/>
          </p:cNvSpPr>
          <p:nvPr/>
        </p:nvSpPr>
        <p:spPr>
          <a:xfrm>
            <a:off x="647700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22" name="text">
            <a:extLst>
              <a:ext uri="{FF2B5EF4-FFF2-40B4-BE49-F238E27FC236}">
                <a16:creationId xmlns:a16="http://schemas.microsoft.com/office/drawing/2014/main" id="{B9B50579-0F1D-47F3-9E09-40B7309904A6}"/>
              </a:ext>
            </a:extLst>
          </p:cNvPr>
          <p:cNvSpPr>
            <a:spLocks noGrp="1"/>
          </p:cNvSpPr>
          <p:nvPr/>
        </p:nvSpPr>
        <p:spPr>
          <a:xfrm>
            <a:off x="657225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Metrology</a:t>
            </a:r>
          </a:p>
        </p:txBody>
      </p:sp>
      <p:sp>
        <p:nvSpPr>
          <p:cNvPr id="23" name="lt">
            <a:extLst>
              <a:ext uri="{FF2B5EF4-FFF2-40B4-BE49-F238E27FC236}">
                <a16:creationId xmlns:a16="http://schemas.microsoft.com/office/drawing/2014/main" id="{131B521E-DE8A-45D0-A54C-F67E7C24ECDC}"/>
              </a:ext>
            </a:extLst>
          </p:cNvPr>
          <p:cNvSpPr>
            <a:spLocks noGrp="1"/>
          </p:cNvSpPr>
          <p:nvPr/>
        </p:nvSpPr>
        <p:spPr>
          <a:xfrm>
            <a:off x="657225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1.5 ms</a:t>
            </a:r>
          </a:p>
        </p:txBody>
      </p:sp>
      <p:sp>
        <p:nvSpPr>
          <p:cNvPr id="24" name="text">
            <a:extLst>
              <a:ext uri="{FF2B5EF4-FFF2-40B4-BE49-F238E27FC236}">
                <a16:creationId xmlns:a16="http://schemas.microsoft.com/office/drawing/2014/main" id="{5B9EB0A2-C8D7-46B7-A7FE-C77765048A1A}"/>
              </a:ext>
            </a:extLst>
          </p:cNvPr>
          <p:cNvSpPr>
            <a:spLocks noGrp="1"/>
          </p:cNvSpPr>
          <p:nvPr/>
        </p:nvSpPr>
        <p:spPr>
          <a:xfrm>
            <a:off x="762000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25" name="rect">
            <a:extLst>
              <a:ext uri="{FF2B5EF4-FFF2-40B4-BE49-F238E27FC236}">
                <a16:creationId xmlns:a16="http://schemas.microsoft.com/office/drawing/2014/main" id="{DA8BF7EF-72D9-4310-9789-3B16517DB347}"/>
              </a:ext>
            </a:extLst>
          </p:cNvPr>
          <p:cNvSpPr>
            <a:spLocks noGrp="1"/>
          </p:cNvSpPr>
          <p:nvPr/>
        </p:nvSpPr>
        <p:spPr>
          <a:xfrm>
            <a:off x="779145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26" name="text">
            <a:extLst>
              <a:ext uri="{FF2B5EF4-FFF2-40B4-BE49-F238E27FC236}">
                <a16:creationId xmlns:a16="http://schemas.microsoft.com/office/drawing/2014/main" id="{F66693E9-B4CF-4A9B-96B8-4F087425823F}"/>
              </a:ext>
            </a:extLst>
          </p:cNvPr>
          <p:cNvSpPr>
            <a:spLocks noGrp="1"/>
          </p:cNvSpPr>
          <p:nvPr/>
        </p:nvSpPr>
        <p:spPr>
          <a:xfrm>
            <a:off x="788670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Network</a:t>
            </a:r>
          </a:p>
        </p:txBody>
      </p:sp>
      <p:sp>
        <p:nvSpPr>
          <p:cNvPr id="27" name="lt">
            <a:extLst>
              <a:ext uri="{FF2B5EF4-FFF2-40B4-BE49-F238E27FC236}">
                <a16:creationId xmlns:a16="http://schemas.microsoft.com/office/drawing/2014/main" id="{C27CCC4A-0756-442C-958B-8686C167C94F}"/>
              </a:ext>
            </a:extLst>
          </p:cNvPr>
          <p:cNvSpPr>
            <a:spLocks noGrp="1"/>
          </p:cNvSpPr>
          <p:nvPr/>
        </p:nvSpPr>
        <p:spPr>
          <a:xfrm>
            <a:off x="788670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0.8 ms</a:t>
            </a:r>
          </a:p>
        </p:txBody>
      </p:sp>
      <p:sp>
        <p:nvSpPr>
          <p:cNvPr id="28" name="text">
            <a:extLst>
              <a:ext uri="{FF2B5EF4-FFF2-40B4-BE49-F238E27FC236}">
                <a16:creationId xmlns:a16="http://schemas.microsoft.com/office/drawing/2014/main" id="{328F02B7-44EF-4EA9-9DE7-BC2E2F6FE12A}"/>
              </a:ext>
            </a:extLst>
          </p:cNvPr>
          <p:cNvSpPr>
            <a:spLocks noGrp="1"/>
          </p:cNvSpPr>
          <p:nvPr/>
        </p:nvSpPr>
        <p:spPr>
          <a:xfrm>
            <a:off x="893445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29" name="rect">
            <a:extLst>
              <a:ext uri="{FF2B5EF4-FFF2-40B4-BE49-F238E27FC236}">
                <a16:creationId xmlns:a16="http://schemas.microsoft.com/office/drawing/2014/main" id="{6997E9A6-6807-4AD2-9700-148E8D663961}"/>
              </a:ext>
            </a:extLst>
          </p:cNvPr>
          <p:cNvSpPr>
            <a:spLocks noGrp="1"/>
          </p:cNvSpPr>
          <p:nvPr/>
        </p:nvSpPr>
        <p:spPr>
          <a:xfrm>
            <a:off x="910590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30" name="text">
            <a:extLst>
              <a:ext uri="{FF2B5EF4-FFF2-40B4-BE49-F238E27FC236}">
                <a16:creationId xmlns:a16="http://schemas.microsoft.com/office/drawing/2014/main" id="{B80FFCA0-94C3-41C2-B586-F9F6572BF735}"/>
              </a:ext>
            </a:extLst>
          </p:cNvPr>
          <p:cNvSpPr>
            <a:spLocks noGrp="1"/>
          </p:cNvSpPr>
          <p:nvPr/>
        </p:nvSpPr>
        <p:spPr>
          <a:xfrm>
            <a:off x="920115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PLC</a:t>
            </a:r>
          </a:p>
        </p:txBody>
      </p:sp>
      <p:sp>
        <p:nvSpPr>
          <p:cNvPr id="31" name="lt">
            <a:extLst>
              <a:ext uri="{FF2B5EF4-FFF2-40B4-BE49-F238E27FC236}">
                <a16:creationId xmlns:a16="http://schemas.microsoft.com/office/drawing/2014/main" id="{628D6416-8D1D-4764-8A36-86518BE6BB7B}"/>
              </a:ext>
            </a:extLst>
          </p:cNvPr>
          <p:cNvSpPr>
            <a:spLocks noGrp="1"/>
          </p:cNvSpPr>
          <p:nvPr/>
        </p:nvSpPr>
        <p:spPr>
          <a:xfrm>
            <a:off x="920115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2.0 ms</a:t>
            </a:r>
          </a:p>
        </p:txBody>
      </p:sp>
      <p:sp>
        <p:nvSpPr>
          <p:cNvPr id="32" name="text">
            <a:extLst>
              <a:ext uri="{FF2B5EF4-FFF2-40B4-BE49-F238E27FC236}">
                <a16:creationId xmlns:a16="http://schemas.microsoft.com/office/drawing/2014/main" id="{A9FABA67-D2A7-462B-9FB9-3C1F64626E93}"/>
              </a:ext>
            </a:extLst>
          </p:cNvPr>
          <p:cNvSpPr>
            <a:spLocks noGrp="1"/>
          </p:cNvSpPr>
          <p:nvPr/>
        </p:nvSpPr>
        <p:spPr>
          <a:xfrm>
            <a:off x="10248900" y="2762250"/>
            <a:ext cx="133350" cy="190500"/>
          </a:xfrm>
          <a:prstGeom prst="rect">
            <a:avLst/>
          </a:prstGeom>
          <a:noFill/>
          <a:ln w="0">
            <a:noFill/>
            <a:prstDash val="solid"/>
          </a:ln>
        </p:spPr>
        <p:txBody>
          <a:bodyPr/>
          <a:lstStyle/>
          <a:p>
            <a:pPr algn="l">
              <a:defRPr sz="1275" b="1">
                <a:solidFill>
                  <a:srgbClr val="5F6670"/>
                </a:solidFill>
              </a:defRPr>
            </a:pPr>
            <a:r>
              <a:rPr sz="1275" b="1">
                <a:solidFill>
                  <a:srgbClr val="5F6670"/>
                </a:solidFill>
              </a:rPr>
              <a:t>+</a:t>
            </a:r>
          </a:p>
        </p:txBody>
      </p:sp>
      <p:sp>
        <p:nvSpPr>
          <p:cNvPr id="33" name="rect">
            <a:extLst>
              <a:ext uri="{FF2B5EF4-FFF2-40B4-BE49-F238E27FC236}">
                <a16:creationId xmlns:a16="http://schemas.microsoft.com/office/drawing/2014/main" id="{EC07301D-DC8B-4CAA-AB8E-D5FE271F6995}"/>
              </a:ext>
            </a:extLst>
          </p:cNvPr>
          <p:cNvSpPr>
            <a:spLocks noGrp="1"/>
          </p:cNvSpPr>
          <p:nvPr/>
        </p:nvSpPr>
        <p:spPr>
          <a:xfrm>
            <a:off x="10420350" y="2333625"/>
            <a:ext cx="1123950" cy="1162050"/>
          </a:xfrm>
          <a:prstGeom prst="rect">
            <a:avLst/>
          </a:prstGeom>
          <a:solidFill>
            <a:srgbClr val="F7F8FA"/>
          </a:solidFill>
          <a:ln w="9525">
            <a:solidFill>
              <a:srgbClr val="B8BCC4"/>
            </a:solidFill>
            <a:prstDash val="solid"/>
          </a:ln>
        </p:spPr>
        <p:txBody>
          <a:bodyPr/>
          <a:lstStyle/>
          <a:p>
            <a:endParaRPr lang="en-US"/>
          </a:p>
        </p:txBody>
      </p:sp>
      <p:sp>
        <p:nvSpPr>
          <p:cNvPr id="34" name="text">
            <a:extLst>
              <a:ext uri="{FF2B5EF4-FFF2-40B4-BE49-F238E27FC236}">
                <a16:creationId xmlns:a16="http://schemas.microsoft.com/office/drawing/2014/main" id="{78C4BC2D-A2AB-4857-A93A-7C9BE539F582}"/>
              </a:ext>
            </a:extLst>
          </p:cNvPr>
          <p:cNvSpPr>
            <a:spLocks noGrp="1"/>
          </p:cNvSpPr>
          <p:nvPr/>
        </p:nvSpPr>
        <p:spPr>
          <a:xfrm>
            <a:off x="10515600" y="2533650"/>
            <a:ext cx="933450" cy="304800"/>
          </a:xfrm>
          <a:prstGeom prst="rect">
            <a:avLst/>
          </a:prstGeom>
          <a:noFill/>
          <a:ln w="0">
            <a:noFill/>
            <a:prstDash val="solid"/>
          </a:ln>
        </p:spPr>
        <p:txBody>
          <a:bodyPr/>
          <a:lstStyle/>
          <a:p>
            <a:pPr algn="l">
              <a:defRPr sz="1050" b="1">
                <a:solidFill>
                  <a:srgbClr val="111318"/>
                </a:solidFill>
              </a:defRPr>
            </a:pPr>
            <a:r>
              <a:rPr sz="1050" b="1">
                <a:solidFill>
                  <a:srgbClr val="111318"/>
                </a:solidFill>
              </a:rPr>
              <a:t>Valve + air</a:t>
            </a:r>
          </a:p>
        </p:txBody>
      </p:sp>
      <p:sp>
        <p:nvSpPr>
          <p:cNvPr id="35" name="lt">
            <a:extLst>
              <a:ext uri="{FF2B5EF4-FFF2-40B4-BE49-F238E27FC236}">
                <a16:creationId xmlns:a16="http://schemas.microsoft.com/office/drawing/2014/main" id="{3057ED66-EE5C-4AC1-BC84-ACE91856C5A8}"/>
              </a:ext>
            </a:extLst>
          </p:cNvPr>
          <p:cNvSpPr>
            <a:spLocks noGrp="1"/>
          </p:cNvSpPr>
          <p:nvPr/>
        </p:nvSpPr>
        <p:spPr>
          <a:xfrm>
            <a:off x="10515600" y="3009900"/>
            <a:ext cx="933450" cy="228600"/>
          </a:xfrm>
          <a:prstGeom prst="rect">
            <a:avLst/>
          </a:prstGeom>
          <a:noFill/>
          <a:ln w="0">
            <a:noFill/>
            <a:prstDash val="solid"/>
          </a:ln>
        </p:spPr>
        <p:txBody>
          <a:bodyPr/>
          <a:lstStyle/>
          <a:p>
            <a:pPr algn="ctr">
              <a:defRPr sz="1425" b="1">
                <a:solidFill>
                  <a:srgbClr val="111318"/>
                </a:solidFill>
              </a:defRPr>
            </a:pPr>
            <a:r>
              <a:rPr sz="1425" b="1">
                <a:solidFill>
                  <a:srgbClr val="111318"/>
                </a:solidFill>
              </a:rPr>
              <a:t>4.5 ms</a:t>
            </a:r>
          </a:p>
        </p:txBody>
      </p:sp>
      <p:sp>
        <p:nvSpPr>
          <p:cNvPr id="36" name="metric">
            <a:extLst>
              <a:ext uri="{FF2B5EF4-FFF2-40B4-BE49-F238E27FC236}">
                <a16:creationId xmlns:a16="http://schemas.microsoft.com/office/drawing/2014/main" id="{AF722E2D-7C47-4C2B-B7DC-A0994613CEDD}"/>
              </a:ext>
            </a:extLst>
          </p:cNvPr>
          <p:cNvSpPr>
            <a:spLocks noGrp="1"/>
          </p:cNvSpPr>
          <p:nvPr/>
        </p:nvSpPr>
        <p:spPr>
          <a:xfrm>
            <a:off x="685800" y="4095750"/>
            <a:ext cx="2400300" cy="1190625"/>
          </a:xfrm>
          <a:prstGeom prst="rect">
            <a:avLst/>
          </a:prstGeom>
          <a:solidFill>
            <a:srgbClr val="F7F8FA"/>
          </a:solidFill>
          <a:ln w="9525">
            <a:solidFill>
              <a:srgbClr val="B8BCC4"/>
            </a:solidFill>
            <a:prstDash val="solid"/>
          </a:ln>
        </p:spPr>
        <p:txBody>
          <a:bodyPr/>
          <a:lstStyle/>
          <a:p>
            <a:endParaRPr lang="en-US"/>
          </a:p>
        </p:txBody>
      </p:sp>
      <p:sp>
        <p:nvSpPr>
          <p:cNvPr id="37" name="metric-accent">
            <a:extLst>
              <a:ext uri="{FF2B5EF4-FFF2-40B4-BE49-F238E27FC236}">
                <a16:creationId xmlns:a16="http://schemas.microsoft.com/office/drawing/2014/main" id="{FE61156C-D6AF-44B1-9BC0-1FDB6C7643AC}"/>
              </a:ext>
            </a:extLst>
          </p:cNvPr>
          <p:cNvSpPr>
            <a:spLocks noGrp="1"/>
          </p:cNvSpPr>
          <p:nvPr/>
        </p:nvSpPr>
        <p:spPr>
          <a:xfrm>
            <a:off x="685800" y="4095750"/>
            <a:ext cx="76200" cy="1190625"/>
          </a:xfrm>
          <a:prstGeom prst="rect">
            <a:avLst/>
          </a:prstGeom>
          <a:solidFill>
            <a:srgbClr val="3D8DFF"/>
          </a:solidFill>
          <a:ln w="9525">
            <a:solidFill>
              <a:srgbClr val="3D8DFF"/>
            </a:solidFill>
            <a:prstDash val="solid"/>
          </a:ln>
        </p:spPr>
        <p:txBody>
          <a:bodyPr/>
          <a:lstStyle/>
          <a:p>
            <a:endParaRPr lang="en-US"/>
          </a:p>
        </p:txBody>
      </p:sp>
      <p:sp>
        <p:nvSpPr>
          <p:cNvPr id="38" name="metric-label">
            <a:extLst>
              <a:ext uri="{FF2B5EF4-FFF2-40B4-BE49-F238E27FC236}">
                <a16:creationId xmlns:a16="http://schemas.microsoft.com/office/drawing/2014/main" id="{B8312C11-F23B-458A-BA49-735638B6823B}"/>
              </a:ext>
            </a:extLst>
          </p:cNvPr>
          <p:cNvSpPr>
            <a:spLocks noGrp="1"/>
          </p:cNvSpPr>
          <p:nvPr/>
        </p:nvSpPr>
        <p:spPr>
          <a:xfrm>
            <a:off x="895350" y="4267200"/>
            <a:ext cx="20764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P50 DESIGN MODEL</a:t>
            </a:r>
          </a:p>
        </p:txBody>
      </p:sp>
      <p:sp>
        <p:nvSpPr>
          <p:cNvPr id="39" name="metric-value">
            <a:extLst>
              <a:ext uri="{FF2B5EF4-FFF2-40B4-BE49-F238E27FC236}">
                <a16:creationId xmlns:a16="http://schemas.microsoft.com/office/drawing/2014/main" id="{76C62F41-F409-4A78-BA66-14D2DF5D1E8C}"/>
              </a:ext>
            </a:extLst>
          </p:cNvPr>
          <p:cNvSpPr>
            <a:spLocks noGrp="1"/>
          </p:cNvSpPr>
          <p:nvPr/>
        </p:nvSpPr>
        <p:spPr>
          <a:xfrm>
            <a:off x="895350" y="4505325"/>
            <a:ext cx="20764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32.9 ms</a:t>
            </a:r>
          </a:p>
        </p:txBody>
      </p:sp>
      <p:sp>
        <p:nvSpPr>
          <p:cNvPr id="40" name="metric-sub">
            <a:extLst>
              <a:ext uri="{FF2B5EF4-FFF2-40B4-BE49-F238E27FC236}">
                <a16:creationId xmlns:a16="http://schemas.microsoft.com/office/drawing/2014/main" id="{FC529C04-0708-4C86-81CB-F5FEF77ECF88}"/>
              </a:ext>
            </a:extLst>
          </p:cNvPr>
          <p:cNvSpPr>
            <a:spLocks noGrp="1"/>
          </p:cNvSpPr>
          <p:nvPr/>
        </p:nvSpPr>
        <p:spPr>
          <a:xfrm>
            <a:off x="895350" y="4962525"/>
            <a:ext cx="20764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not a hardware measurement</a:t>
            </a:r>
          </a:p>
        </p:txBody>
      </p:sp>
      <p:sp>
        <p:nvSpPr>
          <p:cNvPr id="41" name="metric">
            <a:extLst>
              <a:ext uri="{FF2B5EF4-FFF2-40B4-BE49-F238E27FC236}">
                <a16:creationId xmlns:a16="http://schemas.microsoft.com/office/drawing/2014/main" id="{25490935-AA9D-4F3C-A7F9-7D22A31484E5}"/>
              </a:ext>
            </a:extLst>
          </p:cNvPr>
          <p:cNvSpPr>
            <a:spLocks noGrp="1"/>
          </p:cNvSpPr>
          <p:nvPr/>
        </p:nvSpPr>
        <p:spPr>
          <a:xfrm>
            <a:off x="3257550" y="4095750"/>
            <a:ext cx="2400300" cy="1190625"/>
          </a:xfrm>
          <a:prstGeom prst="rect">
            <a:avLst/>
          </a:prstGeom>
          <a:solidFill>
            <a:srgbClr val="F7F8FA"/>
          </a:solidFill>
          <a:ln w="9525">
            <a:solidFill>
              <a:srgbClr val="B8BCC4"/>
            </a:solidFill>
            <a:prstDash val="solid"/>
          </a:ln>
        </p:spPr>
        <p:txBody>
          <a:bodyPr/>
          <a:lstStyle/>
          <a:p>
            <a:endParaRPr lang="en-US"/>
          </a:p>
        </p:txBody>
      </p:sp>
      <p:sp>
        <p:nvSpPr>
          <p:cNvPr id="42" name="metric-accent">
            <a:extLst>
              <a:ext uri="{FF2B5EF4-FFF2-40B4-BE49-F238E27FC236}">
                <a16:creationId xmlns:a16="http://schemas.microsoft.com/office/drawing/2014/main" id="{79EB50C9-9616-4C35-A15F-FEDFCC2A3392}"/>
              </a:ext>
            </a:extLst>
          </p:cNvPr>
          <p:cNvSpPr>
            <a:spLocks noGrp="1"/>
          </p:cNvSpPr>
          <p:nvPr/>
        </p:nvSpPr>
        <p:spPr>
          <a:xfrm>
            <a:off x="3257550" y="4095750"/>
            <a:ext cx="76200" cy="1190625"/>
          </a:xfrm>
          <a:prstGeom prst="rect">
            <a:avLst/>
          </a:prstGeom>
          <a:solidFill>
            <a:srgbClr val="3D8DFF"/>
          </a:solidFill>
          <a:ln w="9525">
            <a:solidFill>
              <a:srgbClr val="3D8DFF"/>
            </a:solidFill>
            <a:prstDash val="solid"/>
          </a:ln>
        </p:spPr>
        <p:txBody>
          <a:bodyPr/>
          <a:lstStyle/>
          <a:p>
            <a:endParaRPr lang="en-US"/>
          </a:p>
        </p:txBody>
      </p:sp>
      <p:sp>
        <p:nvSpPr>
          <p:cNvPr id="43" name="metric-label">
            <a:extLst>
              <a:ext uri="{FF2B5EF4-FFF2-40B4-BE49-F238E27FC236}">
                <a16:creationId xmlns:a16="http://schemas.microsoft.com/office/drawing/2014/main" id="{CFF94292-CF72-4583-A8BE-091E93A5C0D2}"/>
              </a:ext>
            </a:extLst>
          </p:cNvPr>
          <p:cNvSpPr>
            <a:spLocks noGrp="1"/>
          </p:cNvSpPr>
          <p:nvPr/>
        </p:nvSpPr>
        <p:spPr>
          <a:xfrm>
            <a:off x="3467100" y="4267200"/>
            <a:ext cx="20764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P99.9 MODEL</a:t>
            </a:r>
          </a:p>
        </p:txBody>
      </p:sp>
      <p:sp>
        <p:nvSpPr>
          <p:cNvPr id="44" name="metric-value">
            <a:extLst>
              <a:ext uri="{FF2B5EF4-FFF2-40B4-BE49-F238E27FC236}">
                <a16:creationId xmlns:a16="http://schemas.microsoft.com/office/drawing/2014/main" id="{A758DF52-9224-4857-AE03-9B9297E107ED}"/>
              </a:ext>
            </a:extLst>
          </p:cNvPr>
          <p:cNvSpPr>
            <a:spLocks noGrp="1"/>
          </p:cNvSpPr>
          <p:nvPr/>
        </p:nvSpPr>
        <p:spPr>
          <a:xfrm>
            <a:off x="3467100" y="4505325"/>
            <a:ext cx="20764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35.9 ms</a:t>
            </a:r>
          </a:p>
        </p:txBody>
      </p:sp>
      <p:sp>
        <p:nvSpPr>
          <p:cNvPr id="45" name="metric-sub">
            <a:extLst>
              <a:ext uri="{FF2B5EF4-FFF2-40B4-BE49-F238E27FC236}">
                <a16:creationId xmlns:a16="http://schemas.microsoft.com/office/drawing/2014/main" id="{E3DDEA0F-2963-43EF-A663-463EBFF7C6D9}"/>
              </a:ext>
            </a:extLst>
          </p:cNvPr>
          <p:cNvSpPr>
            <a:spLocks noGrp="1"/>
          </p:cNvSpPr>
          <p:nvPr/>
        </p:nvSpPr>
        <p:spPr>
          <a:xfrm>
            <a:off x="3467100" y="4962525"/>
            <a:ext cx="20764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Monte Carlo output</a:t>
            </a:r>
          </a:p>
        </p:txBody>
      </p:sp>
      <p:sp>
        <p:nvSpPr>
          <p:cNvPr id="46" name="metric">
            <a:extLst>
              <a:ext uri="{FF2B5EF4-FFF2-40B4-BE49-F238E27FC236}">
                <a16:creationId xmlns:a16="http://schemas.microsoft.com/office/drawing/2014/main" id="{515A314F-654F-4DC8-84B3-94D9DFA41F1D}"/>
              </a:ext>
            </a:extLst>
          </p:cNvPr>
          <p:cNvSpPr>
            <a:spLocks noGrp="1"/>
          </p:cNvSpPr>
          <p:nvPr/>
        </p:nvSpPr>
        <p:spPr>
          <a:xfrm>
            <a:off x="5829300" y="4095750"/>
            <a:ext cx="2400300" cy="1190625"/>
          </a:xfrm>
          <a:prstGeom prst="rect">
            <a:avLst/>
          </a:prstGeom>
          <a:solidFill>
            <a:srgbClr val="F7F8FA"/>
          </a:solidFill>
          <a:ln w="9525">
            <a:solidFill>
              <a:srgbClr val="B8BCC4"/>
            </a:solidFill>
            <a:prstDash val="solid"/>
          </a:ln>
        </p:spPr>
        <p:txBody>
          <a:bodyPr/>
          <a:lstStyle/>
          <a:p>
            <a:endParaRPr lang="en-US"/>
          </a:p>
        </p:txBody>
      </p:sp>
      <p:sp>
        <p:nvSpPr>
          <p:cNvPr id="47" name="metric-accent">
            <a:extLst>
              <a:ext uri="{FF2B5EF4-FFF2-40B4-BE49-F238E27FC236}">
                <a16:creationId xmlns:a16="http://schemas.microsoft.com/office/drawing/2014/main" id="{86BDB1D1-0617-46C3-9E40-598B845B1CC6}"/>
              </a:ext>
            </a:extLst>
          </p:cNvPr>
          <p:cNvSpPr>
            <a:spLocks noGrp="1"/>
          </p:cNvSpPr>
          <p:nvPr/>
        </p:nvSpPr>
        <p:spPr>
          <a:xfrm>
            <a:off x="5829300" y="4095750"/>
            <a:ext cx="76200" cy="1190625"/>
          </a:xfrm>
          <a:prstGeom prst="rect">
            <a:avLst/>
          </a:prstGeom>
          <a:solidFill>
            <a:srgbClr val="3D8DFF"/>
          </a:solidFill>
          <a:ln w="9525">
            <a:solidFill>
              <a:srgbClr val="3D8DFF"/>
            </a:solidFill>
            <a:prstDash val="solid"/>
          </a:ln>
        </p:spPr>
        <p:txBody>
          <a:bodyPr/>
          <a:lstStyle/>
          <a:p>
            <a:endParaRPr lang="en-US"/>
          </a:p>
        </p:txBody>
      </p:sp>
      <p:sp>
        <p:nvSpPr>
          <p:cNvPr id="48" name="metric-label">
            <a:extLst>
              <a:ext uri="{FF2B5EF4-FFF2-40B4-BE49-F238E27FC236}">
                <a16:creationId xmlns:a16="http://schemas.microsoft.com/office/drawing/2014/main" id="{5EA323D6-7FAF-4924-96F4-933B4782020F}"/>
              </a:ext>
            </a:extLst>
          </p:cNvPr>
          <p:cNvSpPr>
            <a:spLocks noGrp="1"/>
          </p:cNvSpPr>
          <p:nvPr/>
        </p:nvSpPr>
        <p:spPr>
          <a:xfrm>
            <a:off x="6038850" y="4267200"/>
            <a:ext cx="20764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DESIGN W/ GUARD</a:t>
            </a:r>
          </a:p>
        </p:txBody>
      </p:sp>
      <p:sp>
        <p:nvSpPr>
          <p:cNvPr id="49" name="metric-value">
            <a:extLst>
              <a:ext uri="{FF2B5EF4-FFF2-40B4-BE49-F238E27FC236}">
                <a16:creationId xmlns:a16="http://schemas.microsoft.com/office/drawing/2014/main" id="{7C5A9B57-2F35-4CA9-AAA1-E338D5B3DBBE}"/>
              </a:ext>
            </a:extLst>
          </p:cNvPr>
          <p:cNvSpPr>
            <a:spLocks noGrp="1"/>
          </p:cNvSpPr>
          <p:nvPr/>
        </p:nvSpPr>
        <p:spPr>
          <a:xfrm>
            <a:off x="6038850" y="4505325"/>
            <a:ext cx="20764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38.9 ms</a:t>
            </a:r>
          </a:p>
        </p:txBody>
      </p:sp>
      <p:sp>
        <p:nvSpPr>
          <p:cNvPr id="50" name="metric-sub">
            <a:extLst>
              <a:ext uri="{FF2B5EF4-FFF2-40B4-BE49-F238E27FC236}">
                <a16:creationId xmlns:a16="http://schemas.microsoft.com/office/drawing/2014/main" id="{2E9D525F-5556-4D40-BFF3-C973E4507410}"/>
              </a:ext>
            </a:extLst>
          </p:cNvPr>
          <p:cNvSpPr>
            <a:spLocks noGrp="1"/>
          </p:cNvSpPr>
          <p:nvPr/>
        </p:nvSpPr>
        <p:spPr>
          <a:xfrm>
            <a:off x="6038850" y="4962525"/>
            <a:ext cx="20764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P99.9 + 3.0 ms</a:t>
            </a:r>
          </a:p>
        </p:txBody>
      </p:sp>
      <p:sp>
        <p:nvSpPr>
          <p:cNvPr id="51" name="metric">
            <a:extLst>
              <a:ext uri="{FF2B5EF4-FFF2-40B4-BE49-F238E27FC236}">
                <a16:creationId xmlns:a16="http://schemas.microsoft.com/office/drawing/2014/main" id="{B31C6EEC-142B-4F6D-9D0E-528C715C0055}"/>
              </a:ext>
            </a:extLst>
          </p:cNvPr>
          <p:cNvSpPr>
            <a:spLocks noGrp="1"/>
          </p:cNvSpPr>
          <p:nvPr/>
        </p:nvSpPr>
        <p:spPr>
          <a:xfrm>
            <a:off x="8401050" y="4095750"/>
            <a:ext cx="2400300" cy="1190625"/>
          </a:xfrm>
          <a:prstGeom prst="rect">
            <a:avLst/>
          </a:prstGeom>
          <a:solidFill>
            <a:srgbClr val="F7F8FA"/>
          </a:solidFill>
          <a:ln w="9525">
            <a:solidFill>
              <a:srgbClr val="B8BCC4"/>
            </a:solidFill>
            <a:prstDash val="solid"/>
          </a:ln>
        </p:spPr>
        <p:txBody>
          <a:bodyPr/>
          <a:lstStyle/>
          <a:p>
            <a:endParaRPr lang="en-US"/>
          </a:p>
        </p:txBody>
      </p:sp>
      <p:sp>
        <p:nvSpPr>
          <p:cNvPr id="52" name="metric-accent">
            <a:extLst>
              <a:ext uri="{FF2B5EF4-FFF2-40B4-BE49-F238E27FC236}">
                <a16:creationId xmlns:a16="http://schemas.microsoft.com/office/drawing/2014/main" id="{5D30885C-5C45-448C-A6D1-976839CB702C}"/>
              </a:ext>
            </a:extLst>
          </p:cNvPr>
          <p:cNvSpPr>
            <a:spLocks noGrp="1"/>
          </p:cNvSpPr>
          <p:nvPr/>
        </p:nvSpPr>
        <p:spPr>
          <a:xfrm>
            <a:off x="8401050" y="4095750"/>
            <a:ext cx="76200" cy="1190625"/>
          </a:xfrm>
          <a:prstGeom prst="rect">
            <a:avLst/>
          </a:prstGeom>
          <a:solidFill>
            <a:srgbClr val="3D8DFF"/>
          </a:solidFill>
          <a:ln w="9525">
            <a:solidFill>
              <a:srgbClr val="3D8DFF"/>
            </a:solidFill>
            <a:prstDash val="solid"/>
          </a:ln>
        </p:spPr>
        <p:txBody>
          <a:bodyPr/>
          <a:lstStyle/>
          <a:p>
            <a:endParaRPr lang="en-US"/>
          </a:p>
        </p:txBody>
      </p:sp>
      <p:sp>
        <p:nvSpPr>
          <p:cNvPr id="53" name="metric-label">
            <a:extLst>
              <a:ext uri="{FF2B5EF4-FFF2-40B4-BE49-F238E27FC236}">
                <a16:creationId xmlns:a16="http://schemas.microsoft.com/office/drawing/2014/main" id="{7F4AE10D-2E51-4D28-946B-434DB32F8FFD}"/>
              </a:ext>
            </a:extLst>
          </p:cNvPr>
          <p:cNvSpPr>
            <a:spLocks noGrp="1"/>
          </p:cNvSpPr>
          <p:nvPr/>
        </p:nvSpPr>
        <p:spPr>
          <a:xfrm>
            <a:off x="8610600" y="4267200"/>
            <a:ext cx="207645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500 mm BUFFER</a:t>
            </a:r>
          </a:p>
        </p:txBody>
      </p:sp>
      <p:sp>
        <p:nvSpPr>
          <p:cNvPr id="54" name="metric-value">
            <a:extLst>
              <a:ext uri="{FF2B5EF4-FFF2-40B4-BE49-F238E27FC236}">
                <a16:creationId xmlns:a16="http://schemas.microsoft.com/office/drawing/2014/main" id="{79F02C1B-447C-4AB9-864B-366C597CFA02}"/>
              </a:ext>
            </a:extLst>
          </p:cNvPr>
          <p:cNvSpPr>
            <a:spLocks noGrp="1"/>
          </p:cNvSpPr>
          <p:nvPr/>
        </p:nvSpPr>
        <p:spPr>
          <a:xfrm>
            <a:off x="8610600" y="4505325"/>
            <a:ext cx="207645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7.1×</a:t>
            </a:r>
          </a:p>
        </p:txBody>
      </p:sp>
      <p:sp>
        <p:nvSpPr>
          <p:cNvPr id="55" name="metric-sub">
            <a:extLst>
              <a:ext uri="{FF2B5EF4-FFF2-40B4-BE49-F238E27FC236}">
                <a16:creationId xmlns:a16="http://schemas.microsoft.com/office/drawing/2014/main" id="{86756017-696A-4BC4-9522-A678C8BCF9A2}"/>
              </a:ext>
            </a:extLst>
          </p:cNvPr>
          <p:cNvSpPr>
            <a:spLocks noGrp="1"/>
          </p:cNvSpPr>
          <p:nvPr/>
        </p:nvSpPr>
        <p:spPr>
          <a:xfrm>
            <a:off x="8610600" y="4962525"/>
            <a:ext cx="207645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at 1.8 m/s; design result</a:t>
            </a:r>
          </a:p>
        </p:txBody>
      </p:sp>
      <p:sp>
        <p:nvSpPr>
          <p:cNvPr id="56" name="text">
            <a:extLst>
              <a:ext uri="{FF2B5EF4-FFF2-40B4-BE49-F238E27FC236}">
                <a16:creationId xmlns:a16="http://schemas.microsoft.com/office/drawing/2014/main" id="{67963882-CBE5-470E-967C-546B647D49E1}"/>
              </a:ext>
            </a:extLst>
          </p:cNvPr>
          <p:cNvSpPr>
            <a:spLocks noGrp="1"/>
          </p:cNvSpPr>
          <p:nvPr/>
        </p:nvSpPr>
        <p:spPr>
          <a:xfrm>
            <a:off x="685800" y="5572125"/>
            <a:ext cx="10477500" cy="266700"/>
          </a:xfrm>
          <a:prstGeom prst="rect">
            <a:avLst/>
          </a:prstGeom>
          <a:noFill/>
          <a:ln w="0">
            <a:noFill/>
            <a:prstDash val="solid"/>
          </a:ln>
        </p:spPr>
        <p:txBody>
          <a:bodyPr/>
          <a:lstStyle/>
          <a:p>
            <a:pPr algn="l">
              <a:defRPr sz="1350" b="1">
                <a:solidFill>
                  <a:srgbClr val="C43D3D"/>
                </a:solidFill>
              </a:defRPr>
            </a:pPr>
            <a:r>
              <a:rPr sz="1350" b="1">
                <a:solidFill>
                  <a:srgbClr val="C43D3D"/>
                </a:solidFill>
              </a:rPr>
              <a:t>PLC protocol telemetry ≠ deterministic safety interlock. HIL evidence is mandatory before deployment.</a:t>
            </a:r>
          </a:p>
        </p:txBody>
      </p:sp>
      <p:sp>
        <p:nvSpPr>
          <p:cNvPr id="57" name="Straight Connector 56">
            <a:extLst>
              <a:ext uri="{FF2B5EF4-FFF2-40B4-BE49-F238E27FC236}">
                <a16:creationId xmlns:a16="http://schemas.microsoft.com/office/drawing/2014/main" id="{E4534083-9B97-4A51-A0DC-D281BF923843}"/>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58" name="source">
            <a:extLst>
              <a:ext uri="{FF2B5EF4-FFF2-40B4-BE49-F238E27FC236}">
                <a16:creationId xmlns:a16="http://schemas.microsoft.com/office/drawing/2014/main" id="{E26BA953-A70F-498F-B9E4-68D25BC8BAC5}"/>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Latency engine status in source: MONTE_CARLO_SIMULATED; the P99.9 number is not a measured production SLA.</a:t>
            </a:r>
          </a:p>
        </p:txBody>
      </p:sp>
      <p:sp>
        <p:nvSpPr>
          <p:cNvPr id="59" name="page">
            <a:extLst>
              <a:ext uri="{FF2B5EF4-FFF2-40B4-BE49-F238E27FC236}">
                <a16:creationId xmlns:a16="http://schemas.microsoft.com/office/drawing/2014/main" id="{1B0D4A4C-0464-42E4-9B50-6AF6E12FCC69}"/>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6</a:t>
            </a:r>
          </a:p>
        </p:txBody>
      </p:sp>
    </p:spTree>
    <p:extLst>
      <p:ext uri="{BB962C8B-B14F-4D97-AF65-F5344CB8AC3E}">
        <p14:creationId xmlns:p14="http://schemas.microsoft.com/office/powerpoint/2010/main" val="214091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eyebrow">
            <a:extLst>
              <a:ext uri="{FF2B5EF4-FFF2-40B4-BE49-F238E27FC236}">
                <a16:creationId xmlns:a16="http://schemas.microsoft.com/office/drawing/2014/main" id="{196C3E46-0EE1-4F12-A93E-4020C1663F89}"/>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07  |  4:20–5:10</a:t>
            </a:r>
          </a:p>
        </p:txBody>
      </p:sp>
      <p:sp>
        <p:nvSpPr>
          <p:cNvPr id="2" name="title">
            <a:extLst>
              <a:ext uri="{FF2B5EF4-FFF2-40B4-BE49-F238E27FC236}">
                <a16:creationId xmlns:a16="http://schemas.microsoft.com/office/drawing/2014/main" id="{5C74D5CA-99B8-4325-AF16-D5E142156557}"/>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Defects become controlled process experiments</a:t>
            </a:r>
          </a:p>
        </p:txBody>
      </p:sp>
      <p:sp>
        <p:nvSpPr>
          <p:cNvPr id="3" name="cn-title">
            <a:extLst>
              <a:ext uri="{FF2B5EF4-FFF2-40B4-BE49-F238E27FC236}">
                <a16:creationId xmlns:a16="http://schemas.microsoft.com/office/drawing/2014/main" id="{CD98477F-2E0A-468A-9B40-56B8B0A5A342}"/>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将缺陷转化为受控工艺实验</a:t>
            </a:r>
          </a:p>
        </p:txBody>
      </p:sp>
      <p:sp>
        <p:nvSpPr>
          <p:cNvPr id="4" name="Straight Connector 3">
            <a:extLst>
              <a:ext uri="{FF2B5EF4-FFF2-40B4-BE49-F238E27FC236}">
                <a16:creationId xmlns:a16="http://schemas.microsoft.com/office/drawing/2014/main" id="{AACBF4EC-0469-4FA9-AB43-AEE9127A8FA6}"/>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node">
            <a:extLst>
              <a:ext uri="{FF2B5EF4-FFF2-40B4-BE49-F238E27FC236}">
                <a16:creationId xmlns:a16="http://schemas.microsoft.com/office/drawing/2014/main" id="{1C749454-D2E2-4775-BC52-E90791F6A8B7}"/>
              </a:ext>
            </a:extLst>
          </p:cNvPr>
          <p:cNvSpPr>
            <a:spLocks noGrp="1"/>
          </p:cNvSpPr>
          <p:nvPr/>
        </p:nvSpPr>
        <p:spPr>
          <a:xfrm>
            <a:off x="685800" y="2257425"/>
            <a:ext cx="1809750" cy="1190625"/>
          </a:xfrm>
          <a:prstGeom prst="rect">
            <a:avLst/>
          </a:prstGeom>
          <a:solidFill>
            <a:srgbClr val="D0EDFA"/>
          </a:solidFill>
          <a:ln w="9525">
            <a:solidFill>
              <a:srgbClr val="B8BCC4"/>
            </a:solidFill>
            <a:prstDash val="solid"/>
          </a:ln>
        </p:spPr>
        <p:txBody>
          <a:bodyPr/>
          <a:lstStyle/>
          <a:p>
            <a:endParaRPr lang="en-US"/>
          </a:p>
        </p:txBody>
      </p:sp>
      <p:sp>
        <p:nvSpPr>
          <p:cNvPr id="6" name="node-head">
            <a:extLst>
              <a:ext uri="{FF2B5EF4-FFF2-40B4-BE49-F238E27FC236}">
                <a16:creationId xmlns:a16="http://schemas.microsoft.com/office/drawing/2014/main" id="{BD91B499-62DB-4815-B816-08B70EE80C18}"/>
              </a:ext>
            </a:extLst>
          </p:cNvPr>
          <p:cNvSpPr>
            <a:spLocks noGrp="1"/>
          </p:cNvSpPr>
          <p:nvPr/>
        </p:nvSpPr>
        <p:spPr>
          <a:xfrm>
            <a:off x="819150" y="2381250"/>
            <a:ext cx="15430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1,200 m roll map</a:t>
            </a:r>
          </a:p>
        </p:txBody>
      </p:sp>
      <p:sp>
        <p:nvSpPr>
          <p:cNvPr id="7" name="node-body">
            <a:extLst>
              <a:ext uri="{FF2B5EF4-FFF2-40B4-BE49-F238E27FC236}">
                <a16:creationId xmlns:a16="http://schemas.microsoft.com/office/drawing/2014/main" id="{B891DC13-8ADA-4F47-9791-19CA7BFBA1D4}"/>
              </a:ext>
            </a:extLst>
          </p:cNvPr>
          <p:cNvSpPr>
            <a:spLocks noGrp="1"/>
          </p:cNvSpPr>
          <p:nvPr/>
        </p:nvSpPr>
        <p:spPr>
          <a:xfrm>
            <a:off x="819150" y="2628900"/>
            <a:ext cx="1543050" cy="752475"/>
          </a:xfrm>
          <a:prstGeom prst="rect">
            <a:avLst/>
          </a:prstGeom>
          <a:noFill/>
          <a:ln w="0">
            <a:noFill/>
            <a:prstDash val="solid"/>
          </a:ln>
        </p:spPr>
        <p:txBody>
          <a:bodyPr/>
          <a:lstStyle/>
          <a:p>
            <a:pPr algn="l">
              <a:defRPr sz="975" b="0">
                <a:solidFill>
                  <a:srgbClr val="5F6670"/>
                </a:solidFill>
              </a:defRPr>
            </a:pPr>
            <a:r>
              <a:rPr sz="975" b="0">
                <a:solidFill>
                  <a:srgbClr val="5F6670"/>
                </a:solidFill>
              </a:rPr>
              <a:t>X_m · Y_mm</a:t>
            </a:r>
          </a:p>
          <a:p>
            <a:pPr algn="l">
              <a:defRPr sz="975" b="0">
                <a:solidFill>
                  <a:srgbClr val="5F6670"/>
                </a:solidFill>
              </a:defRPr>
            </a:pPr>
            <a:r>
              <a:rPr sz="975" b="0">
                <a:solidFill>
                  <a:srgbClr val="5F6670"/>
                </a:solidFill>
              </a:rPr>
              <a:t>4 slitting lanes</a:t>
            </a:r>
          </a:p>
          <a:p>
            <a:pPr algn="l">
              <a:defRPr sz="975" b="0">
                <a:solidFill>
                  <a:srgbClr val="5F6670"/>
                </a:solidFill>
              </a:defRPr>
            </a:pPr>
            <a:r>
              <a:rPr sz="975" b="0">
                <a:solidFill>
                  <a:srgbClr val="5F6670"/>
                </a:solidFill>
              </a:rPr>
              <a:t>quality events</a:t>
            </a:r>
          </a:p>
        </p:txBody>
      </p:sp>
      <p:sp>
        <p:nvSpPr>
          <p:cNvPr id="8" name="node">
            <a:extLst>
              <a:ext uri="{FF2B5EF4-FFF2-40B4-BE49-F238E27FC236}">
                <a16:creationId xmlns:a16="http://schemas.microsoft.com/office/drawing/2014/main" id="{0E688F58-7467-4D76-84AA-944FDAB461A8}"/>
              </a:ext>
            </a:extLst>
          </p:cNvPr>
          <p:cNvSpPr>
            <a:spLocks noGrp="1"/>
          </p:cNvSpPr>
          <p:nvPr/>
        </p:nvSpPr>
        <p:spPr>
          <a:xfrm>
            <a:off x="3590925" y="2257425"/>
            <a:ext cx="1809750" cy="1190625"/>
          </a:xfrm>
          <a:prstGeom prst="rect">
            <a:avLst/>
          </a:prstGeom>
          <a:solidFill>
            <a:srgbClr val="FFFFFF"/>
          </a:solidFill>
          <a:ln w="9525">
            <a:solidFill>
              <a:srgbClr val="B8BCC4"/>
            </a:solidFill>
            <a:prstDash val="solid"/>
          </a:ln>
        </p:spPr>
        <p:txBody>
          <a:bodyPr/>
          <a:lstStyle/>
          <a:p>
            <a:endParaRPr lang="en-US"/>
          </a:p>
        </p:txBody>
      </p:sp>
      <p:sp>
        <p:nvSpPr>
          <p:cNvPr id="9" name="node-head">
            <a:extLst>
              <a:ext uri="{FF2B5EF4-FFF2-40B4-BE49-F238E27FC236}">
                <a16:creationId xmlns:a16="http://schemas.microsoft.com/office/drawing/2014/main" id="{9BC8F36F-A5EA-4837-AF78-B925B4B8F786}"/>
              </a:ext>
            </a:extLst>
          </p:cNvPr>
          <p:cNvSpPr>
            <a:spLocks noGrp="1"/>
          </p:cNvSpPr>
          <p:nvPr/>
        </p:nvSpPr>
        <p:spPr>
          <a:xfrm>
            <a:off x="3724275" y="2381250"/>
            <a:ext cx="15430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Root-cause rank</a:t>
            </a:r>
          </a:p>
        </p:txBody>
      </p:sp>
      <p:sp>
        <p:nvSpPr>
          <p:cNvPr id="10" name="node-body">
            <a:extLst>
              <a:ext uri="{FF2B5EF4-FFF2-40B4-BE49-F238E27FC236}">
                <a16:creationId xmlns:a16="http://schemas.microsoft.com/office/drawing/2014/main" id="{7E62ACF9-BF3A-459D-9653-85635B0D69F8}"/>
              </a:ext>
            </a:extLst>
          </p:cNvPr>
          <p:cNvSpPr>
            <a:spLocks noGrp="1"/>
          </p:cNvSpPr>
          <p:nvPr/>
        </p:nvSpPr>
        <p:spPr>
          <a:xfrm>
            <a:off x="3724275" y="2628900"/>
            <a:ext cx="1543050" cy="752475"/>
          </a:xfrm>
          <a:prstGeom prst="rect">
            <a:avLst/>
          </a:prstGeom>
          <a:noFill/>
          <a:ln w="0">
            <a:noFill/>
            <a:prstDash val="solid"/>
          </a:ln>
        </p:spPr>
        <p:txBody>
          <a:bodyPr/>
          <a:lstStyle/>
          <a:p>
            <a:pPr algn="l">
              <a:defRPr sz="975" b="0">
                <a:solidFill>
                  <a:srgbClr val="5F6670"/>
                </a:solidFill>
              </a:defRPr>
            </a:pPr>
            <a:r>
              <a:rPr sz="975" b="0">
                <a:solidFill>
                  <a:srgbClr val="5F6670"/>
                </a:solidFill>
              </a:rPr>
              <a:t>Slot-die · Dryer Z1</a:t>
            </a:r>
          </a:p>
          <a:p>
            <a:pPr algn="l">
              <a:defRPr sz="975" b="0">
                <a:solidFill>
                  <a:srgbClr val="5F6670"/>
                </a:solidFill>
              </a:defRPr>
            </a:pPr>
            <a:r>
              <a:rPr sz="975" b="0">
                <a:solidFill>
                  <a:srgbClr val="5F6670"/>
                </a:solidFill>
              </a:rPr>
              <a:t>Vacuum mixer</a:t>
            </a:r>
          </a:p>
        </p:txBody>
      </p:sp>
      <p:sp>
        <p:nvSpPr>
          <p:cNvPr id="11" name="node">
            <a:extLst>
              <a:ext uri="{FF2B5EF4-FFF2-40B4-BE49-F238E27FC236}">
                <a16:creationId xmlns:a16="http://schemas.microsoft.com/office/drawing/2014/main" id="{90A7589B-6283-43B6-8F8A-DCFA6955B8E6}"/>
              </a:ext>
            </a:extLst>
          </p:cNvPr>
          <p:cNvSpPr>
            <a:spLocks noGrp="1"/>
          </p:cNvSpPr>
          <p:nvPr/>
        </p:nvSpPr>
        <p:spPr>
          <a:xfrm>
            <a:off x="6496050" y="2257425"/>
            <a:ext cx="1809750" cy="1190625"/>
          </a:xfrm>
          <a:prstGeom prst="rect">
            <a:avLst/>
          </a:prstGeom>
          <a:solidFill>
            <a:srgbClr val="FFFFFF"/>
          </a:solidFill>
          <a:ln w="9525">
            <a:solidFill>
              <a:srgbClr val="B8BCC4"/>
            </a:solidFill>
            <a:prstDash val="solid"/>
          </a:ln>
        </p:spPr>
        <p:txBody>
          <a:bodyPr/>
          <a:lstStyle/>
          <a:p>
            <a:endParaRPr lang="en-US"/>
          </a:p>
        </p:txBody>
      </p:sp>
      <p:sp>
        <p:nvSpPr>
          <p:cNvPr id="12" name="node-head">
            <a:extLst>
              <a:ext uri="{FF2B5EF4-FFF2-40B4-BE49-F238E27FC236}">
                <a16:creationId xmlns:a16="http://schemas.microsoft.com/office/drawing/2014/main" id="{7F8DCFBB-BC34-428E-978C-5700CF2541F1}"/>
              </a:ext>
            </a:extLst>
          </p:cNvPr>
          <p:cNvSpPr>
            <a:spLocks noGrp="1"/>
          </p:cNvSpPr>
          <p:nvPr/>
        </p:nvSpPr>
        <p:spPr>
          <a:xfrm>
            <a:off x="6629400" y="2381250"/>
            <a:ext cx="15430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Constrained change</a:t>
            </a:r>
          </a:p>
        </p:txBody>
      </p:sp>
      <p:sp>
        <p:nvSpPr>
          <p:cNvPr id="13" name="node-body">
            <a:extLst>
              <a:ext uri="{FF2B5EF4-FFF2-40B4-BE49-F238E27FC236}">
                <a16:creationId xmlns:a16="http://schemas.microsoft.com/office/drawing/2014/main" id="{490319D6-10C5-4804-851F-3203268BB156}"/>
              </a:ext>
            </a:extLst>
          </p:cNvPr>
          <p:cNvSpPr>
            <a:spLocks noGrp="1"/>
          </p:cNvSpPr>
          <p:nvPr/>
        </p:nvSpPr>
        <p:spPr>
          <a:xfrm>
            <a:off x="6629400" y="2628900"/>
            <a:ext cx="1543050" cy="752475"/>
          </a:xfrm>
          <a:prstGeom prst="rect">
            <a:avLst/>
          </a:prstGeom>
          <a:noFill/>
          <a:ln w="0">
            <a:noFill/>
            <a:prstDash val="solid"/>
          </a:ln>
        </p:spPr>
        <p:txBody>
          <a:bodyPr/>
          <a:lstStyle/>
          <a:p>
            <a:pPr algn="l">
              <a:defRPr sz="975" b="0">
                <a:solidFill>
                  <a:srgbClr val="5F6670"/>
                </a:solidFill>
              </a:defRPr>
            </a:pPr>
            <a:r>
              <a:rPr sz="975" b="0">
                <a:solidFill>
                  <a:srgbClr val="5F6670"/>
                </a:solidFill>
              </a:rPr>
              <a:t>ΔT1 / Δv / ΔQ</a:t>
            </a:r>
          </a:p>
          <a:p>
            <a:pPr algn="l">
              <a:defRPr sz="975" b="0">
                <a:solidFill>
                  <a:srgbClr val="5F6670"/>
                </a:solidFill>
              </a:defRPr>
            </a:pPr>
            <a:r>
              <a:rPr sz="975" b="0">
                <a:solidFill>
                  <a:srgbClr val="5F6670"/>
                </a:solidFill>
              </a:rPr>
              <a:t>approval + recipe limits</a:t>
            </a:r>
          </a:p>
        </p:txBody>
      </p:sp>
      <p:sp>
        <p:nvSpPr>
          <p:cNvPr id="14" name="node">
            <a:extLst>
              <a:ext uri="{FF2B5EF4-FFF2-40B4-BE49-F238E27FC236}">
                <a16:creationId xmlns:a16="http://schemas.microsoft.com/office/drawing/2014/main" id="{A0D4B09E-943A-41CD-B275-4609146B4D07}"/>
              </a:ext>
            </a:extLst>
          </p:cNvPr>
          <p:cNvSpPr>
            <a:spLocks noGrp="1"/>
          </p:cNvSpPr>
          <p:nvPr/>
        </p:nvSpPr>
        <p:spPr>
          <a:xfrm>
            <a:off x="9401175" y="2257425"/>
            <a:ext cx="1809750" cy="1190625"/>
          </a:xfrm>
          <a:prstGeom prst="rect">
            <a:avLst/>
          </a:prstGeom>
          <a:solidFill>
            <a:srgbClr val="D0EDFA"/>
          </a:solidFill>
          <a:ln w="9525">
            <a:solidFill>
              <a:srgbClr val="B8BCC4"/>
            </a:solidFill>
            <a:prstDash val="solid"/>
          </a:ln>
        </p:spPr>
        <p:txBody>
          <a:bodyPr/>
          <a:lstStyle/>
          <a:p>
            <a:endParaRPr lang="en-US"/>
          </a:p>
        </p:txBody>
      </p:sp>
      <p:sp>
        <p:nvSpPr>
          <p:cNvPr id="15" name="node-head">
            <a:extLst>
              <a:ext uri="{FF2B5EF4-FFF2-40B4-BE49-F238E27FC236}">
                <a16:creationId xmlns:a16="http://schemas.microsoft.com/office/drawing/2014/main" id="{6B4025A7-0DFF-47F8-9571-64D456D1524D}"/>
              </a:ext>
            </a:extLst>
          </p:cNvPr>
          <p:cNvSpPr>
            <a:spLocks noGrp="1"/>
          </p:cNvSpPr>
          <p:nvPr/>
        </p:nvSpPr>
        <p:spPr>
          <a:xfrm>
            <a:off x="9534525" y="2381250"/>
            <a:ext cx="1543050" cy="209550"/>
          </a:xfrm>
          <a:prstGeom prst="rect">
            <a:avLst/>
          </a:prstGeom>
          <a:noFill/>
          <a:ln w="0">
            <a:noFill/>
            <a:prstDash val="solid"/>
          </a:ln>
        </p:spPr>
        <p:txBody>
          <a:bodyPr/>
          <a:lstStyle/>
          <a:p>
            <a:pPr algn="l">
              <a:defRPr sz="1200" b="1">
                <a:solidFill>
                  <a:srgbClr val="111318"/>
                </a:solidFill>
              </a:defRPr>
            </a:pPr>
            <a:r>
              <a:rPr sz="1200" b="1">
                <a:solidFill>
                  <a:srgbClr val="111318"/>
                </a:solidFill>
              </a:rPr>
              <a:t>Verify effect</a:t>
            </a:r>
          </a:p>
        </p:txBody>
      </p:sp>
      <p:sp>
        <p:nvSpPr>
          <p:cNvPr id="16" name="node-body">
            <a:extLst>
              <a:ext uri="{FF2B5EF4-FFF2-40B4-BE49-F238E27FC236}">
                <a16:creationId xmlns:a16="http://schemas.microsoft.com/office/drawing/2014/main" id="{ECC68594-09B3-4957-88BE-AED59DD2F6E0}"/>
              </a:ext>
            </a:extLst>
          </p:cNvPr>
          <p:cNvSpPr>
            <a:spLocks noGrp="1"/>
          </p:cNvSpPr>
          <p:nvPr/>
        </p:nvSpPr>
        <p:spPr>
          <a:xfrm>
            <a:off x="9534525" y="2628900"/>
            <a:ext cx="1543050" cy="752475"/>
          </a:xfrm>
          <a:prstGeom prst="rect">
            <a:avLst/>
          </a:prstGeom>
          <a:noFill/>
          <a:ln w="0">
            <a:noFill/>
            <a:prstDash val="solid"/>
          </a:ln>
        </p:spPr>
        <p:txBody>
          <a:bodyPr/>
          <a:lstStyle/>
          <a:p>
            <a:pPr algn="l">
              <a:defRPr sz="975" b="0">
                <a:solidFill>
                  <a:srgbClr val="5F6670"/>
                </a:solidFill>
              </a:defRPr>
            </a:pPr>
            <a:r>
              <a:rPr sz="975" b="0">
                <a:solidFill>
                  <a:srgbClr val="5F6670"/>
                </a:solidFill>
              </a:rPr>
              <a:t>holdout segment</a:t>
            </a:r>
          </a:p>
          <a:p>
            <a:pPr algn="l">
              <a:defRPr sz="975" b="0">
                <a:solidFill>
                  <a:srgbClr val="5F6670"/>
                </a:solidFill>
              </a:defRPr>
            </a:pPr>
            <a:r>
              <a:rPr sz="975" b="0">
                <a:solidFill>
                  <a:srgbClr val="5F6670"/>
                </a:solidFill>
              </a:rPr>
              <a:t>roll-level evidence</a:t>
            </a:r>
          </a:p>
        </p:txBody>
      </p:sp>
      <p:cxnSp>
        <p:nvCxnSpPr>
          <p:cNvPr id="54" name="Straight Arrow Connector 53"/>
          <p:cNvCxnSpPr>
            <a:stCxn id="5" idx="3"/>
            <a:endCxn id="8" idx="1"/>
          </p:cNvCxnSpPr>
          <p:nvPr/>
        </p:nvCxnSpPr>
        <p:spPr>
          <a:xfrm>
            <a:off x="2495550" y="2852738"/>
            <a:ext cx="1095375" cy="0"/>
          </a:xfrm>
          <a:prstGeom prst="straightConnector1">
            <a:avLst/>
          </a:prstGeom>
          <a:ln w="19050">
            <a:solidFill>
              <a:srgbClr val="3D8DFF"/>
            </a:solidFill>
            <a:prstDash val="solid"/>
            <a:headEnd type="triangle" w="sm" len="sm"/>
          </a:ln>
        </p:spPr>
      </p:cxnSp>
      <p:cxnSp>
        <p:nvCxnSpPr>
          <p:cNvPr id="55" name="Straight Arrow Connector 54"/>
          <p:cNvCxnSpPr>
            <a:stCxn id="8" idx="3"/>
            <a:endCxn id="11" idx="1"/>
          </p:cNvCxnSpPr>
          <p:nvPr/>
        </p:nvCxnSpPr>
        <p:spPr>
          <a:xfrm>
            <a:off x="5400675" y="2852738"/>
            <a:ext cx="1095375" cy="0"/>
          </a:xfrm>
          <a:prstGeom prst="straightConnector1">
            <a:avLst/>
          </a:prstGeom>
          <a:ln w="19050">
            <a:solidFill>
              <a:srgbClr val="3D8DFF"/>
            </a:solidFill>
            <a:prstDash val="solid"/>
            <a:headEnd type="triangle" w="sm" len="sm"/>
          </a:ln>
        </p:spPr>
      </p:cxnSp>
      <p:cxnSp>
        <p:nvCxnSpPr>
          <p:cNvPr id="56" name="Straight Arrow Connector 55"/>
          <p:cNvCxnSpPr>
            <a:stCxn id="11" idx="3"/>
            <a:endCxn id="14" idx="1"/>
          </p:cNvCxnSpPr>
          <p:nvPr/>
        </p:nvCxnSpPr>
        <p:spPr>
          <a:xfrm>
            <a:off x="8305800" y="2852738"/>
            <a:ext cx="1095375" cy="0"/>
          </a:xfrm>
          <a:prstGeom prst="straightConnector1">
            <a:avLst/>
          </a:prstGeom>
          <a:ln w="19050">
            <a:solidFill>
              <a:srgbClr val="3D8DFF"/>
            </a:solidFill>
            <a:prstDash val="solid"/>
            <a:headEnd type="triangle" w="sm" len="sm"/>
          </a:ln>
        </p:spPr>
      </p:cxnSp>
      <p:sp>
        <p:nvSpPr>
          <p:cNvPr id="20" name="metric">
            <a:extLst>
              <a:ext uri="{FF2B5EF4-FFF2-40B4-BE49-F238E27FC236}">
                <a16:creationId xmlns:a16="http://schemas.microsoft.com/office/drawing/2014/main" id="{FA01317C-1A6F-4BEE-84BF-35EBAFCB249D}"/>
              </a:ext>
            </a:extLst>
          </p:cNvPr>
          <p:cNvSpPr>
            <a:spLocks noGrp="1"/>
          </p:cNvSpPr>
          <p:nvPr/>
        </p:nvSpPr>
        <p:spPr>
          <a:xfrm>
            <a:off x="685800" y="4305300"/>
            <a:ext cx="2952750" cy="1190625"/>
          </a:xfrm>
          <a:prstGeom prst="rect">
            <a:avLst/>
          </a:prstGeom>
          <a:solidFill>
            <a:srgbClr val="F7F8FA"/>
          </a:solidFill>
          <a:ln w="9525">
            <a:solidFill>
              <a:srgbClr val="B8BCC4"/>
            </a:solidFill>
            <a:prstDash val="solid"/>
          </a:ln>
        </p:spPr>
        <p:txBody>
          <a:bodyPr/>
          <a:lstStyle/>
          <a:p>
            <a:endParaRPr lang="en-US"/>
          </a:p>
        </p:txBody>
      </p:sp>
      <p:sp>
        <p:nvSpPr>
          <p:cNvPr id="21" name="metric-accent">
            <a:extLst>
              <a:ext uri="{FF2B5EF4-FFF2-40B4-BE49-F238E27FC236}">
                <a16:creationId xmlns:a16="http://schemas.microsoft.com/office/drawing/2014/main" id="{72F24D82-2F03-42DF-8CEB-72874B06CFFE}"/>
              </a:ext>
            </a:extLst>
          </p:cNvPr>
          <p:cNvSpPr>
            <a:spLocks noGrp="1"/>
          </p:cNvSpPr>
          <p:nvPr/>
        </p:nvSpPr>
        <p:spPr>
          <a:xfrm>
            <a:off x="685800" y="4305300"/>
            <a:ext cx="76200" cy="1190625"/>
          </a:xfrm>
          <a:prstGeom prst="rect">
            <a:avLst/>
          </a:prstGeom>
          <a:solidFill>
            <a:srgbClr val="3D8DFF"/>
          </a:solidFill>
          <a:ln w="9525">
            <a:solidFill>
              <a:srgbClr val="3D8DFF"/>
            </a:solidFill>
            <a:prstDash val="solid"/>
          </a:ln>
        </p:spPr>
        <p:txBody>
          <a:bodyPr/>
          <a:lstStyle/>
          <a:p>
            <a:endParaRPr lang="en-US"/>
          </a:p>
        </p:txBody>
      </p:sp>
      <p:sp>
        <p:nvSpPr>
          <p:cNvPr id="22" name="metric-label">
            <a:extLst>
              <a:ext uri="{FF2B5EF4-FFF2-40B4-BE49-F238E27FC236}">
                <a16:creationId xmlns:a16="http://schemas.microsoft.com/office/drawing/2014/main" id="{1253316E-7105-46BD-B338-D286899E4C53}"/>
              </a:ext>
            </a:extLst>
          </p:cNvPr>
          <p:cNvSpPr>
            <a:spLocks noGrp="1"/>
          </p:cNvSpPr>
          <p:nvPr/>
        </p:nvSpPr>
        <p:spPr>
          <a:xfrm>
            <a:off x="895350" y="4476750"/>
            <a:ext cx="262890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PROTOTYPE CERTIFICATE</a:t>
            </a:r>
          </a:p>
        </p:txBody>
      </p:sp>
      <p:sp>
        <p:nvSpPr>
          <p:cNvPr id="23" name="metric-value">
            <a:extLst>
              <a:ext uri="{FF2B5EF4-FFF2-40B4-BE49-F238E27FC236}">
                <a16:creationId xmlns:a16="http://schemas.microsoft.com/office/drawing/2014/main" id="{4148A8D4-6A6F-43C8-B375-E5952EB1BF52}"/>
              </a:ext>
            </a:extLst>
          </p:cNvPr>
          <p:cNvSpPr>
            <a:spLocks noGrp="1"/>
          </p:cNvSpPr>
          <p:nvPr/>
        </p:nvSpPr>
        <p:spPr>
          <a:xfrm>
            <a:off x="895350" y="4714875"/>
            <a:ext cx="262890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HMAC-SHA256</a:t>
            </a:r>
          </a:p>
        </p:txBody>
      </p:sp>
      <p:sp>
        <p:nvSpPr>
          <p:cNvPr id="24" name="metric-sub">
            <a:extLst>
              <a:ext uri="{FF2B5EF4-FFF2-40B4-BE49-F238E27FC236}">
                <a16:creationId xmlns:a16="http://schemas.microsoft.com/office/drawing/2014/main" id="{4725BD77-BD4C-4B38-8AF1-765F5A09EE6D}"/>
              </a:ext>
            </a:extLst>
          </p:cNvPr>
          <p:cNvSpPr>
            <a:spLocks noGrp="1"/>
          </p:cNvSpPr>
          <p:nvPr/>
        </p:nvSpPr>
        <p:spPr>
          <a:xfrm>
            <a:off x="895350" y="5172075"/>
            <a:ext cx="262890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tamper-evident MAC; not non-repudiation</a:t>
            </a:r>
          </a:p>
        </p:txBody>
      </p:sp>
      <p:sp>
        <p:nvSpPr>
          <p:cNvPr id="25" name="metric">
            <a:extLst>
              <a:ext uri="{FF2B5EF4-FFF2-40B4-BE49-F238E27FC236}">
                <a16:creationId xmlns:a16="http://schemas.microsoft.com/office/drawing/2014/main" id="{C4DABB0B-01D5-4284-81ED-E4720A42F60F}"/>
              </a:ext>
            </a:extLst>
          </p:cNvPr>
          <p:cNvSpPr>
            <a:spLocks noGrp="1"/>
          </p:cNvSpPr>
          <p:nvPr/>
        </p:nvSpPr>
        <p:spPr>
          <a:xfrm>
            <a:off x="3905250" y="4305300"/>
            <a:ext cx="2952750" cy="1190625"/>
          </a:xfrm>
          <a:prstGeom prst="rect">
            <a:avLst/>
          </a:prstGeom>
          <a:solidFill>
            <a:srgbClr val="F7F8FA"/>
          </a:solidFill>
          <a:ln w="9525">
            <a:solidFill>
              <a:srgbClr val="B8BCC4"/>
            </a:solidFill>
            <a:prstDash val="solid"/>
          </a:ln>
        </p:spPr>
        <p:txBody>
          <a:bodyPr/>
          <a:lstStyle/>
          <a:p>
            <a:endParaRPr lang="en-US"/>
          </a:p>
        </p:txBody>
      </p:sp>
      <p:sp>
        <p:nvSpPr>
          <p:cNvPr id="26" name="metric-accent">
            <a:extLst>
              <a:ext uri="{FF2B5EF4-FFF2-40B4-BE49-F238E27FC236}">
                <a16:creationId xmlns:a16="http://schemas.microsoft.com/office/drawing/2014/main" id="{ADFCF4B2-228F-462A-8670-CE0790686624}"/>
              </a:ext>
            </a:extLst>
          </p:cNvPr>
          <p:cNvSpPr>
            <a:spLocks noGrp="1"/>
          </p:cNvSpPr>
          <p:nvPr/>
        </p:nvSpPr>
        <p:spPr>
          <a:xfrm>
            <a:off x="3905250" y="4305300"/>
            <a:ext cx="76200" cy="1190625"/>
          </a:xfrm>
          <a:prstGeom prst="rect">
            <a:avLst/>
          </a:prstGeom>
          <a:solidFill>
            <a:srgbClr val="3D8DFF"/>
          </a:solidFill>
          <a:ln w="9525">
            <a:solidFill>
              <a:srgbClr val="3D8DFF"/>
            </a:solidFill>
            <a:prstDash val="solid"/>
          </a:ln>
        </p:spPr>
        <p:txBody>
          <a:bodyPr/>
          <a:lstStyle/>
          <a:p>
            <a:endParaRPr lang="en-US"/>
          </a:p>
        </p:txBody>
      </p:sp>
      <p:sp>
        <p:nvSpPr>
          <p:cNvPr id="27" name="metric-label">
            <a:extLst>
              <a:ext uri="{FF2B5EF4-FFF2-40B4-BE49-F238E27FC236}">
                <a16:creationId xmlns:a16="http://schemas.microsoft.com/office/drawing/2014/main" id="{5E3F03BD-F95E-4B55-BAB4-8BCCC399AB52}"/>
              </a:ext>
            </a:extLst>
          </p:cNvPr>
          <p:cNvSpPr>
            <a:spLocks noGrp="1"/>
          </p:cNvSpPr>
          <p:nvPr/>
        </p:nvSpPr>
        <p:spPr>
          <a:xfrm>
            <a:off x="4114800" y="4476750"/>
            <a:ext cx="262890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EXAMPLE INTERVENTION</a:t>
            </a:r>
          </a:p>
        </p:txBody>
      </p:sp>
      <p:sp>
        <p:nvSpPr>
          <p:cNvPr id="28" name="metric-value">
            <a:extLst>
              <a:ext uri="{FF2B5EF4-FFF2-40B4-BE49-F238E27FC236}">
                <a16:creationId xmlns:a16="http://schemas.microsoft.com/office/drawing/2014/main" id="{127D3550-4C66-4370-8B0F-672A5FFE1B34}"/>
              </a:ext>
            </a:extLst>
          </p:cNvPr>
          <p:cNvSpPr>
            <a:spLocks noGrp="1"/>
          </p:cNvSpPr>
          <p:nvPr/>
        </p:nvSpPr>
        <p:spPr>
          <a:xfrm>
            <a:off x="4114800" y="4714875"/>
            <a:ext cx="262890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ΔT1 = −4 °C</a:t>
            </a:r>
          </a:p>
        </p:txBody>
      </p:sp>
      <p:sp>
        <p:nvSpPr>
          <p:cNvPr id="29" name="metric-sub">
            <a:extLst>
              <a:ext uri="{FF2B5EF4-FFF2-40B4-BE49-F238E27FC236}">
                <a16:creationId xmlns:a16="http://schemas.microsoft.com/office/drawing/2014/main" id="{6CB6E62F-8060-489A-94AF-5577CF92B809}"/>
              </a:ext>
            </a:extLst>
          </p:cNvPr>
          <p:cNvSpPr>
            <a:spLocks noGrp="1"/>
          </p:cNvSpPr>
          <p:nvPr/>
        </p:nvSpPr>
        <p:spPr>
          <a:xfrm>
            <a:off x="4114800" y="5172075"/>
            <a:ext cx="262890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hypothesis to be confirmed by trial</a:t>
            </a:r>
          </a:p>
        </p:txBody>
      </p:sp>
      <p:sp>
        <p:nvSpPr>
          <p:cNvPr id="30" name="metric">
            <a:extLst>
              <a:ext uri="{FF2B5EF4-FFF2-40B4-BE49-F238E27FC236}">
                <a16:creationId xmlns:a16="http://schemas.microsoft.com/office/drawing/2014/main" id="{4313110E-E3B7-4E04-AF86-038E45C7C282}"/>
              </a:ext>
            </a:extLst>
          </p:cNvPr>
          <p:cNvSpPr>
            <a:spLocks noGrp="1"/>
          </p:cNvSpPr>
          <p:nvPr/>
        </p:nvSpPr>
        <p:spPr>
          <a:xfrm>
            <a:off x="7124700" y="4305300"/>
            <a:ext cx="2952750" cy="1190625"/>
          </a:xfrm>
          <a:prstGeom prst="rect">
            <a:avLst/>
          </a:prstGeom>
          <a:solidFill>
            <a:srgbClr val="F7F8FA"/>
          </a:solidFill>
          <a:ln w="9525">
            <a:solidFill>
              <a:srgbClr val="B8BCC4"/>
            </a:solidFill>
            <a:prstDash val="solid"/>
          </a:ln>
        </p:spPr>
        <p:txBody>
          <a:bodyPr/>
          <a:lstStyle/>
          <a:p>
            <a:endParaRPr lang="en-US"/>
          </a:p>
        </p:txBody>
      </p:sp>
      <p:sp>
        <p:nvSpPr>
          <p:cNvPr id="31" name="metric-accent">
            <a:extLst>
              <a:ext uri="{FF2B5EF4-FFF2-40B4-BE49-F238E27FC236}">
                <a16:creationId xmlns:a16="http://schemas.microsoft.com/office/drawing/2014/main" id="{FAE305B2-AE35-467A-A533-2FA81E91D851}"/>
              </a:ext>
            </a:extLst>
          </p:cNvPr>
          <p:cNvSpPr>
            <a:spLocks noGrp="1"/>
          </p:cNvSpPr>
          <p:nvPr/>
        </p:nvSpPr>
        <p:spPr>
          <a:xfrm>
            <a:off x="7124700" y="4305300"/>
            <a:ext cx="76200" cy="1190625"/>
          </a:xfrm>
          <a:prstGeom prst="rect">
            <a:avLst/>
          </a:prstGeom>
          <a:solidFill>
            <a:srgbClr val="3D8DFF"/>
          </a:solidFill>
          <a:ln w="9525">
            <a:solidFill>
              <a:srgbClr val="3D8DFF"/>
            </a:solidFill>
            <a:prstDash val="solid"/>
          </a:ln>
        </p:spPr>
        <p:txBody>
          <a:bodyPr/>
          <a:lstStyle/>
          <a:p>
            <a:endParaRPr lang="en-US"/>
          </a:p>
        </p:txBody>
      </p:sp>
      <p:sp>
        <p:nvSpPr>
          <p:cNvPr id="32" name="metric-label">
            <a:extLst>
              <a:ext uri="{FF2B5EF4-FFF2-40B4-BE49-F238E27FC236}">
                <a16:creationId xmlns:a16="http://schemas.microsoft.com/office/drawing/2014/main" id="{F71ABB3B-6216-4DC5-9946-50C1E09FB9EC}"/>
              </a:ext>
            </a:extLst>
          </p:cNvPr>
          <p:cNvSpPr>
            <a:spLocks noGrp="1"/>
          </p:cNvSpPr>
          <p:nvPr/>
        </p:nvSpPr>
        <p:spPr>
          <a:xfrm>
            <a:off x="7334250" y="4476750"/>
            <a:ext cx="2628900" cy="209550"/>
          </a:xfrm>
          <a:prstGeom prst="rect">
            <a:avLst/>
          </a:prstGeom>
          <a:noFill/>
          <a:ln w="0">
            <a:noFill/>
            <a:prstDash val="solid"/>
          </a:ln>
        </p:spPr>
        <p:txBody>
          <a:bodyPr/>
          <a:lstStyle/>
          <a:p>
            <a:pPr algn="l">
              <a:defRPr sz="1050" b="1">
                <a:solidFill>
                  <a:srgbClr val="5F6670"/>
                </a:solidFill>
              </a:defRPr>
            </a:pPr>
            <a:r>
              <a:rPr sz="1050" b="1">
                <a:solidFill>
                  <a:srgbClr val="5F6670"/>
                </a:solidFill>
              </a:rPr>
              <a:t>REPORTED KPI</a:t>
            </a:r>
          </a:p>
        </p:txBody>
      </p:sp>
      <p:sp>
        <p:nvSpPr>
          <p:cNvPr id="33" name="metric-value">
            <a:extLst>
              <a:ext uri="{FF2B5EF4-FFF2-40B4-BE49-F238E27FC236}">
                <a16:creationId xmlns:a16="http://schemas.microsoft.com/office/drawing/2014/main" id="{64863AC9-C2CB-4499-A353-7CFEB1BAACED}"/>
              </a:ext>
            </a:extLst>
          </p:cNvPr>
          <p:cNvSpPr>
            <a:spLocks noGrp="1"/>
          </p:cNvSpPr>
          <p:nvPr/>
        </p:nvSpPr>
        <p:spPr>
          <a:xfrm>
            <a:off x="7334250" y="4714875"/>
            <a:ext cx="2628900" cy="400050"/>
          </a:xfrm>
          <a:prstGeom prst="rect">
            <a:avLst/>
          </a:prstGeom>
          <a:noFill/>
          <a:ln w="0">
            <a:noFill/>
            <a:prstDash val="solid"/>
          </a:ln>
        </p:spPr>
        <p:txBody>
          <a:bodyPr/>
          <a:lstStyle/>
          <a:p>
            <a:pPr algn="l">
              <a:defRPr sz="2325" b="1">
                <a:solidFill>
                  <a:srgbClr val="111318"/>
                </a:solidFill>
              </a:defRPr>
            </a:pPr>
            <a:r>
              <a:rPr sz="2325" b="1">
                <a:solidFill>
                  <a:srgbClr val="111318"/>
                </a:solidFill>
              </a:rPr>
              <a:t>−84.2% scrap</a:t>
            </a:r>
          </a:p>
        </p:txBody>
      </p:sp>
      <p:sp>
        <p:nvSpPr>
          <p:cNvPr id="34" name="metric-sub">
            <a:extLst>
              <a:ext uri="{FF2B5EF4-FFF2-40B4-BE49-F238E27FC236}">
                <a16:creationId xmlns:a16="http://schemas.microsoft.com/office/drawing/2014/main" id="{FCA980C0-37E9-466D-BE73-F73D82BB1925}"/>
              </a:ext>
            </a:extLst>
          </p:cNvPr>
          <p:cNvSpPr>
            <a:spLocks noGrp="1"/>
          </p:cNvSpPr>
          <p:nvPr/>
        </p:nvSpPr>
        <p:spPr>
          <a:xfrm>
            <a:off x="7334250" y="5172075"/>
            <a:ext cx="2628900" cy="209550"/>
          </a:xfrm>
          <a:prstGeom prst="rect">
            <a:avLst/>
          </a:prstGeom>
          <a:noFill/>
          <a:ln w="0">
            <a:noFill/>
            <a:prstDash val="solid"/>
          </a:ln>
        </p:spPr>
        <p:txBody>
          <a:bodyPr/>
          <a:lstStyle/>
          <a:p>
            <a:pPr algn="l">
              <a:defRPr sz="975" b="0">
                <a:solidFill>
                  <a:srgbClr val="5F6670"/>
                </a:solidFill>
              </a:defRPr>
            </a:pPr>
            <a:r>
              <a:rPr sz="975" b="0">
                <a:solidFill>
                  <a:srgbClr val="5F6670"/>
                </a:solidFill>
              </a:rPr>
              <a:t>hold claim until raw pilot evidence is supplied</a:t>
            </a:r>
          </a:p>
        </p:txBody>
      </p:sp>
      <p:sp>
        <p:nvSpPr>
          <p:cNvPr id="35" name="Straight Connector 34">
            <a:extLst>
              <a:ext uri="{FF2B5EF4-FFF2-40B4-BE49-F238E27FC236}">
                <a16:creationId xmlns:a16="http://schemas.microsoft.com/office/drawing/2014/main" id="{7355BB27-9820-4E59-8B89-E308B6A0CA9E}"/>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36" name="source">
            <a:extLst>
              <a:ext uri="{FF2B5EF4-FFF2-40B4-BE49-F238E27FC236}">
                <a16:creationId xmlns:a16="http://schemas.microsoft.com/office/drawing/2014/main" id="{7F13D687-BF77-4ECE-BCA8-3739B6582E74}"/>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Closed-loop claims require controlled intervention, approval guardrails, and before/after raw logs.</a:t>
            </a:r>
          </a:p>
        </p:txBody>
      </p:sp>
      <p:sp>
        <p:nvSpPr>
          <p:cNvPr id="37" name="page">
            <a:extLst>
              <a:ext uri="{FF2B5EF4-FFF2-40B4-BE49-F238E27FC236}">
                <a16:creationId xmlns:a16="http://schemas.microsoft.com/office/drawing/2014/main" id="{60981E31-3BD0-4779-AD41-7AF65F05F693}"/>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7</a:t>
            </a:r>
          </a:p>
        </p:txBody>
      </p:sp>
    </p:spTree>
    <p:extLst>
      <p:ext uri="{BB962C8B-B14F-4D97-AF65-F5344CB8AC3E}">
        <p14:creationId xmlns:p14="http://schemas.microsoft.com/office/powerpoint/2010/main" val="1211459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eyebrow">
            <a:extLst>
              <a:ext uri="{FF2B5EF4-FFF2-40B4-BE49-F238E27FC236}">
                <a16:creationId xmlns:a16="http://schemas.microsoft.com/office/drawing/2014/main" id="{2AF956DF-136D-465A-AB5E-43153C5AB81A}"/>
              </a:ext>
            </a:extLst>
          </p:cNvPr>
          <p:cNvSpPr>
            <a:spLocks noGrp="1"/>
          </p:cNvSpPr>
          <p:nvPr/>
        </p:nvSpPr>
        <p:spPr>
          <a:xfrm>
            <a:off x="685800" y="361950"/>
            <a:ext cx="4191000" cy="228600"/>
          </a:xfrm>
          <a:prstGeom prst="rect">
            <a:avLst/>
          </a:prstGeom>
          <a:noFill/>
          <a:ln w="0">
            <a:noFill/>
            <a:prstDash val="solid"/>
          </a:ln>
        </p:spPr>
        <p:txBody>
          <a:bodyPr/>
          <a:lstStyle/>
          <a:p>
            <a:pPr algn="l">
              <a:defRPr sz="975" b="1">
                <a:solidFill>
                  <a:srgbClr val="5F6670"/>
                </a:solidFill>
              </a:defRPr>
            </a:pPr>
            <a:r>
              <a:rPr sz="975" b="1">
                <a:solidFill>
                  <a:srgbClr val="5F6670"/>
                </a:solidFill>
              </a:rPr>
              <a:t>08  |  5:10–6:00</a:t>
            </a:r>
          </a:p>
        </p:txBody>
      </p:sp>
      <p:sp>
        <p:nvSpPr>
          <p:cNvPr id="2" name="title">
            <a:extLst>
              <a:ext uri="{FF2B5EF4-FFF2-40B4-BE49-F238E27FC236}">
                <a16:creationId xmlns:a16="http://schemas.microsoft.com/office/drawing/2014/main" id="{1A1A8992-49CC-4374-9514-7D8B09206DAB}"/>
              </a:ext>
            </a:extLst>
          </p:cNvPr>
          <p:cNvSpPr>
            <a:spLocks noGrp="1"/>
          </p:cNvSpPr>
          <p:nvPr/>
        </p:nvSpPr>
        <p:spPr>
          <a:xfrm>
            <a:off x="685800" y="695325"/>
            <a:ext cx="9334500" cy="495300"/>
          </a:xfrm>
          <a:prstGeom prst="rect">
            <a:avLst/>
          </a:prstGeom>
          <a:noFill/>
          <a:ln w="0">
            <a:noFill/>
            <a:prstDash val="solid"/>
          </a:ln>
        </p:spPr>
        <p:txBody>
          <a:bodyPr/>
          <a:lstStyle/>
          <a:p>
            <a:pPr algn="l">
              <a:defRPr sz="2775" b="1">
                <a:solidFill>
                  <a:srgbClr val="111318"/>
                </a:solidFill>
              </a:defRPr>
            </a:pPr>
            <a:r>
              <a:rPr sz="2775" b="1">
                <a:solidFill>
                  <a:srgbClr val="111318"/>
                </a:solidFill>
              </a:rPr>
              <a:t>Pilot readiness must be earned by evidence</a:t>
            </a:r>
          </a:p>
        </p:txBody>
      </p:sp>
      <p:sp>
        <p:nvSpPr>
          <p:cNvPr id="3" name="cn-title">
            <a:extLst>
              <a:ext uri="{FF2B5EF4-FFF2-40B4-BE49-F238E27FC236}">
                <a16:creationId xmlns:a16="http://schemas.microsoft.com/office/drawing/2014/main" id="{BB3958AF-BC0D-4377-B03C-6FFD68E479AE}"/>
              </a:ext>
            </a:extLst>
          </p:cNvPr>
          <p:cNvSpPr>
            <a:spLocks noGrp="1"/>
          </p:cNvSpPr>
          <p:nvPr/>
        </p:nvSpPr>
        <p:spPr>
          <a:xfrm>
            <a:off x="685800" y="1200150"/>
            <a:ext cx="6667500" cy="266700"/>
          </a:xfrm>
          <a:prstGeom prst="rect">
            <a:avLst/>
          </a:prstGeom>
          <a:noFill/>
          <a:ln w="0">
            <a:noFill/>
            <a:prstDash val="solid"/>
          </a:ln>
        </p:spPr>
        <p:txBody>
          <a:bodyPr/>
          <a:lstStyle/>
          <a:p>
            <a:pPr algn="l">
              <a:defRPr sz="1500" b="0">
                <a:solidFill>
                  <a:srgbClr val="5F6670"/>
                </a:solidFill>
              </a:defRPr>
            </a:pPr>
            <a:r>
              <a:rPr sz="1500" b="0">
                <a:solidFill>
                  <a:srgbClr val="5F6670"/>
                </a:solidFill>
              </a:rPr>
              <a:t>试点就绪性靠证据获得，而非包装宣称</a:t>
            </a:r>
          </a:p>
        </p:txBody>
      </p:sp>
      <p:sp>
        <p:nvSpPr>
          <p:cNvPr id="4" name="Straight Connector 3">
            <a:extLst>
              <a:ext uri="{FF2B5EF4-FFF2-40B4-BE49-F238E27FC236}">
                <a16:creationId xmlns:a16="http://schemas.microsoft.com/office/drawing/2014/main" id="{2ABC35C8-AD4F-4517-9840-858EC9F6105A}"/>
              </a:ext>
            </a:extLst>
          </p:cNvPr>
          <p:cNvSpPr>
            <a:spLocks noGrp="1"/>
          </p:cNvSpPr>
          <p:nvPr/>
        </p:nvSpPr>
        <p:spPr>
          <a:xfrm>
            <a:off x="685800" y="1562100"/>
            <a:ext cx="10820400" cy="0"/>
          </a:xfrm>
          <a:prstGeom prst="line">
            <a:avLst/>
          </a:prstGeom>
          <a:noFill/>
          <a:ln w="9525">
            <a:solidFill>
              <a:srgbClr val="B8BCC4"/>
            </a:solidFill>
            <a:prstDash val="solid"/>
          </a:ln>
        </p:spPr>
        <p:txBody>
          <a:bodyPr/>
          <a:lstStyle/>
          <a:p>
            <a:endParaRPr lang="en-US"/>
          </a:p>
        </p:txBody>
      </p:sp>
      <p:sp>
        <p:nvSpPr>
          <p:cNvPr id="5" name="rect">
            <a:extLst>
              <a:ext uri="{FF2B5EF4-FFF2-40B4-BE49-F238E27FC236}">
                <a16:creationId xmlns:a16="http://schemas.microsoft.com/office/drawing/2014/main" id="{98040E2C-0A4B-42B0-AAF8-FDC3B6A42431}"/>
              </a:ext>
            </a:extLst>
          </p:cNvPr>
          <p:cNvSpPr>
            <a:spLocks noGrp="1"/>
          </p:cNvSpPr>
          <p:nvPr/>
        </p:nvSpPr>
        <p:spPr>
          <a:xfrm>
            <a:off x="685800" y="1981200"/>
            <a:ext cx="10820400" cy="600075"/>
          </a:xfrm>
          <a:prstGeom prst="rect">
            <a:avLst/>
          </a:prstGeom>
          <a:solidFill>
            <a:srgbClr val="F7F8FA"/>
          </a:solidFill>
          <a:ln w="9525">
            <a:solidFill>
              <a:srgbClr val="B8BCC4"/>
            </a:solidFill>
            <a:prstDash val="solid"/>
          </a:ln>
        </p:spPr>
        <p:txBody>
          <a:bodyPr/>
          <a:lstStyle/>
          <a:p>
            <a:endParaRPr lang="en-US"/>
          </a:p>
        </p:txBody>
      </p:sp>
      <p:sp>
        <p:nvSpPr>
          <p:cNvPr id="6" name="text">
            <a:extLst>
              <a:ext uri="{FF2B5EF4-FFF2-40B4-BE49-F238E27FC236}">
                <a16:creationId xmlns:a16="http://schemas.microsoft.com/office/drawing/2014/main" id="{3361B387-4DCC-4B8F-9DDC-EB2A950D75D7}"/>
              </a:ext>
            </a:extLst>
          </p:cNvPr>
          <p:cNvSpPr>
            <a:spLocks noGrp="1"/>
          </p:cNvSpPr>
          <p:nvPr/>
        </p:nvSpPr>
        <p:spPr>
          <a:xfrm>
            <a:off x="857250" y="2095500"/>
            <a:ext cx="1762125" cy="180975"/>
          </a:xfrm>
          <a:prstGeom prst="rect">
            <a:avLst/>
          </a:prstGeom>
          <a:noFill/>
          <a:ln w="0">
            <a:noFill/>
            <a:prstDash val="solid"/>
          </a:ln>
        </p:spPr>
        <p:txBody>
          <a:bodyPr/>
          <a:lstStyle/>
          <a:p>
            <a:pPr algn="l">
              <a:defRPr sz="1125" b="1">
                <a:solidFill>
                  <a:srgbClr val="111318"/>
                </a:solidFill>
              </a:defRPr>
            </a:pPr>
            <a:r>
              <a:rPr sz="1125" b="1">
                <a:solidFill>
                  <a:srgbClr val="111318"/>
                </a:solidFill>
              </a:rPr>
              <a:t>PROVEN NOW</a:t>
            </a:r>
          </a:p>
        </p:txBody>
      </p:sp>
      <p:sp>
        <p:nvSpPr>
          <p:cNvPr id="7" name="text">
            <a:extLst>
              <a:ext uri="{FF2B5EF4-FFF2-40B4-BE49-F238E27FC236}">
                <a16:creationId xmlns:a16="http://schemas.microsoft.com/office/drawing/2014/main" id="{B3CCC530-49ED-4AE0-B2B5-FE91CB6761AE}"/>
              </a:ext>
            </a:extLst>
          </p:cNvPr>
          <p:cNvSpPr>
            <a:spLocks noGrp="1"/>
          </p:cNvSpPr>
          <p:nvPr/>
        </p:nvSpPr>
        <p:spPr>
          <a:xfrm>
            <a:off x="3009900" y="2085975"/>
            <a:ext cx="3810000" cy="200025"/>
          </a:xfrm>
          <a:prstGeom prst="rect">
            <a:avLst/>
          </a:prstGeom>
          <a:noFill/>
          <a:ln w="0">
            <a:noFill/>
            <a:prstDash val="solid"/>
          </a:ln>
        </p:spPr>
        <p:txBody>
          <a:bodyPr/>
          <a:lstStyle/>
          <a:p>
            <a:pPr algn="l">
              <a:defRPr sz="1350" b="1">
                <a:solidFill>
                  <a:srgbClr val="111318"/>
                </a:solidFill>
              </a:defRPr>
            </a:pPr>
            <a:r>
              <a:rPr sz="1350" b="1">
                <a:solidFill>
                  <a:srgbClr val="111318"/>
                </a:solidFill>
              </a:rPr>
              <a:t>42 authored unit-test methods</a:t>
            </a:r>
          </a:p>
        </p:txBody>
      </p:sp>
      <p:sp>
        <p:nvSpPr>
          <p:cNvPr id="8" name="text">
            <a:extLst>
              <a:ext uri="{FF2B5EF4-FFF2-40B4-BE49-F238E27FC236}">
                <a16:creationId xmlns:a16="http://schemas.microsoft.com/office/drawing/2014/main" id="{D8F34DF9-5FE4-49D0-92F9-8C1B590812A5}"/>
              </a:ext>
            </a:extLst>
          </p:cNvPr>
          <p:cNvSpPr>
            <a:spLocks noGrp="1"/>
          </p:cNvSpPr>
          <p:nvPr/>
        </p:nvSpPr>
        <p:spPr>
          <a:xfrm>
            <a:off x="3009900" y="2324100"/>
            <a:ext cx="7810500" cy="161925"/>
          </a:xfrm>
          <a:prstGeom prst="rect">
            <a:avLst/>
          </a:prstGeom>
          <a:noFill/>
          <a:ln w="0">
            <a:noFill/>
            <a:prstDash val="solid"/>
          </a:ln>
        </p:spPr>
        <p:txBody>
          <a:bodyPr/>
          <a:lstStyle/>
          <a:p>
            <a:pPr algn="l">
              <a:defRPr sz="975" b="0">
                <a:solidFill>
                  <a:srgbClr val="5F6670"/>
                </a:solidFill>
              </a:defRPr>
            </a:pPr>
            <a:r>
              <a:rPr sz="975" b="0">
                <a:solidFill>
                  <a:srgbClr val="5F6670"/>
                </a:solidFill>
              </a:rPr>
              <a:t>full suite blocked in current runtime by missing dependencies</a:t>
            </a:r>
          </a:p>
        </p:txBody>
      </p:sp>
      <p:sp>
        <p:nvSpPr>
          <p:cNvPr id="9" name="rect">
            <a:extLst>
              <a:ext uri="{FF2B5EF4-FFF2-40B4-BE49-F238E27FC236}">
                <a16:creationId xmlns:a16="http://schemas.microsoft.com/office/drawing/2014/main" id="{FB0FC6D5-C4EA-49CF-BBF4-E48F6412FD0E}"/>
              </a:ext>
            </a:extLst>
          </p:cNvPr>
          <p:cNvSpPr>
            <a:spLocks noGrp="1"/>
          </p:cNvSpPr>
          <p:nvPr/>
        </p:nvSpPr>
        <p:spPr>
          <a:xfrm>
            <a:off x="685800" y="2800350"/>
            <a:ext cx="10820400" cy="600075"/>
          </a:xfrm>
          <a:prstGeom prst="rect">
            <a:avLst/>
          </a:prstGeom>
          <a:solidFill>
            <a:srgbClr val="F7F8FA"/>
          </a:solidFill>
          <a:ln w="9525">
            <a:solidFill>
              <a:srgbClr val="B8BCC4"/>
            </a:solidFill>
            <a:prstDash val="solid"/>
          </a:ln>
        </p:spPr>
        <p:txBody>
          <a:bodyPr/>
          <a:lstStyle/>
          <a:p>
            <a:endParaRPr lang="en-US"/>
          </a:p>
        </p:txBody>
      </p:sp>
      <p:sp>
        <p:nvSpPr>
          <p:cNvPr id="10" name="text">
            <a:extLst>
              <a:ext uri="{FF2B5EF4-FFF2-40B4-BE49-F238E27FC236}">
                <a16:creationId xmlns:a16="http://schemas.microsoft.com/office/drawing/2014/main" id="{806A6495-5447-4354-8BEB-5E7B0D524A93}"/>
              </a:ext>
            </a:extLst>
          </p:cNvPr>
          <p:cNvSpPr>
            <a:spLocks noGrp="1"/>
          </p:cNvSpPr>
          <p:nvPr/>
        </p:nvSpPr>
        <p:spPr>
          <a:xfrm>
            <a:off x="857250" y="2914650"/>
            <a:ext cx="1762125" cy="180975"/>
          </a:xfrm>
          <a:prstGeom prst="rect">
            <a:avLst/>
          </a:prstGeom>
          <a:noFill/>
          <a:ln w="0">
            <a:noFill/>
            <a:prstDash val="solid"/>
          </a:ln>
        </p:spPr>
        <p:txBody>
          <a:bodyPr/>
          <a:lstStyle/>
          <a:p>
            <a:pPr algn="l">
              <a:defRPr sz="1125" b="1">
                <a:solidFill>
                  <a:srgbClr val="111318"/>
                </a:solidFill>
              </a:defRPr>
            </a:pPr>
            <a:r>
              <a:rPr sz="1125" b="1">
                <a:solidFill>
                  <a:srgbClr val="111318"/>
                </a:solidFill>
              </a:rPr>
              <a:t>DESIGN-PROVEN</a:t>
            </a:r>
          </a:p>
        </p:txBody>
      </p:sp>
      <p:sp>
        <p:nvSpPr>
          <p:cNvPr id="11" name="text">
            <a:extLst>
              <a:ext uri="{FF2B5EF4-FFF2-40B4-BE49-F238E27FC236}">
                <a16:creationId xmlns:a16="http://schemas.microsoft.com/office/drawing/2014/main" id="{0F2B4009-BDBC-476D-BF0E-46A8CC37DA02}"/>
              </a:ext>
            </a:extLst>
          </p:cNvPr>
          <p:cNvSpPr>
            <a:spLocks noGrp="1"/>
          </p:cNvSpPr>
          <p:nvPr/>
        </p:nvSpPr>
        <p:spPr>
          <a:xfrm>
            <a:off x="3009900" y="2905125"/>
            <a:ext cx="3810000" cy="200025"/>
          </a:xfrm>
          <a:prstGeom prst="rect">
            <a:avLst/>
          </a:prstGeom>
          <a:noFill/>
          <a:ln w="0">
            <a:noFill/>
            <a:prstDash val="solid"/>
          </a:ln>
        </p:spPr>
        <p:txBody>
          <a:bodyPr/>
          <a:lstStyle/>
          <a:p>
            <a:pPr algn="l">
              <a:defRPr sz="1350" b="1">
                <a:solidFill>
                  <a:srgbClr val="111318"/>
                </a:solidFill>
              </a:defRPr>
            </a:pPr>
            <a:r>
              <a:rPr sz="1350" b="1">
                <a:solidFill>
                  <a:srgbClr val="111318"/>
                </a:solidFill>
              </a:rPr>
              <a:t>1.8 m/s optical budget</a:t>
            </a:r>
          </a:p>
        </p:txBody>
      </p:sp>
      <p:sp>
        <p:nvSpPr>
          <p:cNvPr id="12" name="text">
            <a:extLst>
              <a:ext uri="{FF2B5EF4-FFF2-40B4-BE49-F238E27FC236}">
                <a16:creationId xmlns:a16="http://schemas.microsoft.com/office/drawing/2014/main" id="{0A6C2821-A731-473E-81C7-487DE2BDC6EE}"/>
              </a:ext>
            </a:extLst>
          </p:cNvPr>
          <p:cNvSpPr>
            <a:spLocks noGrp="1"/>
          </p:cNvSpPr>
          <p:nvPr/>
        </p:nvSpPr>
        <p:spPr>
          <a:xfrm>
            <a:off x="3009900" y="3143250"/>
            <a:ext cx="7810500" cy="161925"/>
          </a:xfrm>
          <a:prstGeom prst="rect">
            <a:avLst/>
          </a:prstGeom>
          <a:noFill/>
          <a:ln w="0">
            <a:noFill/>
            <a:prstDash val="solid"/>
          </a:ln>
        </p:spPr>
        <p:txBody>
          <a:bodyPr/>
          <a:lstStyle/>
          <a:p>
            <a:pPr algn="l">
              <a:defRPr sz="975" b="0">
                <a:solidFill>
                  <a:srgbClr val="5F6670"/>
                </a:solidFill>
              </a:defRPr>
            </a:pPr>
            <a:r>
              <a:rPr sz="975" b="0">
                <a:solidFill>
                  <a:srgbClr val="5F6670"/>
                </a:solidFill>
              </a:rPr>
              <a:t>42.6 kHz · M=0.17 · ≤0.40 px</a:t>
            </a:r>
          </a:p>
        </p:txBody>
      </p:sp>
      <p:sp>
        <p:nvSpPr>
          <p:cNvPr id="13" name="rect">
            <a:extLst>
              <a:ext uri="{FF2B5EF4-FFF2-40B4-BE49-F238E27FC236}">
                <a16:creationId xmlns:a16="http://schemas.microsoft.com/office/drawing/2014/main" id="{2C2E5100-780F-42B9-8B59-E58BFDBB1705}"/>
              </a:ext>
            </a:extLst>
          </p:cNvPr>
          <p:cNvSpPr>
            <a:spLocks noGrp="1"/>
          </p:cNvSpPr>
          <p:nvPr/>
        </p:nvSpPr>
        <p:spPr>
          <a:xfrm>
            <a:off x="685800" y="3619500"/>
            <a:ext cx="10820400" cy="600075"/>
          </a:xfrm>
          <a:prstGeom prst="rect">
            <a:avLst/>
          </a:prstGeom>
          <a:solidFill>
            <a:srgbClr val="F7F8FA"/>
          </a:solidFill>
          <a:ln w="9525">
            <a:solidFill>
              <a:srgbClr val="B8BCC4"/>
            </a:solidFill>
            <a:prstDash val="solid"/>
          </a:ln>
        </p:spPr>
        <p:txBody>
          <a:bodyPr/>
          <a:lstStyle/>
          <a:p>
            <a:endParaRPr lang="en-US"/>
          </a:p>
        </p:txBody>
      </p:sp>
      <p:sp>
        <p:nvSpPr>
          <p:cNvPr id="14" name="text">
            <a:extLst>
              <a:ext uri="{FF2B5EF4-FFF2-40B4-BE49-F238E27FC236}">
                <a16:creationId xmlns:a16="http://schemas.microsoft.com/office/drawing/2014/main" id="{2FCD2385-0DDC-42DF-B4ED-E6D661219DEF}"/>
              </a:ext>
            </a:extLst>
          </p:cNvPr>
          <p:cNvSpPr>
            <a:spLocks noGrp="1"/>
          </p:cNvSpPr>
          <p:nvPr/>
        </p:nvSpPr>
        <p:spPr>
          <a:xfrm>
            <a:off x="857250" y="3733800"/>
            <a:ext cx="1762125" cy="180975"/>
          </a:xfrm>
          <a:prstGeom prst="rect">
            <a:avLst/>
          </a:prstGeom>
          <a:noFill/>
          <a:ln w="0">
            <a:noFill/>
            <a:prstDash val="solid"/>
          </a:ln>
        </p:spPr>
        <p:txBody>
          <a:bodyPr/>
          <a:lstStyle/>
          <a:p>
            <a:pPr algn="l">
              <a:defRPr sz="1125" b="1">
                <a:solidFill>
                  <a:srgbClr val="111318"/>
                </a:solidFill>
              </a:defRPr>
            </a:pPr>
            <a:r>
              <a:rPr sz="1125" b="1">
                <a:solidFill>
                  <a:srgbClr val="111318"/>
                </a:solidFill>
              </a:rPr>
              <a:t>PILOT GATES</a:t>
            </a:r>
          </a:p>
        </p:txBody>
      </p:sp>
      <p:sp>
        <p:nvSpPr>
          <p:cNvPr id="15" name="text">
            <a:extLst>
              <a:ext uri="{FF2B5EF4-FFF2-40B4-BE49-F238E27FC236}">
                <a16:creationId xmlns:a16="http://schemas.microsoft.com/office/drawing/2014/main" id="{CAD6286E-BDEE-4133-A037-23FB7D346EC2}"/>
              </a:ext>
            </a:extLst>
          </p:cNvPr>
          <p:cNvSpPr>
            <a:spLocks noGrp="1"/>
          </p:cNvSpPr>
          <p:nvPr/>
        </p:nvSpPr>
        <p:spPr>
          <a:xfrm>
            <a:off x="3009900" y="3724275"/>
            <a:ext cx="3810000" cy="200025"/>
          </a:xfrm>
          <a:prstGeom prst="rect">
            <a:avLst/>
          </a:prstGeom>
          <a:noFill/>
          <a:ln w="0">
            <a:noFill/>
            <a:prstDash val="solid"/>
          </a:ln>
        </p:spPr>
        <p:txBody>
          <a:bodyPr/>
          <a:lstStyle/>
          <a:p>
            <a:pPr algn="l">
              <a:defRPr sz="1350" b="1">
                <a:solidFill>
                  <a:srgbClr val="111318"/>
                </a:solidFill>
              </a:defRPr>
            </a:pPr>
            <a:r>
              <a:rPr sz="1350" b="1">
                <a:solidFill>
                  <a:srgbClr val="111318"/>
                </a:solidFill>
              </a:rPr>
              <a:t>hardware streams + HIL + raw-roll labels</a:t>
            </a:r>
          </a:p>
        </p:txBody>
      </p:sp>
      <p:sp>
        <p:nvSpPr>
          <p:cNvPr id="16" name="text">
            <a:extLst>
              <a:ext uri="{FF2B5EF4-FFF2-40B4-BE49-F238E27FC236}">
                <a16:creationId xmlns:a16="http://schemas.microsoft.com/office/drawing/2014/main" id="{2D309A05-E6AD-472D-88DC-6D5F7ECFE96F}"/>
              </a:ext>
            </a:extLst>
          </p:cNvPr>
          <p:cNvSpPr>
            <a:spLocks noGrp="1"/>
          </p:cNvSpPr>
          <p:nvPr/>
        </p:nvSpPr>
        <p:spPr>
          <a:xfrm>
            <a:off x="3009900" y="3962400"/>
            <a:ext cx="7810500" cy="161925"/>
          </a:xfrm>
          <a:prstGeom prst="rect">
            <a:avLst/>
          </a:prstGeom>
          <a:noFill/>
          <a:ln w="0">
            <a:noFill/>
            <a:prstDash val="solid"/>
          </a:ln>
        </p:spPr>
        <p:txBody>
          <a:bodyPr/>
          <a:lstStyle/>
          <a:p>
            <a:pPr algn="l">
              <a:defRPr sz="975" b="0">
                <a:solidFill>
                  <a:srgbClr val="5F6670"/>
                </a:solidFill>
              </a:defRPr>
            </a:pPr>
            <a:r>
              <a:rPr sz="975" b="0">
                <a:solidFill>
                  <a:srgbClr val="5F6670"/>
                </a:solidFill>
              </a:rPr>
              <a:t>cross-lot POD · P99.9 trace · MSA/Gage R&amp;R</a:t>
            </a:r>
          </a:p>
        </p:txBody>
      </p:sp>
      <p:sp>
        <p:nvSpPr>
          <p:cNvPr id="17" name="rect">
            <a:extLst>
              <a:ext uri="{FF2B5EF4-FFF2-40B4-BE49-F238E27FC236}">
                <a16:creationId xmlns:a16="http://schemas.microsoft.com/office/drawing/2014/main" id="{2BE927B2-EACD-4E51-947C-507A3E87059A}"/>
              </a:ext>
            </a:extLst>
          </p:cNvPr>
          <p:cNvSpPr>
            <a:spLocks noGrp="1"/>
          </p:cNvSpPr>
          <p:nvPr/>
        </p:nvSpPr>
        <p:spPr>
          <a:xfrm>
            <a:off x="685800" y="4438650"/>
            <a:ext cx="10820400" cy="600075"/>
          </a:xfrm>
          <a:prstGeom prst="rect">
            <a:avLst/>
          </a:prstGeom>
          <a:solidFill>
            <a:srgbClr val="FFF4F1"/>
          </a:solidFill>
          <a:ln w="9525">
            <a:solidFill>
              <a:srgbClr val="C43D3D"/>
            </a:solidFill>
            <a:prstDash val="solid"/>
          </a:ln>
        </p:spPr>
        <p:txBody>
          <a:bodyPr/>
          <a:lstStyle/>
          <a:p>
            <a:endParaRPr lang="en-US"/>
          </a:p>
        </p:txBody>
      </p:sp>
      <p:sp>
        <p:nvSpPr>
          <p:cNvPr id="18" name="text">
            <a:extLst>
              <a:ext uri="{FF2B5EF4-FFF2-40B4-BE49-F238E27FC236}">
                <a16:creationId xmlns:a16="http://schemas.microsoft.com/office/drawing/2014/main" id="{EF1967CB-D265-4A04-8093-D046C463DECE}"/>
              </a:ext>
            </a:extLst>
          </p:cNvPr>
          <p:cNvSpPr>
            <a:spLocks noGrp="1"/>
          </p:cNvSpPr>
          <p:nvPr/>
        </p:nvSpPr>
        <p:spPr>
          <a:xfrm>
            <a:off x="857250" y="4552950"/>
            <a:ext cx="1762125" cy="180975"/>
          </a:xfrm>
          <a:prstGeom prst="rect">
            <a:avLst/>
          </a:prstGeom>
          <a:noFill/>
          <a:ln w="0">
            <a:noFill/>
            <a:prstDash val="solid"/>
          </a:ln>
        </p:spPr>
        <p:txBody>
          <a:bodyPr/>
          <a:lstStyle/>
          <a:p>
            <a:pPr algn="l">
              <a:defRPr sz="1125" b="1">
                <a:solidFill>
                  <a:srgbClr val="C43D3D"/>
                </a:solidFill>
              </a:defRPr>
            </a:pPr>
            <a:r>
              <a:rPr sz="1125" b="1">
                <a:solidFill>
                  <a:srgbClr val="C43D3D"/>
                </a:solidFill>
              </a:rPr>
              <a:t>DO NOT CLAIM YET</a:t>
            </a:r>
          </a:p>
        </p:txBody>
      </p:sp>
      <p:sp>
        <p:nvSpPr>
          <p:cNvPr id="19" name="text">
            <a:extLst>
              <a:ext uri="{FF2B5EF4-FFF2-40B4-BE49-F238E27FC236}">
                <a16:creationId xmlns:a16="http://schemas.microsoft.com/office/drawing/2014/main" id="{B07191CD-8361-4FF3-9F66-AE74A6BFD0DA}"/>
              </a:ext>
            </a:extLst>
          </p:cNvPr>
          <p:cNvSpPr>
            <a:spLocks noGrp="1"/>
          </p:cNvSpPr>
          <p:nvPr/>
        </p:nvSpPr>
        <p:spPr>
          <a:xfrm>
            <a:off x="3009900" y="4543425"/>
            <a:ext cx="3810000" cy="200025"/>
          </a:xfrm>
          <a:prstGeom prst="rect">
            <a:avLst/>
          </a:prstGeom>
          <a:noFill/>
          <a:ln w="0">
            <a:noFill/>
            <a:prstDash val="solid"/>
          </a:ln>
        </p:spPr>
        <p:txBody>
          <a:bodyPr/>
          <a:lstStyle/>
          <a:p>
            <a:pPr algn="l">
              <a:defRPr sz="1350" b="1">
                <a:solidFill>
                  <a:srgbClr val="111318"/>
                </a:solidFill>
              </a:defRPr>
            </a:pPr>
            <a:r>
              <a:rPr sz="1350" b="1">
                <a:solidFill>
                  <a:srgbClr val="111318"/>
                </a:solidFill>
              </a:rPr>
              <a:t>6,000 m · 0.02 ppm · −84.2%</a:t>
            </a:r>
          </a:p>
        </p:txBody>
      </p:sp>
      <p:sp>
        <p:nvSpPr>
          <p:cNvPr id="20" name="text">
            <a:extLst>
              <a:ext uri="{FF2B5EF4-FFF2-40B4-BE49-F238E27FC236}">
                <a16:creationId xmlns:a16="http://schemas.microsoft.com/office/drawing/2014/main" id="{F0C076E3-43E0-4C2E-8D5D-51C1ED259EE5}"/>
              </a:ext>
            </a:extLst>
          </p:cNvPr>
          <p:cNvSpPr>
            <a:spLocks noGrp="1"/>
          </p:cNvSpPr>
          <p:nvPr/>
        </p:nvSpPr>
        <p:spPr>
          <a:xfrm>
            <a:off x="3009900" y="4781550"/>
            <a:ext cx="7810500" cy="161925"/>
          </a:xfrm>
          <a:prstGeom prst="rect">
            <a:avLst/>
          </a:prstGeom>
          <a:noFill/>
          <a:ln w="0">
            <a:noFill/>
            <a:prstDash val="solid"/>
          </a:ln>
        </p:spPr>
        <p:txBody>
          <a:bodyPr/>
          <a:lstStyle/>
          <a:p>
            <a:pPr algn="l">
              <a:defRPr sz="975" b="0">
                <a:solidFill>
                  <a:srgbClr val="5F6670"/>
                </a:solidFill>
              </a:defRPr>
            </a:pPr>
            <a:r>
              <a:rPr sz="975" b="0">
                <a:solidFill>
                  <a:srgbClr val="5F6670"/>
                </a:solidFill>
              </a:rPr>
              <a:t>requires raw evidence, CI, independent witness</a:t>
            </a:r>
          </a:p>
        </p:txBody>
      </p:sp>
      <p:sp>
        <p:nvSpPr>
          <p:cNvPr id="21" name="text">
            <a:extLst>
              <a:ext uri="{FF2B5EF4-FFF2-40B4-BE49-F238E27FC236}">
                <a16:creationId xmlns:a16="http://schemas.microsoft.com/office/drawing/2014/main" id="{2FF7FBBF-A3C3-444D-B3B7-009AE8D9134A}"/>
              </a:ext>
            </a:extLst>
          </p:cNvPr>
          <p:cNvSpPr>
            <a:spLocks noGrp="1"/>
          </p:cNvSpPr>
          <p:nvPr/>
        </p:nvSpPr>
        <p:spPr>
          <a:xfrm>
            <a:off x="685800" y="5543550"/>
            <a:ext cx="9810750" cy="295275"/>
          </a:xfrm>
          <a:prstGeom prst="rect">
            <a:avLst/>
          </a:prstGeom>
          <a:noFill/>
          <a:ln w="0">
            <a:noFill/>
            <a:prstDash val="solid"/>
          </a:ln>
        </p:spPr>
        <p:txBody>
          <a:bodyPr/>
          <a:lstStyle/>
          <a:p>
            <a:pPr algn="l">
              <a:defRPr sz="1650" b="1">
                <a:solidFill>
                  <a:srgbClr val="111318"/>
                </a:solidFill>
              </a:defRPr>
            </a:pPr>
            <a:r>
              <a:rPr sz="1650" b="1">
                <a:solidFill>
                  <a:srgbClr val="111318"/>
                </a:solidFill>
              </a:rPr>
              <a:t>Our ask: approve a supervised pilot to convert a defensible architecture into production evidence.</a:t>
            </a:r>
          </a:p>
        </p:txBody>
      </p:sp>
      <p:sp>
        <p:nvSpPr>
          <p:cNvPr id="22" name="Straight Connector 21">
            <a:extLst>
              <a:ext uri="{FF2B5EF4-FFF2-40B4-BE49-F238E27FC236}">
                <a16:creationId xmlns:a16="http://schemas.microsoft.com/office/drawing/2014/main" id="{A64CAB60-72DC-43B5-9AA8-CADF44D4C3C4}"/>
              </a:ext>
            </a:extLst>
          </p:cNvPr>
          <p:cNvSpPr>
            <a:spLocks noGrp="1"/>
          </p:cNvSpPr>
          <p:nvPr/>
        </p:nvSpPr>
        <p:spPr>
          <a:xfrm>
            <a:off x="685800" y="6381750"/>
            <a:ext cx="10820400" cy="0"/>
          </a:xfrm>
          <a:prstGeom prst="line">
            <a:avLst/>
          </a:prstGeom>
          <a:noFill/>
          <a:ln w="9525">
            <a:solidFill>
              <a:srgbClr val="B8BCC4"/>
            </a:solidFill>
            <a:prstDash val="solid"/>
          </a:ln>
        </p:spPr>
        <p:txBody>
          <a:bodyPr/>
          <a:lstStyle/>
          <a:p>
            <a:endParaRPr lang="en-US"/>
          </a:p>
        </p:txBody>
      </p:sp>
      <p:sp>
        <p:nvSpPr>
          <p:cNvPr id="23" name="source">
            <a:extLst>
              <a:ext uri="{FF2B5EF4-FFF2-40B4-BE49-F238E27FC236}">
                <a16:creationId xmlns:a16="http://schemas.microsoft.com/office/drawing/2014/main" id="{14B1FBE6-7D53-46EF-A2CD-F8F1D2025117}"/>
              </a:ext>
            </a:extLst>
          </p:cNvPr>
          <p:cNvSpPr>
            <a:spLocks noGrp="1"/>
          </p:cNvSpPr>
          <p:nvPr/>
        </p:nvSpPr>
        <p:spPr>
          <a:xfrm>
            <a:off x="685800" y="6496050"/>
            <a:ext cx="8096250" cy="161925"/>
          </a:xfrm>
          <a:prstGeom prst="rect">
            <a:avLst/>
          </a:prstGeom>
          <a:noFill/>
          <a:ln w="0">
            <a:noFill/>
            <a:prstDash val="solid"/>
          </a:ln>
        </p:spPr>
        <p:txBody>
          <a:bodyPr/>
          <a:lstStyle/>
          <a:p>
            <a:pPr algn="l">
              <a:defRPr sz="825" b="0">
                <a:solidFill>
                  <a:srgbClr val="5F6670"/>
                </a:solidFill>
              </a:defRPr>
            </a:pPr>
            <a:r>
              <a:rPr sz="825" b="0">
                <a:solidFill>
                  <a:srgbClr val="5F6670"/>
                </a:solidFill>
              </a:rPr>
              <a:t>Close: evidence discipline is the competitive advantage.</a:t>
            </a:r>
          </a:p>
        </p:txBody>
      </p:sp>
      <p:sp>
        <p:nvSpPr>
          <p:cNvPr id="24" name="page">
            <a:extLst>
              <a:ext uri="{FF2B5EF4-FFF2-40B4-BE49-F238E27FC236}">
                <a16:creationId xmlns:a16="http://schemas.microsoft.com/office/drawing/2014/main" id="{BE57CE11-5A30-4278-8E34-C4A469C5E4F6}"/>
              </a:ext>
            </a:extLst>
          </p:cNvPr>
          <p:cNvSpPr>
            <a:spLocks noGrp="1"/>
          </p:cNvSpPr>
          <p:nvPr/>
        </p:nvSpPr>
        <p:spPr>
          <a:xfrm>
            <a:off x="10382250" y="6496050"/>
            <a:ext cx="1123950" cy="161925"/>
          </a:xfrm>
          <a:prstGeom prst="rect">
            <a:avLst/>
          </a:prstGeom>
          <a:noFill/>
          <a:ln w="0">
            <a:noFill/>
            <a:prstDash val="solid"/>
          </a:ln>
        </p:spPr>
        <p:txBody>
          <a:bodyPr/>
          <a:lstStyle/>
          <a:p>
            <a:pPr algn="r">
              <a:defRPr sz="825" b="1">
                <a:solidFill>
                  <a:srgbClr val="5F6670"/>
                </a:solidFill>
              </a:defRPr>
            </a:pPr>
            <a:r>
              <a:rPr sz="825" b="1">
                <a:solidFill>
                  <a:srgbClr val="5F6670"/>
                </a:solidFill>
              </a:rPr>
              <a:t>TEAM 71  /  8</a:t>
            </a:r>
          </a:p>
        </p:txBody>
      </p:sp>
    </p:spTree>
    <p:extLst>
      <p:ext uri="{BB962C8B-B14F-4D97-AF65-F5344CB8AC3E}">
        <p14:creationId xmlns:p14="http://schemas.microsoft.com/office/powerpoint/2010/main" val="1480685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1955</Words>
  <Application>Microsoft Office PowerPoint</Application>
  <DocSecurity>0</DocSecurity>
  <PresentationFormat>Widescreen</PresentationFormat>
  <Paragraphs>250</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Trịnh Hoàng Tú</cp:lastModifiedBy>
  <cp:revision>1</cp:revision>
  <dcterms:created xsi:type="dcterms:W3CDTF">2026-08-15T17:14:07Z</dcterms:created>
  <dcterms:modified xsi:type="dcterms:W3CDTF">2026-08-15T17:16:17Z</dcterms:modified>
</cp:coreProperties>
</file>